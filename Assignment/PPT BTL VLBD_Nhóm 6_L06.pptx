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x="18288000" cy="10287000"/>
  <p:notesSz cx="6858000" cy="9144000"/>
  <p:embeddedFontLst>
    <p:embeddedFont>
      <p:font typeface="Lato Heavy" charset="1" panose="020F0502020204030203"/>
      <p:regular r:id="rId62"/>
    </p:embeddedFont>
    <p:embeddedFont>
      <p:font typeface="Lato" charset="1" panose="020F0502020204030203"/>
      <p:regular r:id="rId63"/>
    </p:embeddedFont>
    <p:embeddedFont>
      <p:font typeface="Noto Sans" charset="1" panose="020B0502040504020204"/>
      <p:regular r:id="rId64"/>
    </p:embeddedFont>
    <p:embeddedFont>
      <p:font typeface="Lato Bold" charset="1" panose="020F0502020204030203"/>
      <p:regular r:id="rId65"/>
    </p:embeddedFont>
    <p:embeddedFont>
      <p:font typeface="DM Sans Bold" charset="1" panose="00000000000000000000"/>
      <p:regular r:id="rId66"/>
    </p:embeddedFont>
    <p:embeddedFont>
      <p:font typeface="DM Sans" charset="1" panose="00000000000000000000"/>
      <p:regular r:id="rId67"/>
    </p:embeddedFont>
    <p:embeddedFont>
      <p:font typeface="Canva Sans" charset="1" panose="020B0503030501040103"/>
      <p:regular r:id="rId68"/>
    </p:embeddedFont>
    <p:embeddedFont>
      <p:font typeface="Arial" charset="1" panose="020B0604020202020204"/>
      <p:regular r:id="rId6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65" Target="fonts/font65.fntdata" Type="http://schemas.openxmlformats.org/officeDocument/2006/relationships/font"/><Relationship Id="rId66" Target="fonts/font66.fntdata" Type="http://schemas.openxmlformats.org/officeDocument/2006/relationships/font"/><Relationship Id="rId67" Target="fonts/font67.fntdata" Type="http://schemas.openxmlformats.org/officeDocument/2006/relationships/font"/><Relationship Id="rId68" Target="fonts/font68.fntdata" Type="http://schemas.openxmlformats.org/officeDocument/2006/relationships/font"/><Relationship Id="rId69" Target="fonts/font69.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7.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32.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33.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33.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34.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35.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36.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37.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38.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39.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40.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41.png" Type="http://schemas.openxmlformats.org/officeDocument/2006/relationships/image"/><Relationship Id="rId12" Target="../media/image42.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43.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44.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45.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46.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47.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48.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49.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50.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51.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52.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53.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54.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55.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56.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57.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58.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5.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59.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60.png" Type="http://schemas.openxmlformats.org/officeDocument/2006/relationships/image"/><Relationship Id="rId14" Target="../media/image61.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62.png" Type="http://schemas.openxmlformats.org/officeDocument/2006/relationships/image"/><Relationship Id="rId14" Target="../media/image63.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64.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65.png" Type="http://schemas.openxmlformats.org/officeDocument/2006/relationships/image"/><Relationship Id="rId14" Target="../media/image66.png" Type="http://schemas.openxmlformats.org/officeDocument/2006/relationships/image"/><Relationship Id="rId15" Target="../media/image67.png" Type="http://schemas.openxmlformats.org/officeDocument/2006/relationships/image"/><Relationship Id="rId16" Target="../media/image68.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5.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13" Target="../media/image69.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5.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5.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13" Target="../media/image70.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5.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5.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5.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820154" y="-761531"/>
            <a:ext cx="4424415" cy="4465006"/>
          </a:xfrm>
          <a:custGeom>
            <a:avLst/>
            <a:gdLst/>
            <a:ahLst/>
            <a:cxnLst/>
            <a:rect r="r" b="b" t="t" l="l"/>
            <a:pathLst>
              <a:path h="4465006" w="4424415">
                <a:moveTo>
                  <a:pt x="0" y="0"/>
                </a:moveTo>
                <a:lnTo>
                  <a:pt x="4424415" y="0"/>
                </a:lnTo>
                <a:lnTo>
                  <a:pt x="4424415" y="4465006"/>
                </a:lnTo>
                <a:lnTo>
                  <a:pt x="0" y="44650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739432" y="7402134"/>
            <a:ext cx="4424415" cy="4465006"/>
          </a:xfrm>
          <a:custGeom>
            <a:avLst/>
            <a:gdLst/>
            <a:ahLst/>
            <a:cxnLst/>
            <a:rect r="r" b="b" t="t" l="l"/>
            <a:pathLst>
              <a:path h="4465006" w="4424415">
                <a:moveTo>
                  <a:pt x="0" y="0"/>
                </a:moveTo>
                <a:lnTo>
                  <a:pt x="4424416" y="0"/>
                </a:lnTo>
                <a:lnTo>
                  <a:pt x="4424416" y="4465006"/>
                </a:lnTo>
                <a:lnTo>
                  <a:pt x="0" y="44650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39432" y="-330579"/>
            <a:ext cx="3794941" cy="2718558"/>
          </a:xfrm>
          <a:custGeom>
            <a:avLst/>
            <a:gdLst/>
            <a:ahLst/>
            <a:cxnLst/>
            <a:rect r="r" b="b" t="t" l="l"/>
            <a:pathLst>
              <a:path h="2718558" w="3794941">
                <a:moveTo>
                  <a:pt x="0" y="0"/>
                </a:moveTo>
                <a:lnTo>
                  <a:pt x="3794942" y="0"/>
                </a:lnTo>
                <a:lnTo>
                  <a:pt x="3794942" y="2718558"/>
                </a:lnTo>
                <a:lnTo>
                  <a:pt x="0" y="27185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20154" y="7899021"/>
            <a:ext cx="3794941" cy="2718558"/>
          </a:xfrm>
          <a:custGeom>
            <a:avLst/>
            <a:gdLst/>
            <a:ahLst/>
            <a:cxnLst/>
            <a:rect r="r" b="b" t="t" l="l"/>
            <a:pathLst>
              <a:path h="2718558" w="3794941">
                <a:moveTo>
                  <a:pt x="0" y="0"/>
                </a:moveTo>
                <a:lnTo>
                  <a:pt x="3794941" y="0"/>
                </a:lnTo>
                <a:lnTo>
                  <a:pt x="3794941" y="2718558"/>
                </a:lnTo>
                <a:lnTo>
                  <a:pt x="0" y="27185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7585665" y="829644"/>
            <a:ext cx="3116669" cy="3116669"/>
          </a:xfrm>
          <a:custGeom>
            <a:avLst/>
            <a:gdLst/>
            <a:ahLst/>
            <a:cxnLst/>
            <a:rect r="r" b="b" t="t" l="l"/>
            <a:pathLst>
              <a:path h="3116669" w="3116669">
                <a:moveTo>
                  <a:pt x="0" y="0"/>
                </a:moveTo>
                <a:lnTo>
                  <a:pt x="3116670" y="0"/>
                </a:lnTo>
                <a:lnTo>
                  <a:pt x="3116670" y="3116670"/>
                </a:lnTo>
                <a:lnTo>
                  <a:pt x="0" y="3116670"/>
                </a:lnTo>
                <a:lnTo>
                  <a:pt x="0" y="0"/>
                </a:lnTo>
                <a:close/>
              </a:path>
            </a:pathLst>
          </a:custGeom>
          <a:blipFill>
            <a:blip r:embed="rId7"/>
            <a:stretch>
              <a:fillRect l="0" t="0" r="0" b="0"/>
            </a:stretch>
          </a:blipFill>
        </p:spPr>
      </p:sp>
      <p:sp>
        <p:nvSpPr>
          <p:cNvPr name="TextBox 8" id="8"/>
          <p:cNvSpPr txBox="true"/>
          <p:nvPr/>
        </p:nvSpPr>
        <p:spPr>
          <a:xfrm rot="0">
            <a:off x="0" y="4350208"/>
            <a:ext cx="18288000" cy="1462758"/>
          </a:xfrm>
          <a:prstGeom prst="rect">
            <a:avLst/>
          </a:prstGeom>
        </p:spPr>
        <p:txBody>
          <a:bodyPr anchor="t" rtlCol="false" tIns="0" lIns="0" bIns="0" rIns="0">
            <a:spAutoFit/>
          </a:bodyPr>
          <a:lstStyle/>
          <a:p>
            <a:pPr algn="ctr">
              <a:lnSpc>
                <a:spcPts val="11794"/>
              </a:lnSpc>
            </a:pPr>
            <a:r>
              <a:rPr lang="en-US" b="true" sz="8801">
                <a:solidFill>
                  <a:srgbClr val="FFFFFF"/>
                </a:solidFill>
                <a:latin typeface="Lato Heavy"/>
                <a:ea typeface="Lato Heavy"/>
                <a:cs typeface="Lato Heavy"/>
                <a:sym typeface="Lato Heavy"/>
              </a:rPr>
              <a:t>BÁO CÁO BÀI TẬP LỚN</a:t>
            </a:r>
          </a:p>
        </p:txBody>
      </p:sp>
      <p:sp>
        <p:nvSpPr>
          <p:cNvPr name="TextBox 9" id="9"/>
          <p:cNvSpPr txBox="true"/>
          <p:nvPr/>
        </p:nvSpPr>
        <p:spPr>
          <a:xfrm rot="0">
            <a:off x="0" y="5946200"/>
            <a:ext cx="18288000" cy="1638733"/>
          </a:xfrm>
          <a:prstGeom prst="rect">
            <a:avLst/>
          </a:prstGeom>
        </p:spPr>
        <p:txBody>
          <a:bodyPr anchor="t" rtlCol="false" tIns="0" lIns="0" bIns="0" rIns="0">
            <a:spAutoFit/>
          </a:bodyPr>
          <a:lstStyle/>
          <a:p>
            <a:pPr algn="ctr">
              <a:lnSpc>
                <a:spcPts val="6521"/>
              </a:lnSpc>
              <a:spcBef>
                <a:spcPct val="0"/>
              </a:spcBef>
            </a:pPr>
            <a:r>
              <a:rPr lang="en-US" b="true" sz="4658">
                <a:solidFill>
                  <a:srgbClr val="FFFFFF"/>
                </a:solidFill>
                <a:latin typeface="Lato Heavy"/>
                <a:ea typeface="Lato Heavy"/>
                <a:cs typeface="Lato Heavy"/>
                <a:sym typeface="Lato Heavy"/>
              </a:rPr>
              <a:t>TÌM HIỂU VỀ CÔNG ĐOẠN QUANG KHẮC (PHOTOLITHOGRAPHY) TRONG CHẾ TẠO BÁN DẪN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136487" y="630199"/>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0" y="215024"/>
            <a:ext cx="1176400" cy="1135760"/>
          </a:xfrm>
          <a:custGeom>
            <a:avLst/>
            <a:gdLst/>
            <a:ahLst/>
            <a:cxnLst/>
            <a:rect r="r" b="b" t="t" l="l"/>
            <a:pathLst>
              <a:path h="1135760" w="1176400">
                <a:moveTo>
                  <a:pt x="0" y="0"/>
                </a:moveTo>
                <a:lnTo>
                  <a:pt x="1176400" y="0"/>
                </a:lnTo>
                <a:lnTo>
                  <a:pt x="1176400" y="1135761"/>
                </a:lnTo>
                <a:lnTo>
                  <a:pt x="0" y="11357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7" id="7"/>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8" id="8"/>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1" id="11"/>
          <p:cNvSpPr txBox="true"/>
          <p:nvPr/>
        </p:nvSpPr>
        <p:spPr>
          <a:xfrm rot="0">
            <a:off x="0" y="2290445"/>
            <a:ext cx="18288000" cy="901384"/>
          </a:xfrm>
          <a:prstGeom prst="rect">
            <a:avLst/>
          </a:prstGeom>
        </p:spPr>
        <p:txBody>
          <a:bodyPr anchor="t" rtlCol="false" tIns="0" lIns="0" bIns="0" rIns="0">
            <a:spAutoFit/>
          </a:bodyPr>
          <a:lstStyle/>
          <a:p>
            <a:pPr algn="ctr">
              <a:lnSpc>
                <a:spcPts val="6596"/>
              </a:lnSpc>
            </a:pPr>
            <a:r>
              <a:rPr lang="en-US" b="true" sz="7411">
                <a:solidFill>
                  <a:srgbClr val="FFFFFF"/>
                </a:solidFill>
                <a:latin typeface="Lato Heavy"/>
                <a:ea typeface="Lato Heavy"/>
                <a:cs typeface="Lato Heavy"/>
                <a:sym typeface="Lato Heavy"/>
              </a:rPr>
              <a:t>THÀNH VIÊN NHÓM 6</a:t>
            </a:r>
          </a:p>
        </p:txBody>
      </p:sp>
      <p:sp>
        <p:nvSpPr>
          <p:cNvPr name="TextBox 12" id="12"/>
          <p:cNvSpPr txBox="true"/>
          <p:nvPr/>
        </p:nvSpPr>
        <p:spPr>
          <a:xfrm rot="0">
            <a:off x="4573076" y="3560595"/>
            <a:ext cx="9308424" cy="4203875"/>
          </a:xfrm>
          <a:prstGeom prst="rect">
            <a:avLst/>
          </a:prstGeom>
        </p:spPr>
        <p:txBody>
          <a:bodyPr anchor="t" rtlCol="false" tIns="0" lIns="0" bIns="0" rIns="0">
            <a:spAutoFit/>
          </a:bodyPr>
          <a:lstStyle/>
          <a:p>
            <a:pPr algn="l" marL="862111" indent="-431056" lvl="1">
              <a:lnSpc>
                <a:spcPts val="5590"/>
              </a:lnSpc>
              <a:buAutoNum type="arabicPeriod" startAt="1"/>
            </a:pPr>
            <a:r>
              <a:rPr lang="en-US" sz="3993">
                <a:solidFill>
                  <a:srgbClr val="FFFFFF"/>
                </a:solidFill>
                <a:latin typeface="Lato"/>
                <a:ea typeface="Lato"/>
                <a:cs typeface="Lato"/>
                <a:sym typeface="Lato"/>
              </a:rPr>
              <a:t>Lê Nguyên Khôi              - 2211681 </a:t>
            </a:r>
          </a:p>
          <a:p>
            <a:pPr algn="l" marL="862111" indent="-431056" lvl="1">
              <a:lnSpc>
                <a:spcPts val="5590"/>
              </a:lnSpc>
              <a:buAutoNum type="arabicPeriod" startAt="1"/>
            </a:pPr>
            <a:r>
              <a:rPr lang="en-US" sz="3993">
                <a:solidFill>
                  <a:srgbClr val="FFFFFF"/>
                </a:solidFill>
                <a:latin typeface="Lato"/>
                <a:ea typeface="Lato"/>
                <a:cs typeface="Lato"/>
                <a:sym typeface="Lato"/>
              </a:rPr>
              <a:t>Nguyễn Thái Long          - 2211884</a:t>
            </a:r>
          </a:p>
          <a:p>
            <a:pPr algn="l" marL="862111" indent="-431056" lvl="1">
              <a:lnSpc>
                <a:spcPts val="5590"/>
              </a:lnSpc>
              <a:buAutoNum type="arabicPeriod" startAt="1"/>
            </a:pPr>
            <a:r>
              <a:rPr lang="en-US" sz="3993">
                <a:solidFill>
                  <a:srgbClr val="FFFFFF"/>
                </a:solidFill>
                <a:latin typeface="Lato"/>
                <a:ea typeface="Lato"/>
                <a:cs typeface="Lato"/>
                <a:sym typeface="Lato"/>
              </a:rPr>
              <a:t>Phạm Đức Long              - 2211892</a:t>
            </a:r>
          </a:p>
          <a:p>
            <a:pPr algn="l" marL="862111" indent="-431056" lvl="1">
              <a:lnSpc>
                <a:spcPts val="5590"/>
              </a:lnSpc>
              <a:buAutoNum type="arabicPeriod" startAt="1"/>
            </a:pPr>
            <a:r>
              <a:rPr lang="en-US" sz="3993">
                <a:solidFill>
                  <a:srgbClr val="FFFFFF"/>
                </a:solidFill>
                <a:latin typeface="Lato"/>
                <a:ea typeface="Lato"/>
                <a:cs typeface="Lato"/>
                <a:sym typeface="Lato"/>
              </a:rPr>
              <a:t>Lưu Nguyễn Anh Khôi   - 2411692</a:t>
            </a:r>
          </a:p>
          <a:p>
            <a:pPr algn="l" marL="862111" indent="-431056" lvl="1">
              <a:lnSpc>
                <a:spcPts val="5590"/>
              </a:lnSpc>
              <a:buAutoNum type="arabicPeriod" startAt="1"/>
            </a:pPr>
            <a:r>
              <a:rPr lang="en-US" sz="3993">
                <a:solidFill>
                  <a:srgbClr val="FFFFFF"/>
                </a:solidFill>
                <a:latin typeface="Lato"/>
                <a:ea typeface="Lato"/>
                <a:cs typeface="Lato"/>
                <a:sym typeface="Lato"/>
              </a:rPr>
              <a:t>Nguyễn Đức Huy           - 2411208</a:t>
            </a:r>
          </a:p>
          <a:p>
            <a:pPr algn="l" marL="862111" indent="-431056" lvl="1">
              <a:lnSpc>
                <a:spcPts val="5590"/>
              </a:lnSpc>
              <a:buAutoNum type="arabicPeriod" startAt="1"/>
            </a:pPr>
            <a:r>
              <a:rPr lang="en-US" sz="3993">
                <a:solidFill>
                  <a:srgbClr val="FFFFFF"/>
                </a:solidFill>
                <a:latin typeface="Lato"/>
                <a:ea typeface="Lato"/>
                <a:cs typeface="Lato"/>
                <a:sym typeface="Lato"/>
              </a:rPr>
              <a:t>Đỗ Văn Khoa                  - 2211587</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136487" y="630199"/>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0" y="215024"/>
            <a:ext cx="1176400" cy="1135760"/>
          </a:xfrm>
          <a:custGeom>
            <a:avLst/>
            <a:gdLst/>
            <a:ahLst/>
            <a:cxnLst/>
            <a:rect r="r" b="b" t="t" l="l"/>
            <a:pathLst>
              <a:path h="1135760" w="1176400">
                <a:moveTo>
                  <a:pt x="0" y="0"/>
                </a:moveTo>
                <a:lnTo>
                  <a:pt x="1176400" y="0"/>
                </a:lnTo>
                <a:lnTo>
                  <a:pt x="1176400" y="1135761"/>
                </a:lnTo>
                <a:lnTo>
                  <a:pt x="0" y="11357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588200" y="1902722"/>
            <a:ext cx="9474999" cy="901384"/>
          </a:xfrm>
          <a:prstGeom prst="rect">
            <a:avLst/>
          </a:prstGeom>
        </p:spPr>
        <p:txBody>
          <a:bodyPr anchor="t" rtlCol="false" tIns="0" lIns="0" bIns="0" rIns="0">
            <a:spAutoFit/>
          </a:bodyPr>
          <a:lstStyle/>
          <a:p>
            <a:pPr algn="l">
              <a:lnSpc>
                <a:spcPts val="6596"/>
              </a:lnSpc>
            </a:pPr>
            <a:r>
              <a:rPr lang="en-US" sz="7411" b="true">
                <a:solidFill>
                  <a:srgbClr val="FFFFFF"/>
                </a:solidFill>
                <a:latin typeface="Lato Heavy"/>
                <a:ea typeface="Lato Heavy"/>
                <a:cs typeface="Lato Heavy"/>
                <a:sym typeface="Lato Heavy"/>
              </a:rPr>
              <a:t>MỤC LỤC</a:t>
            </a:r>
          </a:p>
        </p:txBody>
      </p:sp>
      <p:sp>
        <p:nvSpPr>
          <p:cNvPr name="TextBox 10" id="10"/>
          <p:cNvSpPr txBox="true"/>
          <p:nvPr/>
        </p:nvSpPr>
        <p:spPr>
          <a:xfrm rot="0">
            <a:off x="1028700" y="3222694"/>
            <a:ext cx="13503104" cy="611964"/>
          </a:xfrm>
          <a:prstGeom prst="rect">
            <a:avLst/>
          </a:prstGeom>
        </p:spPr>
        <p:txBody>
          <a:bodyPr anchor="t" rtlCol="false" tIns="0" lIns="0" bIns="0" rIns="0">
            <a:spAutoFit/>
          </a:bodyPr>
          <a:lstStyle/>
          <a:p>
            <a:pPr algn="l" marL="991648" indent="-495824" lvl="1">
              <a:lnSpc>
                <a:spcPts val="4593"/>
              </a:lnSpc>
              <a:buAutoNum type="arabicPeriod" startAt="1"/>
            </a:pPr>
            <a:r>
              <a:rPr lang="en-US" sz="4593">
                <a:solidFill>
                  <a:srgbClr val="FFFFFF"/>
                </a:solidFill>
                <a:latin typeface="Lato"/>
                <a:ea typeface="Lato"/>
                <a:cs typeface="Lato"/>
                <a:sym typeface="Lato"/>
              </a:rPr>
              <a:t>Nguyên lý cơ bản và Các thành phần hệ thống</a:t>
            </a:r>
          </a:p>
        </p:txBody>
      </p:sp>
      <p:sp>
        <p:nvSpPr>
          <p:cNvPr name="TextBox 11" id="11"/>
          <p:cNvSpPr txBox="true"/>
          <p:nvPr/>
        </p:nvSpPr>
        <p:spPr>
          <a:xfrm rot="0">
            <a:off x="1941847" y="4180127"/>
            <a:ext cx="16346153" cy="611964"/>
          </a:xfrm>
          <a:prstGeom prst="rect">
            <a:avLst/>
          </a:prstGeom>
        </p:spPr>
        <p:txBody>
          <a:bodyPr anchor="t" rtlCol="false" tIns="0" lIns="0" bIns="0" rIns="0">
            <a:spAutoFit/>
          </a:bodyPr>
          <a:lstStyle/>
          <a:p>
            <a:pPr algn="l" marL="991648" indent="-495824" lvl="1">
              <a:lnSpc>
                <a:spcPts val="4593"/>
              </a:lnSpc>
              <a:buAutoNum type="arabicPeriod" startAt="1"/>
            </a:pPr>
            <a:r>
              <a:rPr lang="en-US" sz="4593">
                <a:solidFill>
                  <a:srgbClr val="FFFFFF"/>
                </a:solidFill>
                <a:latin typeface="Lato"/>
                <a:ea typeface="Lato"/>
                <a:cs typeface="Lato"/>
                <a:sym typeface="Lato"/>
              </a:rPr>
              <a:t> Vật liệu sử dụng trong quang khắc</a:t>
            </a:r>
          </a:p>
        </p:txBody>
      </p:sp>
      <p:sp>
        <p:nvSpPr>
          <p:cNvPr name="TextBox 12" id="12"/>
          <p:cNvSpPr txBox="true"/>
          <p:nvPr/>
        </p:nvSpPr>
        <p:spPr>
          <a:xfrm rot="0">
            <a:off x="2854994" y="5137560"/>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Quy trình quang khắc chi tiết</a:t>
            </a:r>
          </a:p>
        </p:txBody>
      </p:sp>
      <p:sp>
        <p:nvSpPr>
          <p:cNvPr name="TextBox 13" id="13"/>
          <p:cNvSpPr txBox="true"/>
          <p:nvPr/>
        </p:nvSpPr>
        <p:spPr>
          <a:xfrm rot="0">
            <a:off x="3768141" y="6094993"/>
            <a:ext cx="14519859" cy="611964"/>
          </a:xfrm>
          <a:prstGeom prst="rect">
            <a:avLst/>
          </a:prstGeom>
        </p:spPr>
        <p:txBody>
          <a:bodyPr anchor="t" rtlCol="false" tIns="0" lIns="0" bIns="0" rIns="0">
            <a:spAutoFit/>
          </a:bodyPr>
          <a:lstStyle/>
          <a:p>
            <a:pPr algn="l">
              <a:lnSpc>
                <a:spcPts val="4593"/>
              </a:lnSpc>
            </a:pPr>
            <a:r>
              <a:rPr lang="en-US" sz="4593">
                <a:solidFill>
                  <a:srgbClr val="FFFFFF"/>
                </a:solidFill>
                <a:latin typeface="Lato"/>
                <a:ea typeface="Lato"/>
                <a:cs typeface="Lato"/>
                <a:sym typeface="Lato"/>
              </a:rPr>
              <a:t>4. Thiết bị và công nghệ quang khắc</a:t>
            </a:r>
          </a:p>
        </p:txBody>
      </p:sp>
      <p:sp>
        <p:nvSpPr>
          <p:cNvPr name="TextBox 14" id="14"/>
          <p:cNvSpPr txBox="true"/>
          <p:nvPr/>
        </p:nvSpPr>
        <p:spPr>
          <a:xfrm rot="0">
            <a:off x="4681288" y="7052426"/>
            <a:ext cx="13343984" cy="611964"/>
          </a:xfrm>
          <a:prstGeom prst="rect">
            <a:avLst/>
          </a:prstGeom>
        </p:spPr>
        <p:txBody>
          <a:bodyPr anchor="t" rtlCol="false" tIns="0" lIns="0" bIns="0" rIns="0">
            <a:spAutoFit/>
          </a:bodyPr>
          <a:lstStyle/>
          <a:p>
            <a:pPr algn="l">
              <a:lnSpc>
                <a:spcPts val="4593"/>
              </a:lnSpc>
            </a:pPr>
            <a:r>
              <a:rPr lang="en-US" sz="4593">
                <a:solidFill>
                  <a:srgbClr val="FFFFFF"/>
                </a:solidFill>
                <a:latin typeface="Lato"/>
                <a:ea typeface="Lato"/>
                <a:cs typeface="Lato"/>
                <a:sym typeface="Lato"/>
              </a:rPr>
              <a:t>5. Các yếu tố ảnh hưởng và giới hạn công nghệ</a:t>
            </a:r>
          </a:p>
        </p:txBody>
      </p:sp>
      <p:sp>
        <p:nvSpPr>
          <p:cNvPr name="TextBox 15" id="15"/>
          <p:cNvSpPr txBox="true"/>
          <p:nvPr/>
        </p:nvSpPr>
        <p:spPr>
          <a:xfrm rot="0">
            <a:off x="5335494" y="8011101"/>
            <a:ext cx="12269083" cy="611964"/>
          </a:xfrm>
          <a:prstGeom prst="rect">
            <a:avLst/>
          </a:prstGeom>
        </p:spPr>
        <p:txBody>
          <a:bodyPr anchor="t" rtlCol="false" tIns="0" lIns="0" bIns="0" rIns="0">
            <a:spAutoFit/>
          </a:bodyPr>
          <a:lstStyle/>
          <a:p>
            <a:pPr algn="l">
              <a:lnSpc>
                <a:spcPts val="4593"/>
              </a:lnSpc>
            </a:pPr>
            <a:r>
              <a:rPr lang="en-US" sz="4593">
                <a:solidFill>
                  <a:srgbClr val="FFFFFF"/>
                </a:solidFill>
                <a:latin typeface="Lato"/>
                <a:ea typeface="Lato"/>
                <a:cs typeface="Lato"/>
                <a:sym typeface="Lato"/>
              </a:rPr>
              <a:t>6. Công nghệ tiên tiến và xu hướng phát triển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136487" y="630199"/>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5" id="5"/>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6" id="6"/>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392182" y="3822616"/>
            <a:ext cx="5860575" cy="5435684"/>
          </a:xfrm>
          <a:custGeom>
            <a:avLst/>
            <a:gdLst/>
            <a:ahLst/>
            <a:cxnLst/>
            <a:rect r="r" b="b" t="t" l="l"/>
            <a:pathLst>
              <a:path h="5435684" w="5860575">
                <a:moveTo>
                  <a:pt x="0" y="0"/>
                </a:moveTo>
                <a:lnTo>
                  <a:pt x="5860575" y="0"/>
                </a:lnTo>
                <a:lnTo>
                  <a:pt x="5860575" y="5435684"/>
                </a:lnTo>
                <a:lnTo>
                  <a:pt x="0" y="5435684"/>
                </a:lnTo>
                <a:lnTo>
                  <a:pt x="0" y="0"/>
                </a:lnTo>
                <a:close/>
              </a:path>
            </a:pathLst>
          </a:custGeom>
          <a:blipFill>
            <a:blip r:embed="rId11"/>
            <a:stretch>
              <a:fillRect l="0" t="0" r="0" b="0"/>
            </a:stretch>
          </a:blipFill>
        </p:spPr>
      </p:sp>
      <p:sp>
        <p:nvSpPr>
          <p:cNvPr name="TextBox 9" id="9"/>
          <p:cNvSpPr txBox="true"/>
          <p:nvPr/>
        </p:nvSpPr>
        <p:spPr>
          <a:xfrm rot="0">
            <a:off x="-226368" y="391209"/>
            <a:ext cx="12459407" cy="554180"/>
          </a:xfrm>
          <a:prstGeom prst="rect">
            <a:avLst/>
          </a:prstGeom>
        </p:spPr>
        <p:txBody>
          <a:bodyPr anchor="t" rtlCol="false" tIns="0" lIns="0" bIns="0" rIns="0">
            <a:spAutoFit/>
          </a:bodyPr>
          <a:lstStyle/>
          <a:p>
            <a:pPr algn="ctr">
              <a:lnSpc>
                <a:spcPts val="4193"/>
              </a:lnSpc>
              <a:spcBef>
                <a:spcPct val="0"/>
              </a:spcBef>
            </a:pPr>
            <a:r>
              <a:rPr lang="en-US" sz="4193">
                <a:solidFill>
                  <a:srgbClr val="FFFFFF"/>
                </a:solidFill>
                <a:latin typeface="Lato"/>
                <a:ea typeface="Lato"/>
                <a:cs typeface="Lato"/>
                <a:sym typeface="Lato"/>
              </a:rPr>
              <a:t>1) Nguyên lý cơ bản và hệ thống các thành phần:</a:t>
            </a:r>
          </a:p>
        </p:txBody>
      </p:sp>
      <p:sp>
        <p:nvSpPr>
          <p:cNvPr name="TextBox 10" id="10"/>
          <p:cNvSpPr txBox="true"/>
          <p:nvPr/>
        </p:nvSpPr>
        <p:spPr>
          <a:xfrm rot="0">
            <a:off x="-500181" y="1480995"/>
            <a:ext cx="6252757" cy="590375"/>
          </a:xfrm>
          <a:prstGeom prst="rect">
            <a:avLst/>
          </a:prstGeom>
        </p:spPr>
        <p:txBody>
          <a:bodyPr anchor="t" rtlCol="false" tIns="0" lIns="0" bIns="0" rIns="0">
            <a:spAutoFit/>
          </a:bodyPr>
          <a:lstStyle/>
          <a:p>
            <a:pPr algn="ctr">
              <a:lnSpc>
                <a:spcPts val="4493"/>
              </a:lnSpc>
              <a:spcBef>
                <a:spcPct val="0"/>
              </a:spcBef>
            </a:pPr>
            <a:r>
              <a:rPr lang="en-US" sz="4493">
                <a:solidFill>
                  <a:srgbClr val="FFFFFF"/>
                </a:solidFill>
                <a:latin typeface="Lato"/>
                <a:ea typeface="Lato"/>
                <a:cs typeface="Lato"/>
                <a:sym typeface="Lato"/>
              </a:rPr>
              <a:t>a) Cơ sở lý thuyết</a:t>
            </a:r>
          </a:p>
        </p:txBody>
      </p:sp>
      <p:sp>
        <p:nvSpPr>
          <p:cNvPr name="TextBox 11" id="11"/>
          <p:cNvSpPr txBox="true"/>
          <p:nvPr/>
        </p:nvSpPr>
        <p:spPr>
          <a:xfrm rot="0">
            <a:off x="-110419" y="2395220"/>
            <a:ext cx="16230600" cy="1152350"/>
          </a:xfrm>
          <a:prstGeom prst="rect">
            <a:avLst/>
          </a:prstGeom>
        </p:spPr>
        <p:txBody>
          <a:bodyPr anchor="t" rtlCol="false" tIns="0" lIns="0" bIns="0" rIns="0">
            <a:spAutoFit/>
          </a:bodyPr>
          <a:lstStyle/>
          <a:p>
            <a:pPr algn="l" marL="970059" indent="-485029" lvl="1">
              <a:lnSpc>
                <a:spcPts val="4493"/>
              </a:lnSpc>
              <a:spcBef>
                <a:spcPct val="0"/>
              </a:spcBef>
              <a:buFont typeface="Arial"/>
              <a:buChar char="•"/>
            </a:pPr>
            <a:r>
              <a:rPr lang="en-US" sz="4493">
                <a:solidFill>
                  <a:srgbClr val="FFFFFF"/>
                </a:solidFill>
                <a:latin typeface="Lato"/>
                <a:ea typeface="Lato"/>
                <a:cs typeface="Lato"/>
                <a:sym typeface="Lato"/>
              </a:rPr>
              <a:t>Nguyên lý quang học: hiện tượng nhiễu xạ ánh sáng và tiêu chuẩn Rayleigh.</a:t>
            </a:r>
          </a:p>
        </p:txBody>
      </p:sp>
      <p:sp>
        <p:nvSpPr>
          <p:cNvPr name="TextBox 12" id="12"/>
          <p:cNvSpPr txBox="true"/>
          <p:nvPr/>
        </p:nvSpPr>
        <p:spPr>
          <a:xfrm rot="0">
            <a:off x="6594759" y="3909695"/>
            <a:ext cx="10308130" cy="1233805"/>
          </a:xfrm>
          <a:prstGeom prst="rect">
            <a:avLst/>
          </a:prstGeom>
        </p:spPr>
        <p:txBody>
          <a:bodyPr anchor="t" rtlCol="false" tIns="0" lIns="0" bIns="0" rIns="0">
            <a:spAutoFit/>
          </a:bodyPr>
          <a:lstStyle/>
          <a:p>
            <a:pPr algn="just">
              <a:lnSpc>
                <a:spcPts val="3200"/>
              </a:lnSpc>
              <a:spcBef>
                <a:spcPct val="0"/>
              </a:spcBef>
            </a:pPr>
            <a:r>
              <a:rPr lang="en-US" sz="3200">
                <a:solidFill>
                  <a:srgbClr val="FFFFFF"/>
                </a:solidFill>
                <a:latin typeface="Lato"/>
                <a:ea typeface="Lato"/>
                <a:cs typeface="Lato"/>
                <a:sym typeface="Lato"/>
              </a:rPr>
              <a:t>Hiện tượng nhiễu xạ xảy ra k</a:t>
            </a:r>
            <a:r>
              <a:rPr lang="en-US" sz="3200">
                <a:solidFill>
                  <a:srgbClr val="FFFFFF"/>
                </a:solidFill>
                <a:latin typeface="Lato"/>
                <a:ea typeface="Lato"/>
                <a:cs typeface="Lato"/>
                <a:sym typeface="Lato"/>
              </a:rPr>
              <a:t>hi chùm sáng đi qua các khe hở siêu nhỏ trên mặt nạ quang khắc, ánh sáng không đi thẳng mà bị bẻ cong và loe rộng ra.</a:t>
            </a:r>
          </a:p>
        </p:txBody>
      </p:sp>
      <p:sp>
        <p:nvSpPr>
          <p:cNvPr name="TextBox 13" id="13"/>
          <p:cNvSpPr txBox="true"/>
          <p:nvPr/>
        </p:nvSpPr>
        <p:spPr>
          <a:xfrm rot="0">
            <a:off x="6594759" y="5505450"/>
            <a:ext cx="10308130" cy="1233805"/>
          </a:xfrm>
          <a:prstGeom prst="rect">
            <a:avLst/>
          </a:prstGeom>
        </p:spPr>
        <p:txBody>
          <a:bodyPr anchor="t" rtlCol="false" tIns="0" lIns="0" bIns="0" rIns="0">
            <a:spAutoFit/>
          </a:bodyPr>
          <a:lstStyle/>
          <a:p>
            <a:pPr algn="just">
              <a:lnSpc>
                <a:spcPts val="3200"/>
              </a:lnSpc>
              <a:spcBef>
                <a:spcPct val="0"/>
              </a:spcBef>
            </a:pPr>
            <a:r>
              <a:rPr lang="en-US" sz="3200">
                <a:solidFill>
                  <a:srgbClr val="FFFFFF"/>
                </a:solidFill>
                <a:latin typeface="Lato"/>
                <a:ea typeface="Lato"/>
                <a:cs typeface="Lato"/>
                <a:sym typeface="Lato"/>
              </a:rPr>
              <a:t>Tiêu chuẩn Rayleigh: đây là trọng tâm của cốt lõi phần lý thuyết, tiêu chuẩn này ảnh hưởng đến độ phân giải và chiều sâu tiêu cự của hệ thống.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324235" y="4190569"/>
            <a:ext cx="5186499" cy="5067731"/>
          </a:xfrm>
          <a:custGeom>
            <a:avLst/>
            <a:gdLst/>
            <a:ahLst/>
            <a:cxnLst/>
            <a:rect r="r" b="b" t="t" l="l"/>
            <a:pathLst>
              <a:path h="5067731" w="5186499">
                <a:moveTo>
                  <a:pt x="0" y="0"/>
                </a:moveTo>
                <a:lnTo>
                  <a:pt x="5186498" y="0"/>
                </a:lnTo>
                <a:lnTo>
                  <a:pt x="5186498" y="5067731"/>
                </a:lnTo>
                <a:lnTo>
                  <a:pt x="0" y="5067731"/>
                </a:lnTo>
                <a:lnTo>
                  <a:pt x="0" y="0"/>
                </a:lnTo>
                <a:close/>
              </a:path>
            </a:pathLst>
          </a:custGeom>
          <a:blipFill>
            <a:blip r:embed="rId3"/>
            <a:stretch>
              <a:fillRect l="0" t="-2343" r="0" b="0"/>
            </a:stretch>
          </a:blipFill>
        </p:spPr>
      </p:sp>
      <p:sp>
        <p:nvSpPr>
          <p:cNvPr name="TextBox 4" id="4"/>
          <p:cNvSpPr txBox="true"/>
          <p:nvPr/>
        </p:nvSpPr>
        <p:spPr>
          <a:xfrm rot="0">
            <a:off x="-228600" y="133350"/>
            <a:ext cx="10648355" cy="590375"/>
          </a:xfrm>
          <a:prstGeom prst="rect">
            <a:avLst/>
          </a:prstGeom>
        </p:spPr>
        <p:txBody>
          <a:bodyPr anchor="t" rtlCol="false" tIns="0" lIns="0" bIns="0" rIns="0">
            <a:spAutoFit/>
          </a:bodyPr>
          <a:lstStyle/>
          <a:p>
            <a:pPr algn="l" marL="970059" indent="-485029" lvl="1">
              <a:lnSpc>
                <a:spcPts val="4493"/>
              </a:lnSpc>
              <a:spcBef>
                <a:spcPct val="0"/>
              </a:spcBef>
              <a:buFont typeface="Arial"/>
              <a:buChar char="•"/>
            </a:pPr>
            <a:r>
              <a:rPr lang="en-US" sz="4493">
                <a:solidFill>
                  <a:srgbClr val="FFFFFF"/>
                </a:solidFill>
                <a:latin typeface="Lato"/>
                <a:ea typeface="Lato"/>
                <a:cs typeface="Lato"/>
                <a:sym typeface="Lato"/>
              </a:rPr>
              <a:t>Lý thuyết tương tác ánh sáng - vật liệu:</a:t>
            </a:r>
          </a:p>
        </p:txBody>
      </p:sp>
      <p:sp>
        <p:nvSpPr>
          <p:cNvPr name="TextBox 5" id="5"/>
          <p:cNvSpPr txBox="true"/>
          <p:nvPr/>
        </p:nvSpPr>
        <p:spPr>
          <a:xfrm rot="0">
            <a:off x="0" y="1076325"/>
            <a:ext cx="17785600" cy="4834255"/>
          </a:xfrm>
          <a:prstGeom prst="rect">
            <a:avLst/>
          </a:prstGeom>
        </p:spPr>
        <p:txBody>
          <a:bodyPr anchor="t" rtlCol="false" tIns="0" lIns="0" bIns="0" rIns="0">
            <a:spAutoFit/>
          </a:bodyPr>
          <a:lstStyle/>
          <a:p>
            <a:pPr algn="l" marL="690881" indent="-345440" lvl="1">
              <a:lnSpc>
                <a:spcPts val="3200"/>
              </a:lnSpc>
              <a:buAutoNum type="arabicPeriod" startAt="1"/>
            </a:pPr>
            <a:r>
              <a:rPr lang="en-US" sz="3200">
                <a:solidFill>
                  <a:srgbClr val="FFFFFF"/>
                </a:solidFill>
                <a:latin typeface="Lato"/>
                <a:ea typeface="Lato"/>
                <a:cs typeface="Lato"/>
                <a:sym typeface="Lato"/>
              </a:rPr>
              <a:t>Lý thuyết hấp thụ năng lượng quang học: Khi ánh sáng truyền vào một môi trường vật chất, năng lượng của nó không giữ nguyên mà bị vật liệu hấp thụ và suy giảm theo hàm mũ dựa trên độ sâu.</a:t>
            </a:r>
          </a:p>
          <a:p>
            <a:pPr algn="l" marL="690881" indent="-345440" lvl="1">
              <a:lnSpc>
                <a:spcPts val="3200"/>
              </a:lnSpc>
              <a:buAutoNum type="arabicPeriod" startAt="1"/>
            </a:pPr>
            <a:r>
              <a:rPr lang="en-US" sz="3200">
                <a:solidFill>
                  <a:srgbClr val="FFFFFF"/>
                </a:solidFill>
                <a:latin typeface="Lato"/>
                <a:ea typeface="Lato"/>
                <a:cs typeface="Lato"/>
                <a:sym typeface="Lato"/>
              </a:rPr>
              <a:t>Mô hình động học quang hóa: Tùy thuộc vào công nghệ sử dụng, người ta phân chia thành hai loại mô hình là mô hình tham số Dill và mô hình cơ chế sinh gốc axit.</a:t>
            </a:r>
          </a:p>
          <a:p>
            <a:pPr algn="l" marL="690881" indent="-345440" lvl="1">
              <a:lnSpc>
                <a:spcPts val="3200"/>
              </a:lnSpc>
              <a:buAutoNum type="arabicPeriod" startAt="1"/>
            </a:pPr>
            <a:r>
              <a:rPr lang="en-US" sz="3200">
                <a:solidFill>
                  <a:srgbClr val="FFFFFF"/>
                </a:solidFill>
                <a:latin typeface="Lato"/>
                <a:ea typeface="Lato"/>
                <a:cs typeface="Lato"/>
                <a:sym typeface="Lato"/>
              </a:rPr>
              <a:t> Lý thuyết giao thoa màng mỏng: mô tả hành vi của ánh sáng khi gặp các bề mặt phản xạ trong cấu trúc nhiều lớp. </a:t>
            </a:r>
          </a:p>
          <a:p>
            <a:pPr algn="l">
              <a:lnSpc>
                <a:spcPts val="3200"/>
              </a:lnSpc>
            </a:pPr>
          </a:p>
          <a:p>
            <a:pPr algn="l">
              <a:lnSpc>
                <a:spcPts val="3200"/>
              </a:lnSpc>
            </a:pPr>
          </a:p>
          <a:p>
            <a:pPr algn="l">
              <a:lnSpc>
                <a:spcPts val="3200"/>
              </a:lnSpc>
            </a:pPr>
          </a:p>
          <a:p>
            <a:pPr algn="l">
              <a:lnSpc>
                <a:spcPts val="3200"/>
              </a:lnSpc>
            </a:pPr>
          </a:p>
          <a:p>
            <a:pPr algn="l">
              <a:lnSpc>
                <a:spcPts val="3200"/>
              </a:lnSpc>
            </a:pPr>
          </a:p>
        </p:txBody>
      </p:sp>
      <p:grpSp>
        <p:nvGrpSpPr>
          <p:cNvPr name="Group 6" id="6"/>
          <p:cNvGrpSpPr/>
          <p:nvPr/>
        </p:nvGrpSpPr>
        <p:grpSpPr>
          <a:xfrm rot="0">
            <a:off x="6608522" y="3991020"/>
            <a:ext cx="10402784" cy="6054446"/>
            <a:chOff x="0" y="0"/>
            <a:chExt cx="23300271" cy="13560816"/>
          </a:xfrm>
        </p:grpSpPr>
        <p:sp>
          <p:nvSpPr>
            <p:cNvPr name="Freeform 7" id="7"/>
            <p:cNvSpPr/>
            <p:nvPr/>
          </p:nvSpPr>
          <p:spPr>
            <a:xfrm flipH="false" flipV="false" rot="0">
              <a:off x="0" y="0"/>
              <a:ext cx="23300310" cy="13560816"/>
            </a:xfrm>
            <a:custGeom>
              <a:avLst/>
              <a:gdLst/>
              <a:ahLst/>
              <a:cxnLst/>
              <a:rect r="r" b="b" t="t" l="l"/>
              <a:pathLst>
                <a:path h="13560816" w="23300310">
                  <a:moveTo>
                    <a:pt x="0" y="0"/>
                  </a:moveTo>
                  <a:lnTo>
                    <a:pt x="23300310" y="0"/>
                  </a:lnTo>
                  <a:lnTo>
                    <a:pt x="23300310" y="13560816"/>
                  </a:lnTo>
                  <a:lnTo>
                    <a:pt x="0" y="13560816"/>
                  </a:lnTo>
                  <a:lnTo>
                    <a:pt x="0" y="0"/>
                  </a:lnTo>
                  <a:close/>
                </a:path>
              </a:pathLst>
            </a:custGeom>
            <a:blipFill>
              <a:blip r:embed="rId4"/>
              <a:stretch>
                <a:fillRect l="-2137" t="0" r="-2137"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201302" y="2322944"/>
            <a:ext cx="9933393" cy="7134460"/>
          </a:xfrm>
          <a:custGeom>
            <a:avLst/>
            <a:gdLst/>
            <a:ahLst/>
            <a:cxnLst/>
            <a:rect r="r" b="b" t="t" l="l"/>
            <a:pathLst>
              <a:path h="7134460" w="9933393">
                <a:moveTo>
                  <a:pt x="0" y="0"/>
                </a:moveTo>
                <a:lnTo>
                  <a:pt x="9933393" y="0"/>
                </a:lnTo>
                <a:lnTo>
                  <a:pt x="9933393" y="7134460"/>
                </a:lnTo>
                <a:lnTo>
                  <a:pt x="0" y="7134460"/>
                </a:lnTo>
                <a:lnTo>
                  <a:pt x="0" y="0"/>
                </a:lnTo>
                <a:close/>
              </a:path>
            </a:pathLst>
          </a:custGeom>
          <a:blipFill>
            <a:blip r:embed="rId3"/>
            <a:stretch>
              <a:fillRect l="-5784" t="0" r="-5784" b="0"/>
            </a:stretch>
          </a:blipFill>
        </p:spPr>
      </p:sp>
      <p:sp>
        <p:nvSpPr>
          <p:cNvPr name="Freeform 4" id="4"/>
          <p:cNvSpPr/>
          <p:nvPr/>
        </p:nvSpPr>
        <p:spPr>
          <a:xfrm flipH="false" flipV="false" rot="0">
            <a:off x="11217354" y="4983601"/>
            <a:ext cx="6660484" cy="3605542"/>
          </a:xfrm>
          <a:custGeom>
            <a:avLst/>
            <a:gdLst/>
            <a:ahLst/>
            <a:cxnLst/>
            <a:rect r="r" b="b" t="t" l="l"/>
            <a:pathLst>
              <a:path h="3605542" w="6660484">
                <a:moveTo>
                  <a:pt x="0" y="0"/>
                </a:moveTo>
                <a:lnTo>
                  <a:pt x="6660484" y="0"/>
                </a:lnTo>
                <a:lnTo>
                  <a:pt x="6660484" y="3605542"/>
                </a:lnTo>
                <a:lnTo>
                  <a:pt x="0" y="3605542"/>
                </a:lnTo>
                <a:lnTo>
                  <a:pt x="0" y="0"/>
                </a:lnTo>
                <a:close/>
              </a:path>
            </a:pathLst>
          </a:custGeom>
          <a:blipFill>
            <a:blip r:embed="rId4"/>
            <a:stretch>
              <a:fillRect l="0" t="0" r="0" b="0"/>
            </a:stretch>
          </a:blipFill>
        </p:spPr>
      </p:sp>
      <p:sp>
        <p:nvSpPr>
          <p:cNvPr name="TextBox 5" id="5"/>
          <p:cNvSpPr txBox="true"/>
          <p:nvPr/>
        </p:nvSpPr>
        <p:spPr>
          <a:xfrm rot="0">
            <a:off x="201302" y="237328"/>
            <a:ext cx="17918336" cy="1633855"/>
          </a:xfrm>
          <a:prstGeom prst="rect">
            <a:avLst/>
          </a:prstGeom>
        </p:spPr>
        <p:txBody>
          <a:bodyPr anchor="t" rtlCol="false" tIns="0" lIns="0" bIns="0" rIns="0">
            <a:spAutoFit/>
          </a:bodyPr>
          <a:lstStyle/>
          <a:p>
            <a:pPr algn="just">
              <a:lnSpc>
                <a:spcPts val="3200"/>
              </a:lnSpc>
              <a:spcBef>
                <a:spcPct val="0"/>
              </a:spcBef>
            </a:pPr>
            <a:r>
              <a:rPr lang="en-US" sz="3200">
                <a:solidFill>
                  <a:srgbClr val="FFFFFF"/>
                </a:solidFill>
                <a:latin typeface="Lato"/>
                <a:ea typeface="Lato"/>
                <a:cs typeface="Lato"/>
                <a:sym typeface="Lato"/>
              </a:rPr>
              <a:t>Mô hình cơ chế sinh gốc axit: Dùng cho công nghệ DUV (193nm) và EUV (13.5nm) hiện đại. Ánh sáng ở các bước sóng này mang năng lượng cực mạnh nhưng số lượng photon lại ít. Thuyết tương tác lúc này tập trung vào việc photon đập vào vật liệu để giải phóng các ion H</a:t>
            </a:r>
            <a:r>
              <a:rPr lang="en-US" sz="3200">
                <a:solidFill>
                  <a:srgbClr val="FFFFFF"/>
                </a:solidFill>
                <a:latin typeface="Lato"/>
                <a:ea typeface="Lato"/>
                <a:cs typeface="Lato"/>
                <a:sym typeface="Lato"/>
              </a:rPr>
              <a:t>+</a:t>
            </a:r>
            <a:r>
              <a:rPr lang="en-US" sz="3200">
                <a:solidFill>
                  <a:srgbClr val="FFFFFF"/>
                </a:solidFill>
                <a:latin typeface="Lato"/>
                <a:ea typeface="Lato"/>
                <a:cs typeface="Lato"/>
                <a:sym typeface="Lato"/>
              </a:rPr>
              <a:t> (gốc axit), sau đó các gốc axit này mới làm chất xúc tác để bẻ gãy polymer trong công đoạn nung nhiệt.</a:t>
            </a:r>
          </a:p>
        </p:txBody>
      </p:sp>
      <p:sp>
        <p:nvSpPr>
          <p:cNvPr name="TextBox 6" id="6"/>
          <p:cNvSpPr txBox="true"/>
          <p:nvPr/>
        </p:nvSpPr>
        <p:spPr>
          <a:xfrm rot="0">
            <a:off x="11217354" y="8743950"/>
            <a:ext cx="6660484" cy="514350"/>
          </a:xfrm>
          <a:prstGeom prst="rect">
            <a:avLst/>
          </a:prstGeom>
        </p:spPr>
        <p:txBody>
          <a:bodyPr anchor="t" rtlCol="false" tIns="0" lIns="0" bIns="0" rIns="0">
            <a:spAutoFit/>
          </a:bodyPr>
          <a:lstStyle/>
          <a:p>
            <a:pPr algn="ctr">
              <a:lnSpc>
                <a:spcPts val="4200"/>
              </a:lnSpc>
            </a:pPr>
            <a:r>
              <a:rPr lang="en-US" sz="3000">
                <a:solidFill>
                  <a:srgbClr val="FFFFFF"/>
                </a:solidFill>
                <a:latin typeface="Noto Sans"/>
                <a:ea typeface="Noto Sans"/>
                <a:cs typeface="Noto Sans"/>
                <a:sym typeface="Noto Sans"/>
              </a:rPr>
              <a:t>Ánh sáng khi đi qua nhiều bề mặt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228600" y="133350"/>
            <a:ext cx="5579864" cy="590375"/>
          </a:xfrm>
          <a:prstGeom prst="rect">
            <a:avLst/>
          </a:prstGeom>
        </p:spPr>
        <p:txBody>
          <a:bodyPr anchor="t" rtlCol="false" tIns="0" lIns="0" bIns="0" rIns="0">
            <a:spAutoFit/>
          </a:bodyPr>
          <a:lstStyle/>
          <a:p>
            <a:pPr algn="l" marL="970059" indent="-485029" lvl="1">
              <a:lnSpc>
                <a:spcPts val="4493"/>
              </a:lnSpc>
              <a:spcBef>
                <a:spcPct val="0"/>
              </a:spcBef>
              <a:buFont typeface="Arial"/>
              <a:buChar char="•"/>
            </a:pPr>
            <a:r>
              <a:rPr lang="en-US" sz="4493">
                <a:solidFill>
                  <a:srgbClr val="FFFFFF"/>
                </a:solidFill>
                <a:latin typeface="Lato"/>
                <a:ea typeface="Lato"/>
                <a:cs typeface="Lato"/>
                <a:sym typeface="Lato"/>
              </a:rPr>
              <a:t>Lý thuyết tạo ảnh: </a:t>
            </a:r>
          </a:p>
        </p:txBody>
      </p:sp>
      <p:sp>
        <p:nvSpPr>
          <p:cNvPr name="TextBox 4" id="4"/>
          <p:cNvSpPr txBox="true"/>
          <p:nvPr/>
        </p:nvSpPr>
        <p:spPr>
          <a:xfrm rot="0">
            <a:off x="0" y="1085850"/>
            <a:ext cx="18288000" cy="6892290"/>
          </a:xfrm>
          <a:prstGeom prst="rect">
            <a:avLst/>
          </a:prstGeom>
        </p:spPr>
        <p:txBody>
          <a:bodyPr anchor="t" rtlCol="false" tIns="0" lIns="0" bIns="0" rIns="0">
            <a:spAutoFit/>
          </a:bodyPr>
          <a:lstStyle/>
          <a:p>
            <a:pPr algn="l" marL="777240" indent="-388620" lvl="1">
              <a:lnSpc>
                <a:spcPts val="3600"/>
              </a:lnSpc>
              <a:buAutoNum type="arabicPeriod" startAt="1"/>
            </a:pPr>
            <a:r>
              <a:rPr lang="en-US" sz="3600">
                <a:solidFill>
                  <a:srgbClr val="FFFFFF"/>
                </a:solidFill>
                <a:latin typeface="Lato"/>
                <a:ea typeface="Lato"/>
                <a:cs typeface="Lato"/>
                <a:sym typeface="Lato"/>
              </a:rPr>
              <a:t>Mặt nạ là một cách tử nhiễu xạ: Khi ánh sáng đi qua các khe hở siêu nhỏ trên mặt nạ, nó không truyền đi theo đường thẳng mà bị bẻ cong, tán xạ thành nhiều chùm tia hướng ra các góc khác nhau (gọi là các bậc nhiễu xạ). Chùm tia đi thẳng mang thông tin nền, trong khi các chùm tia bị lệch góc càng lớn thì mang thông tin về chi tiết góc cạnh sắc nét của vi mạch.</a:t>
            </a:r>
          </a:p>
          <a:p>
            <a:pPr algn="l" marL="777240" indent="-388620" lvl="1">
              <a:lnSpc>
                <a:spcPts val="3600"/>
              </a:lnSpc>
              <a:buAutoNum type="arabicPeriod" startAt="1"/>
            </a:pPr>
            <a:r>
              <a:rPr lang="en-US" sz="3600">
                <a:solidFill>
                  <a:srgbClr val="FFFFFF"/>
                </a:solidFill>
                <a:latin typeface="Lato"/>
                <a:ea typeface="Lato"/>
                <a:cs typeface="Lato"/>
                <a:sym typeface="Lato"/>
              </a:rPr>
              <a:t>T</a:t>
            </a:r>
            <a:r>
              <a:rPr lang="en-US" sz="3600">
                <a:solidFill>
                  <a:srgbClr val="FFFFFF"/>
                </a:solidFill>
                <a:latin typeface="Lato"/>
                <a:ea typeface="Lato"/>
                <a:cs typeface="Lato"/>
                <a:sym typeface="Lato"/>
              </a:rPr>
              <a:t>hấu kính là một “bộ lọc” thông tin: Thấu kính hứng các chùm tia nhiễu xạ này để hội tụ lại. Tuy nhiên, thấu kính có kích thước giới hạn. Do đó, nó chỉ "bắt" được các chùm tia góc hẹp ở giữa; các chùm tia lệch góc lớn (mang độ sắc nét) sẽ văng ra ngoài mép thấu kính và bị mất vĩnh viễn.</a:t>
            </a:r>
          </a:p>
          <a:p>
            <a:pPr algn="l" marL="777240" indent="-388620" lvl="1">
              <a:lnSpc>
                <a:spcPts val="3600"/>
              </a:lnSpc>
              <a:buAutoNum type="arabicPeriod" startAt="1"/>
            </a:pPr>
            <a:r>
              <a:rPr lang="en-US" sz="3600">
                <a:solidFill>
                  <a:srgbClr val="FFFFFF"/>
                </a:solidFill>
                <a:latin typeface="Lato"/>
                <a:ea typeface="Lato"/>
                <a:cs typeface="Lato"/>
                <a:sym typeface="Lato"/>
              </a:rPr>
              <a:t>S</a:t>
            </a:r>
            <a:r>
              <a:rPr lang="en-US" sz="3600">
                <a:solidFill>
                  <a:srgbClr val="FFFFFF"/>
                </a:solidFill>
                <a:latin typeface="Lato"/>
                <a:ea typeface="Lato"/>
                <a:cs typeface="Lato"/>
                <a:sym typeface="Lato"/>
              </a:rPr>
              <a:t>ự hình thành ảnh trong không gian: Các chùm tia lọt qua được thấu kính sẽ hội tụ, giao thoa với nhau và tái tạo lại hình ảnh vi mạch lơ lửng ngay trên bề mặt wafer (gọi là ảnh không gian - Aerial Image). Do bị mất đi các chùm tia mang chi tiết sắc nét ở bước 2, hình ảnh vuông vức từ bản thiết kế ban đầu sẽ bị "bo tròn" góc, mờ đi và giảm độ tương phản.</a:t>
            </a:r>
          </a:p>
          <a:p>
            <a:pPr algn="l">
              <a:lnSpc>
                <a:spcPts val="360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84832" y="3644107"/>
            <a:ext cx="8716834" cy="5014520"/>
            <a:chOff x="0" y="0"/>
            <a:chExt cx="22993295" cy="13227317"/>
          </a:xfrm>
        </p:grpSpPr>
        <p:sp>
          <p:nvSpPr>
            <p:cNvPr name="Freeform 4" id="4"/>
            <p:cNvSpPr/>
            <p:nvPr/>
          </p:nvSpPr>
          <p:spPr>
            <a:xfrm flipH="false" flipV="false" rot="0">
              <a:off x="0" y="0"/>
              <a:ext cx="22993334" cy="13227317"/>
            </a:xfrm>
            <a:custGeom>
              <a:avLst/>
              <a:gdLst/>
              <a:ahLst/>
              <a:cxnLst/>
              <a:rect r="r" b="b" t="t" l="l"/>
              <a:pathLst>
                <a:path h="13227317" w="22993334">
                  <a:moveTo>
                    <a:pt x="0" y="0"/>
                  </a:moveTo>
                  <a:lnTo>
                    <a:pt x="22993334" y="0"/>
                  </a:lnTo>
                  <a:lnTo>
                    <a:pt x="22993334" y="13227317"/>
                  </a:lnTo>
                  <a:lnTo>
                    <a:pt x="0" y="13227317"/>
                  </a:lnTo>
                  <a:lnTo>
                    <a:pt x="0" y="0"/>
                  </a:lnTo>
                  <a:close/>
                </a:path>
              </a:pathLst>
            </a:custGeom>
            <a:blipFill>
              <a:blip r:embed="rId3"/>
              <a:stretch>
                <a:fillRect l="-1534" t="0" r="-1534" b="0"/>
              </a:stretch>
            </a:blipFill>
          </p:spPr>
        </p:sp>
      </p:grpSp>
      <p:sp>
        <p:nvSpPr>
          <p:cNvPr name="Freeform 5" id="5"/>
          <p:cNvSpPr/>
          <p:nvPr/>
        </p:nvSpPr>
        <p:spPr>
          <a:xfrm flipH="false" flipV="false" rot="0">
            <a:off x="9951518" y="4418060"/>
            <a:ext cx="7818051" cy="4240567"/>
          </a:xfrm>
          <a:custGeom>
            <a:avLst/>
            <a:gdLst/>
            <a:ahLst/>
            <a:cxnLst/>
            <a:rect r="r" b="b" t="t" l="l"/>
            <a:pathLst>
              <a:path h="4240567" w="7818051">
                <a:moveTo>
                  <a:pt x="0" y="0"/>
                </a:moveTo>
                <a:lnTo>
                  <a:pt x="7818051" y="0"/>
                </a:lnTo>
                <a:lnTo>
                  <a:pt x="7818051" y="4240567"/>
                </a:lnTo>
                <a:lnTo>
                  <a:pt x="0" y="4240567"/>
                </a:lnTo>
                <a:lnTo>
                  <a:pt x="0" y="0"/>
                </a:lnTo>
                <a:close/>
              </a:path>
            </a:pathLst>
          </a:custGeom>
          <a:blipFill>
            <a:blip r:embed="rId4"/>
            <a:stretch>
              <a:fillRect l="-9277" t="0" r="-9277" b="0"/>
            </a:stretch>
          </a:blipFill>
        </p:spPr>
      </p:sp>
      <p:sp>
        <p:nvSpPr>
          <p:cNvPr name="TextBox 6" id="6"/>
          <p:cNvSpPr txBox="true"/>
          <p:nvPr/>
        </p:nvSpPr>
        <p:spPr>
          <a:xfrm rot="0">
            <a:off x="0" y="123825"/>
            <a:ext cx="9641800" cy="590375"/>
          </a:xfrm>
          <a:prstGeom prst="rect">
            <a:avLst/>
          </a:prstGeom>
        </p:spPr>
        <p:txBody>
          <a:bodyPr anchor="t" rtlCol="false" tIns="0" lIns="0" bIns="0" rIns="0">
            <a:spAutoFit/>
          </a:bodyPr>
          <a:lstStyle/>
          <a:p>
            <a:pPr algn="l" marL="970059" indent="-485029" lvl="1">
              <a:lnSpc>
                <a:spcPts val="4493"/>
              </a:lnSpc>
              <a:spcBef>
                <a:spcPct val="0"/>
              </a:spcBef>
              <a:buFont typeface="Arial"/>
              <a:buChar char="•"/>
            </a:pPr>
            <a:r>
              <a:rPr lang="en-US" sz="4493">
                <a:solidFill>
                  <a:srgbClr val="FFFFFF"/>
                </a:solidFill>
                <a:latin typeface="Lato"/>
                <a:ea typeface="Lato"/>
                <a:cs typeface="Lato"/>
                <a:sym typeface="Lato"/>
              </a:rPr>
              <a:t>Lý thuyết động học và khuếch tán: </a:t>
            </a:r>
          </a:p>
        </p:txBody>
      </p:sp>
      <p:sp>
        <p:nvSpPr>
          <p:cNvPr name="TextBox 7" id="7"/>
          <p:cNvSpPr txBox="true"/>
          <p:nvPr/>
        </p:nvSpPr>
        <p:spPr>
          <a:xfrm rot="0">
            <a:off x="184832" y="952500"/>
            <a:ext cx="17918336" cy="2033905"/>
          </a:xfrm>
          <a:prstGeom prst="rect">
            <a:avLst/>
          </a:prstGeom>
        </p:spPr>
        <p:txBody>
          <a:bodyPr anchor="t" rtlCol="false" tIns="0" lIns="0" bIns="0" rIns="0">
            <a:spAutoFit/>
          </a:bodyPr>
          <a:lstStyle/>
          <a:p>
            <a:pPr algn="l" marL="690881" indent="-345440" lvl="1">
              <a:lnSpc>
                <a:spcPts val="3200"/>
              </a:lnSpc>
              <a:buAutoNum type="arabicPeriod" startAt="1"/>
            </a:pPr>
            <a:r>
              <a:rPr lang="en-US" sz="3200">
                <a:solidFill>
                  <a:srgbClr val="FFFFFF"/>
                </a:solidFill>
                <a:latin typeface="Lato"/>
                <a:ea typeface="Lato"/>
                <a:cs typeface="Lato"/>
                <a:sym typeface="Lato"/>
              </a:rPr>
              <a:t>Động học phản ứng (cơ chế “Khuếch đại hóa học”): Trong công nghệ hiện đại, ánh sáng đập vào mặt wafer không trực tiếp phá vỡ lớp cản quang, mà chỉ làm sinh ra một lượng nhỏ các hạt axit (gọi là PAG - Photoacid Generator). </a:t>
            </a:r>
          </a:p>
          <a:p>
            <a:pPr algn="l" marL="690881" indent="-345440" lvl="1">
              <a:lnSpc>
                <a:spcPts val="3200"/>
              </a:lnSpc>
              <a:buAutoNum type="arabicPeriod" startAt="1"/>
            </a:pPr>
            <a:r>
              <a:rPr lang="en-US" sz="3200">
                <a:solidFill>
                  <a:srgbClr val="FFFFFF"/>
                </a:solidFill>
                <a:latin typeface="Lato"/>
                <a:ea typeface="Lato"/>
                <a:cs typeface="Lato"/>
                <a:sym typeface="Lato"/>
              </a:rPr>
              <a:t>Lý thuyết khuếch tán: Dưới tác dụng của nhiệt độ nung, các hạt axit không đứng yên một chỗ mà có xu hướng di chuyển từ nơi có nồng độ cao (vùng sáng) lan sang nơi có nồng độ thấp (vùng tối).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84832" y="3216542"/>
            <a:ext cx="8443219" cy="4593111"/>
          </a:xfrm>
          <a:custGeom>
            <a:avLst/>
            <a:gdLst/>
            <a:ahLst/>
            <a:cxnLst/>
            <a:rect r="r" b="b" t="t" l="l"/>
            <a:pathLst>
              <a:path h="4593111" w="8443219">
                <a:moveTo>
                  <a:pt x="0" y="0"/>
                </a:moveTo>
                <a:lnTo>
                  <a:pt x="8443220" y="0"/>
                </a:lnTo>
                <a:lnTo>
                  <a:pt x="8443220" y="4593111"/>
                </a:lnTo>
                <a:lnTo>
                  <a:pt x="0" y="4593111"/>
                </a:lnTo>
                <a:lnTo>
                  <a:pt x="0" y="0"/>
                </a:lnTo>
                <a:close/>
              </a:path>
            </a:pathLst>
          </a:custGeom>
          <a:blipFill>
            <a:blip r:embed="rId3"/>
            <a:stretch>
              <a:fillRect l="0" t="0" r="0" b="0"/>
            </a:stretch>
          </a:blipFill>
        </p:spPr>
      </p:sp>
      <p:sp>
        <p:nvSpPr>
          <p:cNvPr name="Freeform 4" id="4"/>
          <p:cNvSpPr/>
          <p:nvPr/>
        </p:nvSpPr>
        <p:spPr>
          <a:xfrm flipH="false" flipV="false" rot="0">
            <a:off x="9842912" y="3086994"/>
            <a:ext cx="7922954" cy="4722658"/>
          </a:xfrm>
          <a:custGeom>
            <a:avLst/>
            <a:gdLst/>
            <a:ahLst/>
            <a:cxnLst/>
            <a:rect r="r" b="b" t="t" l="l"/>
            <a:pathLst>
              <a:path h="4722658" w="7922954">
                <a:moveTo>
                  <a:pt x="0" y="0"/>
                </a:moveTo>
                <a:lnTo>
                  <a:pt x="7922954" y="0"/>
                </a:lnTo>
                <a:lnTo>
                  <a:pt x="7922954" y="4722659"/>
                </a:lnTo>
                <a:lnTo>
                  <a:pt x="0" y="4722659"/>
                </a:lnTo>
                <a:lnTo>
                  <a:pt x="0" y="0"/>
                </a:lnTo>
                <a:close/>
              </a:path>
            </a:pathLst>
          </a:custGeom>
          <a:blipFill>
            <a:blip r:embed="rId4"/>
            <a:stretch>
              <a:fillRect l="0" t="0" r="0" b="0"/>
            </a:stretch>
          </a:blipFill>
        </p:spPr>
      </p:sp>
      <p:sp>
        <p:nvSpPr>
          <p:cNvPr name="TextBox 5" id="5"/>
          <p:cNvSpPr txBox="true"/>
          <p:nvPr/>
        </p:nvSpPr>
        <p:spPr>
          <a:xfrm rot="0">
            <a:off x="-331840" y="133350"/>
            <a:ext cx="4797266" cy="590375"/>
          </a:xfrm>
          <a:prstGeom prst="rect">
            <a:avLst/>
          </a:prstGeom>
        </p:spPr>
        <p:txBody>
          <a:bodyPr anchor="t" rtlCol="false" tIns="0" lIns="0" bIns="0" rIns="0">
            <a:spAutoFit/>
          </a:bodyPr>
          <a:lstStyle/>
          <a:p>
            <a:pPr algn="l" marL="970059" indent="-485029" lvl="1">
              <a:lnSpc>
                <a:spcPts val="4493"/>
              </a:lnSpc>
              <a:spcBef>
                <a:spcPct val="0"/>
              </a:spcBef>
              <a:buFont typeface="Arial"/>
              <a:buChar char="•"/>
            </a:pPr>
            <a:r>
              <a:rPr lang="en-US" sz="4493">
                <a:solidFill>
                  <a:srgbClr val="FFFFFF"/>
                </a:solidFill>
                <a:latin typeface="Lato"/>
                <a:ea typeface="Lato"/>
                <a:cs typeface="Lato"/>
                <a:sym typeface="Lato"/>
              </a:rPr>
              <a:t>Lý thuyết khắc:</a:t>
            </a:r>
          </a:p>
        </p:txBody>
      </p:sp>
      <p:sp>
        <p:nvSpPr>
          <p:cNvPr name="TextBox 6" id="6"/>
          <p:cNvSpPr txBox="true"/>
          <p:nvPr/>
        </p:nvSpPr>
        <p:spPr>
          <a:xfrm rot="0">
            <a:off x="184832" y="952500"/>
            <a:ext cx="18103168" cy="1633855"/>
          </a:xfrm>
          <a:prstGeom prst="rect">
            <a:avLst/>
          </a:prstGeom>
        </p:spPr>
        <p:txBody>
          <a:bodyPr anchor="t" rtlCol="false" tIns="0" lIns="0" bIns="0" rIns="0">
            <a:spAutoFit/>
          </a:bodyPr>
          <a:lstStyle/>
          <a:p>
            <a:pPr algn="l" marL="690881" indent="-345440" lvl="1">
              <a:lnSpc>
                <a:spcPts val="3200"/>
              </a:lnSpc>
              <a:buAutoNum type="arabicPeriod" startAt="1"/>
            </a:pPr>
            <a:r>
              <a:rPr lang="en-US" sz="3200">
                <a:solidFill>
                  <a:srgbClr val="FFFFFF"/>
                </a:solidFill>
                <a:latin typeface="Lato"/>
                <a:ea typeface="Lato"/>
                <a:cs typeface="Lato"/>
                <a:sym typeface="Lato"/>
              </a:rPr>
              <a:t> Cơ chế ăn mòn: phân chia quá trình khắc thành hai phương pháp trái ngược nhau về bản chất vật lý và hóa học:</a:t>
            </a:r>
          </a:p>
          <a:p>
            <a:pPr algn="l" marL="690881" indent="-345440" lvl="1">
              <a:lnSpc>
                <a:spcPts val="3200"/>
              </a:lnSpc>
              <a:buAutoNum type="arabicPeriod" startAt="1"/>
            </a:pPr>
            <a:r>
              <a:rPr lang="en-US" sz="3200">
                <a:solidFill>
                  <a:srgbClr val="FFFFFF"/>
                </a:solidFill>
                <a:latin typeface="Lato"/>
                <a:ea typeface="Lato"/>
                <a:cs typeface="Lato"/>
                <a:sym typeface="Lato"/>
              </a:rPr>
              <a:t> Độ chọn lọc: là tỷ số giữa tốc độ ăn mòn vật liệu đích và tốc độ ăn mòn của lớp mặt nạ.</a:t>
            </a:r>
          </a:p>
          <a:p>
            <a:pPr algn="l" marL="690881" indent="-345440" lvl="1">
              <a:lnSpc>
                <a:spcPts val="3200"/>
              </a:lnSpc>
              <a:buAutoNum type="arabicPeriod" startAt="1"/>
            </a:pPr>
            <a:r>
              <a:rPr lang="en-US" sz="3200">
                <a:solidFill>
                  <a:srgbClr val="FFFFFF"/>
                </a:solidFill>
                <a:latin typeface="Lato"/>
                <a:ea typeface="Lato"/>
                <a:cs typeface="Lato"/>
                <a:sym typeface="Lato"/>
              </a:rPr>
              <a:t>Tỷ lệ khung hình: là tỷ lệ giữa chiều sâu và chiều rộng của rãnh khắc.</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92416" y="4582922"/>
            <a:ext cx="7473039" cy="3465622"/>
          </a:xfrm>
          <a:custGeom>
            <a:avLst/>
            <a:gdLst/>
            <a:ahLst/>
            <a:cxnLst/>
            <a:rect r="r" b="b" t="t" l="l"/>
            <a:pathLst>
              <a:path h="3465622" w="7473039">
                <a:moveTo>
                  <a:pt x="0" y="0"/>
                </a:moveTo>
                <a:lnTo>
                  <a:pt x="7473039" y="0"/>
                </a:lnTo>
                <a:lnTo>
                  <a:pt x="7473039" y="3465622"/>
                </a:lnTo>
                <a:lnTo>
                  <a:pt x="0" y="3465622"/>
                </a:lnTo>
                <a:lnTo>
                  <a:pt x="0" y="0"/>
                </a:lnTo>
                <a:close/>
              </a:path>
            </a:pathLst>
          </a:custGeom>
          <a:blipFill>
            <a:blip r:embed="rId3"/>
            <a:stretch>
              <a:fillRect l="0" t="0" r="0" b="0"/>
            </a:stretch>
          </a:blipFill>
        </p:spPr>
      </p:sp>
      <p:sp>
        <p:nvSpPr>
          <p:cNvPr name="Freeform 4" id="4"/>
          <p:cNvSpPr/>
          <p:nvPr/>
        </p:nvSpPr>
        <p:spPr>
          <a:xfrm flipH="false" flipV="false" rot="0">
            <a:off x="8321017" y="4582922"/>
            <a:ext cx="9966983" cy="3465622"/>
          </a:xfrm>
          <a:custGeom>
            <a:avLst/>
            <a:gdLst/>
            <a:ahLst/>
            <a:cxnLst/>
            <a:rect r="r" b="b" t="t" l="l"/>
            <a:pathLst>
              <a:path h="3465622" w="9966983">
                <a:moveTo>
                  <a:pt x="0" y="0"/>
                </a:moveTo>
                <a:lnTo>
                  <a:pt x="9966983" y="0"/>
                </a:lnTo>
                <a:lnTo>
                  <a:pt x="9966983" y="3465622"/>
                </a:lnTo>
                <a:lnTo>
                  <a:pt x="0" y="3465622"/>
                </a:lnTo>
                <a:lnTo>
                  <a:pt x="0" y="0"/>
                </a:lnTo>
                <a:close/>
              </a:path>
            </a:pathLst>
          </a:custGeom>
          <a:blipFill>
            <a:blip r:embed="rId4"/>
            <a:stretch>
              <a:fillRect l="0" t="0" r="0" b="-658"/>
            </a:stretch>
          </a:blipFill>
        </p:spPr>
      </p:sp>
      <p:sp>
        <p:nvSpPr>
          <p:cNvPr name="TextBox 5" id="5"/>
          <p:cNvSpPr txBox="true"/>
          <p:nvPr/>
        </p:nvSpPr>
        <p:spPr>
          <a:xfrm rot="0">
            <a:off x="-331840" y="161925"/>
            <a:ext cx="7280196" cy="590375"/>
          </a:xfrm>
          <a:prstGeom prst="rect">
            <a:avLst/>
          </a:prstGeom>
        </p:spPr>
        <p:txBody>
          <a:bodyPr anchor="t" rtlCol="false" tIns="0" lIns="0" bIns="0" rIns="0">
            <a:spAutoFit/>
          </a:bodyPr>
          <a:lstStyle/>
          <a:p>
            <a:pPr algn="l" marL="970059" indent="-485029" lvl="1">
              <a:lnSpc>
                <a:spcPts val="4493"/>
              </a:lnSpc>
              <a:spcBef>
                <a:spcPct val="0"/>
              </a:spcBef>
              <a:buFont typeface="Arial"/>
              <a:buChar char="•"/>
            </a:pPr>
            <a:r>
              <a:rPr lang="en-US" sz="4493">
                <a:solidFill>
                  <a:srgbClr val="FFFFFF"/>
                </a:solidFill>
                <a:latin typeface="Lato"/>
                <a:ea typeface="Lato"/>
                <a:cs typeface="Lato"/>
                <a:sym typeface="Lato"/>
              </a:rPr>
              <a:t>Lý thuyết sai số và nhiễu:</a:t>
            </a:r>
          </a:p>
        </p:txBody>
      </p:sp>
      <p:sp>
        <p:nvSpPr>
          <p:cNvPr name="TextBox 6" id="6"/>
          <p:cNvSpPr txBox="true"/>
          <p:nvPr/>
        </p:nvSpPr>
        <p:spPr>
          <a:xfrm rot="0">
            <a:off x="92416" y="1076325"/>
            <a:ext cx="18103168" cy="2433955"/>
          </a:xfrm>
          <a:prstGeom prst="rect">
            <a:avLst/>
          </a:prstGeom>
        </p:spPr>
        <p:txBody>
          <a:bodyPr anchor="t" rtlCol="false" tIns="0" lIns="0" bIns="0" rIns="0">
            <a:spAutoFit/>
          </a:bodyPr>
          <a:lstStyle/>
          <a:p>
            <a:pPr algn="l" marL="690881" indent="-345440" lvl="1">
              <a:lnSpc>
                <a:spcPts val="3200"/>
              </a:lnSpc>
              <a:buAutoNum type="arabicPeriod" startAt="1"/>
            </a:pPr>
            <a:r>
              <a:rPr lang="en-US" sz="3200">
                <a:solidFill>
                  <a:srgbClr val="FFFFFF"/>
                </a:solidFill>
                <a:latin typeface="Lato"/>
                <a:ea typeface="Lato"/>
                <a:cs typeface="Lato"/>
                <a:sym typeface="Lato"/>
              </a:rPr>
              <a:t>Hiệu ứng ngẫu nhiên và nhiễu hạt: Ánh sáng không phải là một dòng chảy liên tục mà bao gồm các hạt rời rạc gọi là photon.</a:t>
            </a:r>
          </a:p>
          <a:p>
            <a:pPr algn="l" marL="690881" indent="-345440" lvl="1">
              <a:lnSpc>
                <a:spcPts val="3200"/>
              </a:lnSpc>
              <a:buAutoNum type="arabicPeriod" startAt="1"/>
            </a:pPr>
            <a:r>
              <a:rPr lang="en-US" sz="3200">
                <a:solidFill>
                  <a:srgbClr val="FFFFFF"/>
                </a:solidFill>
                <a:latin typeface="Lato"/>
                <a:ea typeface="Lato"/>
                <a:cs typeface="Lato"/>
                <a:sym typeface="Lato"/>
              </a:rPr>
              <a:t>Độ nhám bờ viền: Khi kích thước vi mạch thu nhỏ lại bằng bề rộng của vài chục nguyên tử, đường viền của vi mạch không bao giờ thẳng hàng tuyệt đối.</a:t>
            </a:r>
          </a:p>
          <a:p>
            <a:pPr algn="l" marL="690881" indent="-345440" lvl="1">
              <a:lnSpc>
                <a:spcPts val="3200"/>
              </a:lnSpc>
              <a:buAutoNum type="arabicPeriod" startAt="1"/>
            </a:pPr>
            <a:r>
              <a:rPr lang="en-US" sz="3200">
                <a:solidFill>
                  <a:srgbClr val="FFFFFF"/>
                </a:solidFill>
                <a:latin typeface="Lato"/>
                <a:ea typeface="Lato"/>
                <a:cs typeface="Lato"/>
                <a:sym typeface="Lato"/>
              </a:rPr>
              <a:t>Lỗi chồng lớp: Một con chip vi xử lý hiện đại được cấu tạo từ khoảng 60 đến 100 lớp vật liệu xếp chồng lên nhau.</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632040" y="2762809"/>
            <a:ext cx="6550408" cy="6157384"/>
          </a:xfrm>
          <a:custGeom>
            <a:avLst/>
            <a:gdLst/>
            <a:ahLst/>
            <a:cxnLst/>
            <a:rect r="r" b="b" t="t" l="l"/>
            <a:pathLst>
              <a:path h="6157384" w="6550408">
                <a:moveTo>
                  <a:pt x="0" y="0"/>
                </a:moveTo>
                <a:lnTo>
                  <a:pt x="6550408" y="0"/>
                </a:lnTo>
                <a:lnTo>
                  <a:pt x="6550408" y="6157384"/>
                </a:lnTo>
                <a:lnTo>
                  <a:pt x="0" y="6157384"/>
                </a:lnTo>
                <a:lnTo>
                  <a:pt x="0" y="0"/>
                </a:lnTo>
                <a:close/>
              </a:path>
            </a:pathLst>
          </a:custGeom>
          <a:blipFill>
            <a:blip r:embed="rId3"/>
            <a:stretch>
              <a:fillRect l="0" t="0" r="0" b="0"/>
            </a:stretch>
          </a:blipFill>
        </p:spPr>
      </p:sp>
      <p:sp>
        <p:nvSpPr>
          <p:cNvPr name="Freeform 4" id="4"/>
          <p:cNvSpPr/>
          <p:nvPr/>
        </p:nvSpPr>
        <p:spPr>
          <a:xfrm flipH="false" flipV="false" rot="0">
            <a:off x="9144000" y="2762809"/>
            <a:ext cx="8002836" cy="6157384"/>
          </a:xfrm>
          <a:custGeom>
            <a:avLst/>
            <a:gdLst/>
            <a:ahLst/>
            <a:cxnLst/>
            <a:rect r="r" b="b" t="t" l="l"/>
            <a:pathLst>
              <a:path h="6157384" w="8002836">
                <a:moveTo>
                  <a:pt x="0" y="0"/>
                </a:moveTo>
                <a:lnTo>
                  <a:pt x="8002836" y="0"/>
                </a:lnTo>
                <a:lnTo>
                  <a:pt x="8002836" y="6157384"/>
                </a:lnTo>
                <a:lnTo>
                  <a:pt x="0" y="6157384"/>
                </a:lnTo>
                <a:lnTo>
                  <a:pt x="0" y="0"/>
                </a:lnTo>
                <a:close/>
              </a:path>
            </a:pathLst>
          </a:custGeom>
          <a:blipFill>
            <a:blip r:embed="rId4"/>
            <a:stretch>
              <a:fillRect l="-68618" t="0" r="-2835" b="0"/>
            </a:stretch>
          </a:blipFill>
        </p:spPr>
      </p:sp>
      <p:sp>
        <p:nvSpPr>
          <p:cNvPr name="TextBox 5" id="5"/>
          <p:cNvSpPr txBox="true"/>
          <p:nvPr/>
        </p:nvSpPr>
        <p:spPr>
          <a:xfrm rot="0">
            <a:off x="-161688" y="262707"/>
            <a:ext cx="9305688" cy="590375"/>
          </a:xfrm>
          <a:prstGeom prst="rect">
            <a:avLst/>
          </a:prstGeom>
        </p:spPr>
        <p:txBody>
          <a:bodyPr anchor="t" rtlCol="false" tIns="0" lIns="0" bIns="0" rIns="0">
            <a:spAutoFit/>
          </a:bodyPr>
          <a:lstStyle/>
          <a:p>
            <a:pPr algn="ctr">
              <a:lnSpc>
                <a:spcPts val="4493"/>
              </a:lnSpc>
              <a:spcBef>
                <a:spcPct val="0"/>
              </a:spcBef>
            </a:pPr>
            <a:r>
              <a:rPr lang="en-US" sz="4493">
                <a:solidFill>
                  <a:srgbClr val="FFFFFF"/>
                </a:solidFill>
                <a:latin typeface="Lato"/>
                <a:ea typeface="Lato"/>
                <a:cs typeface="Lato"/>
                <a:sym typeface="Lato"/>
              </a:rPr>
              <a:t>b) Một số khái niệm về quang khắc</a:t>
            </a:r>
          </a:p>
        </p:txBody>
      </p:sp>
      <p:sp>
        <p:nvSpPr>
          <p:cNvPr name="TextBox 6" id="6"/>
          <p:cNvSpPr txBox="true"/>
          <p:nvPr/>
        </p:nvSpPr>
        <p:spPr>
          <a:xfrm rot="0">
            <a:off x="92416" y="1076325"/>
            <a:ext cx="18103168" cy="833755"/>
          </a:xfrm>
          <a:prstGeom prst="rect">
            <a:avLst/>
          </a:prstGeom>
        </p:spPr>
        <p:txBody>
          <a:bodyPr anchor="t" rtlCol="false" tIns="0" lIns="0" bIns="0" rIns="0">
            <a:spAutoFit/>
          </a:bodyPr>
          <a:lstStyle/>
          <a:p>
            <a:pPr algn="l" marL="690881" indent="-345440" lvl="1">
              <a:lnSpc>
                <a:spcPts val="3200"/>
              </a:lnSpc>
              <a:buFont typeface="Arial"/>
              <a:buChar char="•"/>
            </a:pPr>
            <a:r>
              <a:rPr lang="en-US" sz="3200">
                <a:solidFill>
                  <a:srgbClr val="FFFFFF"/>
                </a:solidFill>
                <a:latin typeface="Lato"/>
                <a:ea typeface="Lato"/>
                <a:cs typeface="Lato"/>
                <a:sym typeface="Lato"/>
              </a:rPr>
              <a:t>Quang khắc (Photolithography) là quá trình sử dụng ánh sáng để truyền hình ảnh mạch điện từ mask lên bề mặt wafer silicon, thông qua một lớp vật liệu nhạy sáng gọi là photoresist.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2503622" y="5377180"/>
            <a:ext cx="6640378" cy="3917823"/>
          </a:xfrm>
          <a:custGeom>
            <a:avLst/>
            <a:gdLst/>
            <a:ahLst/>
            <a:cxnLst/>
            <a:rect r="r" b="b" t="t" l="l"/>
            <a:pathLst>
              <a:path h="3917823" w="6640378">
                <a:moveTo>
                  <a:pt x="0" y="0"/>
                </a:moveTo>
                <a:lnTo>
                  <a:pt x="6640378" y="0"/>
                </a:lnTo>
                <a:lnTo>
                  <a:pt x="6640378" y="3917823"/>
                </a:lnTo>
                <a:lnTo>
                  <a:pt x="0" y="3917823"/>
                </a:lnTo>
                <a:lnTo>
                  <a:pt x="0" y="0"/>
                </a:lnTo>
                <a:close/>
              </a:path>
            </a:pathLst>
          </a:custGeom>
          <a:blipFill>
            <a:blip r:embed="rId3"/>
            <a:stretch>
              <a:fillRect l="0" t="0" r="0" b="0"/>
            </a:stretch>
          </a:blipFill>
        </p:spPr>
      </p:sp>
      <p:sp>
        <p:nvSpPr>
          <p:cNvPr name="Freeform 4" id="4"/>
          <p:cNvSpPr/>
          <p:nvPr/>
        </p:nvSpPr>
        <p:spPr>
          <a:xfrm flipH="false" flipV="false" rot="0">
            <a:off x="11107942" y="4918987"/>
            <a:ext cx="3776726" cy="4834209"/>
          </a:xfrm>
          <a:custGeom>
            <a:avLst/>
            <a:gdLst/>
            <a:ahLst/>
            <a:cxnLst/>
            <a:rect r="r" b="b" t="t" l="l"/>
            <a:pathLst>
              <a:path h="4834209" w="3776726">
                <a:moveTo>
                  <a:pt x="0" y="0"/>
                </a:moveTo>
                <a:lnTo>
                  <a:pt x="3776726" y="0"/>
                </a:lnTo>
                <a:lnTo>
                  <a:pt x="3776726" y="4834209"/>
                </a:lnTo>
                <a:lnTo>
                  <a:pt x="0" y="4834209"/>
                </a:lnTo>
                <a:lnTo>
                  <a:pt x="0" y="0"/>
                </a:lnTo>
                <a:close/>
              </a:path>
            </a:pathLst>
          </a:custGeom>
          <a:blipFill>
            <a:blip r:embed="rId4"/>
            <a:stretch>
              <a:fillRect l="0" t="0" r="0" b="0"/>
            </a:stretch>
          </a:blipFill>
        </p:spPr>
      </p:sp>
      <p:sp>
        <p:nvSpPr>
          <p:cNvPr name="TextBox 5" id="5"/>
          <p:cNvSpPr txBox="true"/>
          <p:nvPr/>
        </p:nvSpPr>
        <p:spPr>
          <a:xfrm rot="0">
            <a:off x="0" y="213995"/>
            <a:ext cx="18103168" cy="5163185"/>
          </a:xfrm>
          <a:prstGeom prst="rect">
            <a:avLst/>
          </a:prstGeom>
        </p:spPr>
        <p:txBody>
          <a:bodyPr anchor="t" rtlCol="false" tIns="0" lIns="0" bIns="0" rIns="0">
            <a:spAutoFit/>
          </a:bodyPr>
          <a:lstStyle/>
          <a:p>
            <a:pPr algn="l" marL="734059" indent="-367030" lvl="1">
              <a:lnSpc>
                <a:spcPts val="3399"/>
              </a:lnSpc>
              <a:buFont typeface="Arial"/>
              <a:buChar char="•"/>
            </a:pPr>
            <a:r>
              <a:rPr lang="en-US" sz="3399">
                <a:solidFill>
                  <a:srgbClr val="FFFFFF"/>
                </a:solidFill>
                <a:latin typeface="Lato"/>
                <a:ea typeface="Lato"/>
                <a:cs typeface="Lato"/>
                <a:sym typeface="Lato"/>
              </a:rPr>
              <a:t>Vật liệu và thiết bị được sử dụng trong quang khắc:</a:t>
            </a:r>
          </a:p>
          <a:p>
            <a:pPr algn="l">
              <a:lnSpc>
                <a:spcPts val="3399"/>
              </a:lnSpc>
            </a:pPr>
            <a:r>
              <a:rPr lang="en-US" sz="3399">
                <a:solidFill>
                  <a:srgbClr val="FFFFFF"/>
                </a:solidFill>
                <a:latin typeface="Lato"/>
                <a:ea typeface="Lato"/>
                <a:cs typeface="Lato"/>
                <a:sym typeface="Lato"/>
              </a:rPr>
              <a:t>+ Mặt nạ quang học (Photomask/Reticle): Chứa hình dạng mạch điện, thường được làm bằng thạch anh (quartz) phủ kim loại.</a:t>
            </a:r>
          </a:p>
          <a:p>
            <a:pPr algn="l">
              <a:lnSpc>
                <a:spcPts val="3399"/>
              </a:lnSpc>
            </a:pPr>
            <a:r>
              <a:rPr lang="en-US" sz="3399">
                <a:solidFill>
                  <a:srgbClr val="FFFFFF"/>
                </a:solidFill>
                <a:latin typeface="Lato"/>
                <a:ea typeface="Lato"/>
                <a:cs typeface="Lato"/>
                <a:sym typeface="Lato"/>
              </a:rPr>
              <a:t>+ Hệ thống quang học (Optical System): bao gồm các thành phần sau:</a:t>
            </a:r>
          </a:p>
          <a:p>
            <a:pPr algn="l" marL="734059" indent="-367030" lvl="1">
              <a:lnSpc>
                <a:spcPts val="3399"/>
              </a:lnSpc>
              <a:buAutoNum type="arabicPeriod" startAt="1"/>
            </a:pPr>
            <a:r>
              <a:rPr lang="en-US" sz="3399">
                <a:solidFill>
                  <a:srgbClr val="FFFFFF"/>
                </a:solidFill>
                <a:latin typeface="Lato"/>
                <a:ea typeface="Lato"/>
                <a:cs typeface="Lato"/>
                <a:sym typeface="Lato"/>
              </a:rPr>
              <a:t> Nguồn sáng: Các tia cực tím (UV), cực tím sâu (DUV/EUV) từ đèn hơi thủy ngân (g-line, i-line) hoặc laser excimer (KrF, ArF).</a:t>
            </a:r>
          </a:p>
          <a:p>
            <a:pPr algn="l" marL="734059" indent="-367030" lvl="1">
              <a:lnSpc>
                <a:spcPts val="3399"/>
              </a:lnSpc>
              <a:buAutoNum type="arabicPeriod" startAt="1"/>
            </a:pPr>
            <a:r>
              <a:rPr lang="en-US" sz="3399">
                <a:solidFill>
                  <a:srgbClr val="FFFFFF"/>
                </a:solidFill>
                <a:latin typeface="Lato"/>
                <a:ea typeface="Lato"/>
                <a:cs typeface="Lato"/>
                <a:sym typeface="Lato"/>
              </a:rPr>
              <a:t> </a:t>
            </a:r>
            <a:r>
              <a:rPr lang="en-US" sz="3399">
                <a:solidFill>
                  <a:srgbClr val="FFFFFF"/>
                </a:solidFill>
                <a:latin typeface="Lato"/>
                <a:ea typeface="Lato"/>
                <a:cs typeface="Lato"/>
                <a:sym typeface="Lato"/>
              </a:rPr>
              <a:t>Hệ thống chiếu sáng: Gồm gương và thấu kính để làm đều cường độ ánh sáng chiếu lên mặt nạ.</a:t>
            </a:r>
          </a:p>
          <a:p>
            <a:pPr algn="l" marL="734059" indent="-367030" lvl="1">
              <a:lnSpc>
                <a:spcPts val="3399"/>
              </a:lnSpc>
              <a:buAutoNum type="arabicPeriod" startAt="1"/>
            </a:pPr>
            <a:r>
              <a:rPr lang="en-US" sz="3399">
                <a:solidFill>
                  <a:srgbClr val="FFFFFF"/>
                </a:solidFill>
                <a:latin typeface="Lato"/>
                <a:ea typeface="Lato"/>
                <a:cs typeface="Lato"/>
                <a:sym typeface="Lato"/>
              </a:rPr>
              <a:t> </a:t>
            </a:r>
            <a:r>
              <a:rPr lang="en-US" sz="3399">
                <a:solidFill>
                  <a:srgbClr val="FFFFFF"/>
                </a:solidFill>
                <a:latin typeface="Lato"/>
                <a:ea typeface="Lato"/>
                <a:cs typeface="Lato"/>
                <a:sym typeface="Lato"/>
              </a:rPr>
              <a:t>Thấu kính chiếu: Gồm nhiều thấu kính riêng lẻ được sắp xếp gần nhau.</a:t>
            </a:r>
          </a:p>
          <a:p>
            <a:pPr algn="l" marL="734059" indent="-367030" lvl="1">
              <a:lnSpc>
                <a:spcPts val="3399"/>
              </a:lnSpc>
              <a:buAutoNum type="arabicPeriod" startAt="1"/>
            </a:pPr>
            <a:r>
              <a:rPr lang="en-US" sz="3399">
                <a:solidFill>
                  <a:srgbClr val="FFFFFF"/>
                </a:solidFill>
                <a:latin typeface="Lato"/>
                <a:ea typeface="Lato"/>
                <a:cs typeface="Lato"/>
                <a:sym typeface="Lato"/>
              </a:rPr>
              <a:t> </a:t>
            </a:r>
            <a:r>
              <a:rPr lang="en-US" sz="3399">
                <a:solidFill>
                  <a:srgbClr val="FFFFFF"/>
                </a:solidFill>
                <a:latin typeface="Lato"/>
                <a:ea typeface="Lato"/>
                <a:cs typeface="Lato"/>
                <a:sym typeface="Lato"/>
              </a:rPr>
              <a:t>Hệ thống ngâm: Nước siêu thuần được đưa vào giữa thấu kính cuối và wafer để tăng độ phân giải</a:t>
            </a:r>
          </a:p>
          <a:p>
            <a:pPr algn="l">
              <a:lnSpc>
                <a:spcPts val="3399"/>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06608" y="583405"/>
            <a:ext cx="6122813" cy="890591"/>
          </a:xfrm>
          <a:custGeom>
            <a:avLst/>
            <a:gdLst/>
            <a:ahLst/>
            <a:cxnLst/>
            <a:rect r="r" b="b" t="t" l="l"/>
            <a:pathLst>
              <a:path h="890591" w="6122813">
                <a:moveTo>
                  <a:pt x="0" y="0"/>
                </a:moveTo>
                <a:lnTo>
                  <a:pt x="6122812" y="0"/>
                </a:lnTo>
                <a:lnTo>
                  <a:pt x="6122812"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0" y="9258300"/>
            <a:ext cx="6122813" cy="890591"/>
          </a:xfrm>
          <a:custGeom>
            <a:avLst/>
            <a:gdLst/>
            <a:ahLst/>
            <a:cxnLst/>
            <a:rect r="r" b="b" t="t" l="l"/>
            <a:pathLst>
              <a:path h="890591" w="6122813">
                <a:moveTo>
                  <a:pt x="6122813" y="0"/>
                </a:moveTo>
                <a:lnTo>
                  <a:pt x="0" y="0"/>
                </a:lnTo>
                <a:lnTo>
                  <a:pt x="0" y="890591"/>
                </a:lnTo>
                <a:lnTo>
                  <a:pt x="6122813" y="890591"/>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1542361">
            <a:off x="15287090" y="9148325"/>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8786190" y="2366835"/>
            <a:ext cx="9038358" cy="5004991"/>
          </a:xfrm>
          <a:custGeom>
            <a:avLst/>
            <a:gdLst/>
            <a:ahLst/>
            <a:cxnLst/>
            <a:rect r="r" b="b" t="t" l="l"/>
            <a:pathLst>
              <a:path h="5004991" w="9038358">
                <a:moveTo>
                  <a:pt x="0" y="0"/>
                </a:moveTo>
                <a:lnTo>
                  <a:pt x="9038358" y="0"/>
                </a:lnTo>
                <a:lnTo>
                  <a:pt x="9038358" y="5004991"/>
                </a:lnTo>
                <a:lnTo>
                  <a:pt x="0" y="5004991"/>
                </a:lnTo>
                <a:lnTo>
                  <a:pt x="0" y="0"/>
                </a:lnTo>
                <a:close/>
              </a:path>
            </a:pathLst>
          </a:custGeom>
          <a:blipFill>
            <a:blip r:embed="rId13"/>
            <a:stretch>
              <a:fillRect l="0" t="0" r="0" b="0"/>
            </a:stretch>
          </a:blipFill>
        </p:spPr>
      </p:sp>
      <p:sp>
        <p:nvSpPr>
          <p:cNvPr name="TextBox 11" id="11"/>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Vật liệu sử dụng trong quang khắc</a:t>
            </a:r>
          </a:p>
        </p:txBody>
      </p:sp>
      <p:sp>
        <p:nvSpPr>
          <p:cNvPr name="TextBox 12" id="12"/>
          <p:cNvSpPr txBox="true"/>
          <p:nvPr/>
        </p:nvSpPr>
        <p:spPr>
          <a:xfrm rot="0">
            <a:off x="841162" y="1559720"/>
            <a:ext cx="14953748" cy="590375"/>
          </a:xfrm>
          <a:prstGeom prst="rect">
            <a:avLst/>
          </a:prstGeom>
        </p:spPr>
        <p:txBody>
          <a:bodyPr anchor="t" rtlCol="false" tIns="0" lIns="0" bIns="0" rIns="0">
            <a:spAutoFit/>
          </a:bodyPr>
          <a:lstStyle/>
          <a:p>
            <a:pPr algn="l">
              <a:lnSpc>
                <a:spcPts val="4493"/>
              </a:lnSpc>
            </a:pPr>
            <a:r>
              <a:rPr lang="en-US" sz="4493">
                <a:solidFill>
                  <a:srgbClr val="FFFFFF"/>
                </a:solidFill>
                <a:latin typeface="Lato"/>
                <a:ea typeface="Lato"/>
                <a:cs typeface="Lato"/>
                <a:sym typeface="Lato"/>
              </a:rPr>
              <a:t>Photoresist (PR)</a:t>
            </a:r>
          </a:p>
        </p:txBody>
      </p:sp>
      <p:sp>
        <p:nvSpPr>
          <p:cNvPr name="TextBox 13" id="13"/>
          <p:cNvSpPr txBox="true"/>
          <p:nvPr/>
        </p:nvSpPr>
        <p:spPr>
          <a:xfrm rot="0">
            <a:off x="792894" y="2454895"/>
            <a:ext cx="7525142" cy="5788234"/>
          </a:xfrm>
          <a:prstGeom prst="rect">
            <a:avLst/>
          </a:prstGeom>
        </p:spPr>
        <p:txBody>
          <a:bodyPr anchor="t" rtlCol="false" tIns="0" lIns="0" bIns="0" rIns="0">
            <a:spAutoFit/>
          </a:bodyPr>
          <a:lstStyle/>
          <a:p>
            <a:pPr algn="l">
              <a:lnSpc>
                <a:spcPts val="2829"/>
              </a:lnSpc>
              <a:spcBef>
                <a:spcPct val="0"/>
              </a:spcBef>
            </a:pPr>
            <a:r>
              <a:rPr lang="en-US" sz="2829">
                <a:solidFill>
                  <a:srgbClr val="FFFFFF"/>
                </a:solidFill>
                <a:latin typeface="Lato"/>
                <a:ea typeface="Lato"/>
                <a:cs typeface="Lato"/>
                <a:sym typeface="Lato"/>
              </a:rPr>
              <a:t>Photoresist hay Polymer nhạy sáng là một màng vật liệu polymer đặc biệt, có khả năng thay đổi tính chất hóa học, cụ thể là độ hòa tan của nó, khi hấp thụ năng lượng từ các photon ánh sáng.</a:t>
            </a:r>
          </a:p>
          <a:p>
            <a:pPr algn="l">
              <a:lnSpc>
                <a:spcPts val="2829"/>
              </a:lnSpc>
              <a:spcBef>
                <a:spcPct val="0"/>
              </a:spcBef>
            </a:pPr>
            <a:r>
              <a:rPr lang="en-US" sz="2829">
                <a:solidFill>
                  <a:srgbClr val="FFFFFF"/>
                </a:solidFill>
                <a:latin typeface="Lato"/>
                <a:ea typeface="Lato"/>
                <a:cs typeface="Lato"/>
                <a:sym typeface="Lato"/>
              </a:rPr>
              <a:t>Đóng vai trò như một lớp mặt nạ hy sinh trên bề mặt nền, nó bảo vệ các khu vực được che phủ.</a:t>
            </a:r>
          </a:p>
          <a:p>
            <a:pPr algn="l">
              <a:lnSpc>
                <a:spcPts val="2829"/>
              </a:lnSpc>
              <a:spcBef>
                <a:spcPct val="0"/>
              </a:spcBef>
            </a:pPr>
            <a:r>
              <a:rPr lang="en-US" sz="2829">
                <a:solidFill>
                  <a:srgbClr val="FFFFFF"/>
                </a:solidFill>
                <a:latin typeface="Lato"/>
                <a:ea typeface="Lato"/>
                <a:cs typeface="Lato"/>
                <a:sym typeface="Lato"/>
              </a:rPr>
              <a:t>Do đó, chất cản quang phải đáp ứng được các tiêu chuẩn khắt khe gồm:</a:t>
            </a:r>
          </a:p>
          <a:p>
            <a:pPr algn="l">
              <a:lnSpc>
                <a:spcPts val="2829"/>
              </a:lnSpc>
              <a:spcBef>
                <a:spcPct val="0"/>
              </a:spcBef>
            </a:pPr>
            <a:r>
              <a:rPr lang="en-US" sz="2829">
                <a:solidFill>
                  <a:srgbClr val="FFFFFF"/>
                </a:solidFill>
                <a:latin typeface="Lato"/>
                <a:ea typeface="Lato"/>
                <a:cs typeface="Lato"/>
                <a:sym typeface="Lato"/>
              </a:rPr>
              <a:t>+ Độ nhạy quang học</a:t>
            </a:r>
          </a:p>
          <a:p>
            <a:pPr algn="l">
              <a:lnSpc>
                <a:spcPts val="2829"/>
              </a:lnSpc>
              <a:spcBef>
                <a:spcPct val="0"/>
              </a:spcBef>
            </a:pPr>
            <a:r>
              <a:rPr lang="en-US" sz="2829">
                <a:solidFill>
                  <a:srgbClr val="FFFFFF"/>
                </a:solidFill>
                <a:latin typeface="Lato"/>
                <a:ea typeface="Lato"/>
                <a:cs typeface="Lato"/>
                <a:sym typeface="Lato"/>
              </a:rPr>
              <a:t>+ Độ tương phản cơ học</a:t>
            </a:r>
          </a:p>
          <a:p>
            <a:pPr algn="l">
              <a:lnSpc>
                <a:spcPts val="2829"/>
              </a:lnSpc>
              <a:spcBef>
                <a:spcPct val="0"/>
              </a:spcBef>
            </a:pPr>
            <a:r>
              <a:rPr lang="en-US" sz="2829">
                <a:solidFill>
                  <a:srgbClr val="FFFFFF"/>
                </a:solidFill>
                <a:latin typeface="Lato"/>
                <a:ea typeface="Lato"/>
                <a:cs typeface="Lato"/>
                <a:sym typeface="Lato"/>
              </a:rPr>
              <a:t>+ Khả năng chịu đựng môi trường ăn mòn</a:t>
            </a:r>
          </a:p>
          <a:p>
            <a:pPr algn="l">
              <a:lnSpc>
                <a:spcPts val="2829"/>
              </a:lnSpc>
              <a:spcBef>
                <a:spcPct val="0"/>
              </a:spcBef>
            </a:pPr>
            <a:r>
              <a:rPr lang="en-US" sz="2829">
                <a:solidFill>
                  <a:srgbClr val="FFFFFF"/>
                </a:solidFill>
                <a:latin typeface="Lato"/>
                <a:ea typeface="Lato"/>
                <a:cs typeface="Lato"/>
                <a:sym typeface="Lato"/>
              </a:rPr>
              <a:t>+ Khả năng bám dính ổn định trên các lớp oxit kim loại</a:t>
            </a:r>
          </a:p>
          <a:p>
            <a:pPr algn="l">
              <a:lnSpc>
                <a:spcPts val="2829"/>
              </a:lnSpc>
              <a:spcBef>
                <a:spcPct val="0"/>
              </a:spcBef>
            </a:pPr>
          </a:p>
          <a:p>
            <a:pPr algn="l">
              <a:lnSpc>
                <a:spcPts val="3686"/>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06608" y="583405"/>
            <a:ext cx="6122813" cy="890591"/>
          </a:xfrm>
          <a:custGeom>
            <a:avLst/>
            <a:gdLst/>
            <a:ahLst/>
            <a:cxnLst/>
            <a:rect r="r" b="b" t="t" l="l"/>
            <a:pathLst>
              <a:path h="890591" w="6122813">
                <a:moveTo>
                  <a:pt x="0" y="0"/>
                </a:moveTo>
                <a:lnTo>
                  <a:pt x="6122812" y="0"/>
                </a:lnTo>
                <a:lnTo>
                  <a:pt x="6122812"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0" y="9258300"/>
            <a:ext cx="6122813" cy="890591"/>
          </a:xfrm>
          <a:custGeom>
            <a:avLst/>
            <a:gdLst/>
            <a:ahLst/>
            <a:cxnLst/>
            <a:rect r="r" b="b" t="t" l="l"/>
            <a:pathLst>
              <a:path h="890591" w="6122813">
                <a:moveTo>
                  <a:pt x="6122813" y="0"/>
                </a:moveTo>
                <a:lnTo>
                  <a:pt x="0" y="0"/>
                </a:lnTo>
                <a:lnTo>
                  <a:pt x="0" y="890591"/>
                </a:lnTo>
                <a:lnTo>
                  <a:pt x="6122813" y="890591"/>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1542361">
            <a:off x="15287090" y="9148325"/>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10137217" y="2064588"/>
            <a:ext cx="7687331" cy="6208373"/>
          </a:xfrm>
          <a:custGeom>
            <a:avLst/>
            <a:gdLst/>
            <a:ahLst/>
            <a:cxnLst/>
            <a:rect r="r" b="b" t="t" l="l"/>
            <a:pathLst>
              <a:path h="6208373" w="7687331">
                <a:moveTo>
                  <a:pt x="0" y="0"/>
                </a:moveTo>
                <a:lnTo>
                  <a:pt x="7687331" y="0"/>
                </a:lnTo>
                <a:lnTo>
                  <a:pt x="7687331" y="6208373"/>
                </a:lnTo>
                <a:lnTo>
                  <a:pt x="0" y="6208373"/>
                </a:lnTo>
                <a:lnTo>
                  <a:pt x="0" y="0"/>
                </a:lnTo>
                <a:close/>
              </a:path>
            </a:pathLst>
          </a:custGeom>
          <a:blipFill>
            <a:blip r:embed="rId13"/>
            <a:stretch>
              <a:fillRect l="0" t="0" r="0" b="0"/>
            </a:stretch>
          </a:blipFill>
        </p:spPr>
      </p:sp>
      <p:sp>
        <p:nvSpPr>
          <p:cNvPr name="TextBox 11" id="11"/>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Vật liệu sử dụng trong quang khắc</a:t>
            </a:r>
          </a:p>
        </p:txBody>
      </p:sp>
      <p:sp>
        <p:nvSpPr>
          <p:cNvPr name="TextBox 12" id="12"/>
          <p:cNvSpPr txBox="true"/>
          <p:nvPr/>
        </p:nvSpPr>
        <p:spPr>
          <a:xfrm rot="0">
            <a:off x="841162" y="1559720"/>
            <a:ext cx="14953748" cy="590375"/>
          </a:xfrm>
          <a:prstGeom prst="rect">
            <a:avLst/>
          </a:prstGeom>
        </p:spPr>
        <p:txBody>
          <a:bodyPr anchor="t" rtlCol="false" tIns="0" lIns="0" bIns="0" rIns="0">
            <a:spAutoFit/>
          </a:bodyPr>
          <a:lstStyle/>
          <a:p>
            <a:pPr algn="l">
              <a:lnSpc>
                <a:spcPts val="4493"/>
              </a:lnSpc>
            </a:pPr>
            <a:r>
              <a:rPr lang="en-US" sz="4493">
                <a:solidFill>
                  <a:srgbClr val="FFFFFF"/>
                </a:solidFill>
                <a:latin typeface="Lato"/>
                <a:ea typeface="Lato"/>
                <a:cs typeface="Lato"/>
                <a:sym typeface="Lato"/>
              </a:rPr>
              <a:t>Positive Photoresist (PR dương)</a:t>
            </a:r>
          </a:p>
        </p:txBody>
      </p:sp>
      <p:sp>
        <p:nvSpPr>
          <p:cNvPr name="TextBox 13" id="13"/>
          <p:cNvSpPr txBox="true"/>
          <p:nvPr/>
        </p:nvSpPr>
        <p:spPr>
          <a:xfrm rot="0">
            <a:off x="792894" y="2464420"/>
            <a:ext cx="7525142" cy="4721517"/>
          </a:xfrm>
          <a:prstGeom prst="rect">
            <a:avLst/>
          </a:prstGeom>
        </p:spPr>
        <p:txBody>
          <a:bodyPr anchor="t" rtlCol="false" tIns="0" lIns="0" bIns="0" rIns="0">
            <a:spAutoFit/>
          </a:bodyPr>
          <a:lstStyle/>
          <a:p>
            <a:pPr algn="l">
              <a:lnSpc>
                <a:spcPts val="2886"/>
              </a:lnSpc>
              <a:spcBef>
                <a:spcPct val="0"/>
              </a:spcBef>
            </a:pPr>
            <a:r>
              <a:rPr lang="en-US" sz="2886">
                <a:solidFill>
                  <a:srgbClr val="FFFFFF"/>
                </a:solidFill>
                <a:latin typeface="Lato"/>
                <a:ea typeface="Lato"/>
                <a:cs typeface="Lato"/>
                <a:sym typeface="Lato"/>
              </a:rPr>
              <a:t>PR dương hoạt động theo cơ chế phân hủy chuỗi polymer khi tiếp xúc với tia tử ngoại.</a:t>
            </a:r>
          </a:p>
          <a:p>
            <a:pPr algn="l">
              <a:lnSpc>
                <a:spcPts val="2886"/>
              </a:lnSpc>
              <a:spcBef>
                <a:spcPct val="0"/>
              </a:spcBef>
            </a:pPr>
            <a:r>
              <a:rPr lang="en-US" sz="2886">
                <a:solidFill>
                  <a:srgbClr val="FFFFFF"/>
                </a:solidFill>
                <a:latin typeface="Lato"/>
                <a:ea typeface="Lato"/>
                <a:cs typeface="Lato"/>
                <a:sym typeface="Lato"/>
              </a:rPr>
              <a:t>Vùng được chiếu sáng sẽ trở nên dễ hòa tan trong dung dịch, thường có tính kiềm và bị rửa trôi, trong khi vùng không chiếu sáng vẫn giữ nguyên và bảo vệ bề mặt bên dưới, , hình ảnh thu được giống với mẫu trên mặt nạ.</a:t>
            </a:r>
          </a:p>
          <a:p>
            <a:pPr algn="l">
              <a:lnSpc>
                <a:spcPts val="2886"/>
              </a:lnSpc>
              <a:spcBef>
                <a:spcPct val="0"/>
              </a:spcBef>
            </a:pPr>
            <a:r>
              <a:rPr lang="en-US" sz="2886">
                <a:solidFill>
                  <a:srgbClr val="FFFFFF"/>
                </a:solidFill>
                <a:latin typeface="Lato"/>
                <a:ea typeface="Lato"/>
                <a:cs typeface="Lato"/>
                <a:sym typeface="Lato"/>
              </a:rPr>
              <a:t>Ưu điểm lớn của PR dương là:</a:t>
            </a:r>
          </a:p>
          <a:p>
            <a:pPr algn="l" marL="623188" indent="-311594" lvl="1">
              <a:lnSpc>
                <a:spcPts val="2886"/>
              </a:lnSpc>
              <a:spcBef>
                <a:spcPct val="0"/>
              </a:spcBef>
              <a:buFont typeface="Arial"/>
              <a:buChar char="•"/>
            </a:pPr>
            <a:r>
              <a:rPr lang="en-US" sz="2886">
                <a:solidFill>
                  <a:srgbClr val="FFFFFF"/>
                </a:solidFill>
                <a:latin typeface="Lato"/>
                <a:ea typeface="Lato"/>
                <a:cs typeface="Lato"/>
                <a:sym typeface="Lato"/>
              </a:rPr>
              <a:t>Độ phân giải cao </a:t>
            </a:r>
          </a:p>
          <a:p>
            <a:pPr algn="l" marL="623188" indent="-311594" lvl="1">
              <a:lnSpc>
                <a:spcPts val="2886"/>
              </a:lnSpc>
              <a:spcBef>
                <a:spcPct val="0"/>
              </a:spcBef>
              <a:buFont typeface="Arial"/>
              <a:buChar char="•"/>
            </a:pPr>
            <a:r>
              <a:rPr lang="en-US" sz="2886">
                <a:solidFill>
                  <a:srgbClr val="FFFFFF"/>
                </a:solidFill>
                <a:latin typeface="Lato"/>
                <a:ea typeface="Lato"/>
                <a:cs typeface="Lato"/>
                <a:sym typeface="Lato"/>
              </a:rPr>
              <a:t>Biên dạng sắc nét </a:t>
            </a:r>
          </a:p>
          <a:p>
            <a:pPr algn="l" marL="623188" indent="-311594" lvl="1">
              <a:lnSpc>
                <a:spcPts val="2886"/>
              </a:lnSpc>
              <a:spcBef>
                <a:spcPct val="0"/>
              </a:spcBef>
              <a:buFont typeface="Arial"/>
              <a:buChar char="•"/>
            </a:pPr>
            <a:r>
              <a:rPr lang="en-US" sz="2886">
                <a:solidFill>
                  <a:srgbClr val="FFFFFF"/>
                </a:solidFill>
                <a:latin typeface="Lato"/>
                <a:ea typeface="Lato"/>
                <a:cs typeface="Lato"/>
                <a:sym typeface="Lato"/>
              </a:rPr>
              <a:t>Ít bị biến dạng trong quá trình xử lý </a:t>
            </a:r>
          </a:p>
          <a:p>
            <a:pPr algn="l">
              <a:lnSpc>
                <a:spcPts val="2886"/>
              </a:lnSpc>
              <a:spcBef>
                <a:spcPct val="0"/>
              </a:spcBef>
            </a:pPr>
          </a:p>
          <a:p>
            <a:pPr algn="l">
              <a:lnSpc>
                <a:spcPts val="2886"/>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06608" y="583405"/>
            <a:ext cx="6122813" cy="890591"/>
          </a:xfrm>
          <a:custGeom>
            <a:avLst/>
            <a:gdLst/>
            <a:ahLst/>
            <a:cxnLst/>
            <a:rect r="r" b="b" t="t" l="l"/>
            <a:pathLst>
              <a:path h="890591" w="6122813">
                <a:moveTo>
                  <a:pt x="0" y="0"/>
                </a:moveTo>
                <a:lnTo>
                  <a:pt x="6122812" y="0"/>
                </a:lnTo>
                <a:lnTo>
                  <a:pt x="6122812"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0" y="9258300"/>
            <a:ext cx="6122813" cy="890591"/>
          </a:xfrm>
          <a:custGeom>
            <a:avLst/>
            <a:gdLst/>
            <a:ahLst/>
            <a:cxnLst/>
            <a:rect r="r" b="b" t="t" l="l"/>
            <a:pathLst>
              <a:path h="890591" w="6122813">
                <a:moveTo>
                  <a:pt x="6122813" y="0"/>
                </a:moveTo>
                <a:lnTo>
                  <a:pt x="0" y="0"/>
                </a:lnTo>
                <a:lnTo>
                  <a:pt x="0" y="890591"/>
                </a:lnTo>
                <a:lnTo>
                  <a:pt x="6122813" y="890591"/>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1542361">
            <a:off x="15287090" y="9148325"/>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10137217" y="2064588"/>
            <a:ext cx="7687331" cy="6208373"/>
          </a:xfrm>
          <a:custGeom>
            <a:avLst/>
            <a:gdLst/>
            <a:ahLst/>
            <a:cxnLst/>
            <a:rect r="r" b="b" t="t" l="l"/>
            <a:pathLst>
              <a:path h="6208373" w="7687331">
                <a:moveTo>
                  <a:pt x="0" y="0"/>
                </a:moveTo>
                <a:lnTo>
                  <a:pt x="7687331" y="0"/>
                </a:lnTo>
                <a:lnTo>
                  <a:pt x="7687331" y="6208373"/>
                </a:lnTo>
                <a:lnTo>
                  <a:pt x="0" y="6208373"/>
                </a:lnTo>
                <a:lnTo>
                  <a:pt x="0" y="0"/>
                </a:lnTo>
                <a:close/>
              </a:path>
            </a:pathLst>
          </a:custGeom>
          <a:blipFill>
            <a:blip r:embed="rId13"/>
            <a:stretch>
              <a:fillRect l="0" t="0" r="0" b="0"/>
            </a:stretch>
          </a:blipFill>
        </p:spPr>
      </p:sp>
      <p:sp>
        <p:nvSpPr>
          <p:cNvPr name="TextBox 11" id="11"/>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Vật liệu sử dụng trong quang khắc</a:t>
            </a:r>
          </a:p>
        </p:txBody>
      </p:sp>
      <p:sp>
        <p:nvSpPr>
          <p:cNvPr name="TextBox 12" id="12"/>
          <p:cNvSpPr txBox="true"/>
          <p:nvPr/>
        </p:nvSpPr>
        <p:spPr>
          <a:xfrm rot="0">
            <a:off x="841162" y="1559720"/>
            <a:ext cx="14953748" cy="590375"/>
          </a:xfrm>
          <a:prstGeom prst="rect">
            <a:avLst/>
          </a:prstGeom>
        </p:spPr>
        <p:txBody>
          <a:bodyPr anchor="t" rtlCol="false" tIns="0" lIns="0" bIns="0" rIns="0">
            <a:spAutoFit/>
          </a:bodyPr>
          <a:lstStyle/>
          <a:p>
            <a:pPr algn="l">
              <a:lnSpc>
                <a:spcPts val="4493"/>
              </a:lnSpc>
            </a:pPr>
            <a:r>
              <a:rPr lang="en-US" sz="4493">
                <a:solidFill>
                  <a:srgbClr val="FFFFFF"/>
                </a:solidFill>
                <a:latin typeface="Lato"/>
                <a:ea typeface="Lato"/>
                <a:cs typeface="Lato"/>
                <a:sym typeface="Lato"/>
              </a:rPr>
              <a:t>Negative Photoresist (PR âm)</a:t>
            </a:r>
          </a:p>
        </p:txBody>
      </p:sp>
      <p:sp>
        <p:nvSpPr>
          <p:cNvPr name="TextBox 13" id="13"/>
          <p:cNvSpPr txBox="true"/>
          <p:nvPr/>
        </p:nvSpPr>
        <p:spPr>
          <a:xfrm rot="0">
            <a:off x="792894" y="2464420"/>
            <a:ext cx="7525142" cy="5083466"/>
          </a:xfrm>
          <a:prstGeom prst="rect">
            <a:avLst/>
          </a:prstGeom>
        </p:spPr>
        <p:txBody>
          <a:bodyPr anchor="t" rtlCol="false" tIns="0" lIns="0" bIns="0" rIns="0">
            <a:spAutoFit/>
          </a:bodyPr>
          <a:lstStyle/>
          <a:p>
            <a:pPr algn="l">
              <a:lnSpc>
                <a:spcPts val="2886"/>
              </a:lnSpc>
              <a:spcBef>
                <a:spcPct val="0"/>
              </a:spcBef>
            </a:pPr>
            <a:r>
              <a:rPr lang="en-US" sz="2886">
                <a:solidFill>
                  <a:srgbClr val="FFFFFF"/>
                </a:solidFill>
                <a:latin typeface="Lato"/>
                <a:ea typeface="Lato"/>
                <a:cs typeface="Lato"/>
                <a:sym typeface="Lato"/>
              </a:rPr>
              <a:t>PR âm hoạt động theo cơ chế liên kết chéo (cross-linking). Khi bị chiếu sáng, các phân tử polymer sẽ liên kết lại với nhau tạo thành mạng lưới bền vững, khiến vùng này không bị hòa tan. Trong khi đó, vùng không được chiếu sáng sẽ bị rửa trôi. Kết quả là hình ảnh thu được là ảnh đảo so với mặt nạ.</a:t>
            </a:r>
          </a:p>
          <a:p>
            <a:pPr algn="l">
              <a:lnSpc>
                <a:spcPts val="2886"/>
              </a:lnSpc>
              <a:spcBef>
                <a:spcPct val="0"/>
              </a:spcBef>
            </a:pPr>
            <a:r>
              <a:rPr lang="en-US" sz="2886">
                <a:solidFill>
                  <a:srgbClr val="FFFFFF"/>
                </a:solidFill>
                <a:latin typeface="Lato"/>
                <a:ea typeface="Lato"/>
                <a:cs typeface="Lato"/>
                <a:sym typeface="Lato"/>
              </a:rPr>
              <a:t>PR âm có một số ưu điểm như:</a:t>
            </a:r>
          </a:p>
          <a:p>
            <a:pPr algn="l" marL="623188" indent="-311594" lvl="1">
              <a:lnSpc>
                <a:spcPts val="2886"/>
              </a:lnSpc>
              <a:spcBef>
                <a:spcPct val="0"/>
              </a:spcBef>
              <a:buFont typeface="Arial"/>
              <a:buChar char="•"/>
            </a:pPr>
            <a:r>
              <a:rPr lang="en-US" sz="2886">
                <a:solidFill>
                  <a:srgbClr val="FFFFFF"/>
                </a:solidFill>
                <a:latin typeface="Lato"/>
                <a:ea typeface="Lato"/>
                <a:cs typeface="Lato"/>
                <a:sym typeface="Lato"/>
              </a:rPr>
              <a:t>Độ nhạy sáng cao </a:t>
            </a:r>
          </a:p>
          <a:p>
            <a:pPr algn="l" marL="623188" indent="-311594" lvl="1">
              <a:lnSpc>
                <a:spcPts val="2886"/>
              </a:lnSpc>
              <a:spcBef>
                <a:spcPct val="0"/>
              </a:spcBef>
              <a:buFont typeface="Arial"/>
              <a:buChar char="•"/>
            </a:pPr>
            <a:r>
              <a:rPr lang="en-US" sz="2886">
                <a:solidFill>
                  <a:srgbClr val="FFFFFF"/>
                </a:solidFill>
                <a:latin typeface="Lato"/>
                <a:ea typeface="Lato"/>
                <a:cs typeface="Lato"/>
                <a:sym typeface="Lato"/>
              </a:rPr>
              <a:t>Độ bám dính tốt </a:t>
            </a:r>
          </a:p>
          <a:p>
            <a:pPr algn="l" marL="623188" indent="-311594" lvl="1">
              <a:lnSpc>
                <a:spcPts val="2886"/>
              </a:lnSpc>
              <a:spcBef>
                <a:spcPct val="0"/>
              </a:spcBef>
              <a:buFont typeface="Arial"/>
              <a:buChar char="•"/>
            </a:pPr>
            <a:r>
              <a:rPr lang="en-US" sz="2886">
                <a:solidFill>
                  <a:srgbClr val="FFFFFF"/>
                </a:solidFill>
                <a:latin typeface="Lato"/>
                <a:ea typeface="Lato"/>
                <a:cs typeface="Lato"/>
                <a:sym typeface="Lato"/>
              </a:rPr>
              <a:t>Khả năng chịu hóa chất và ăn mòn tốt </a:t>
            </a:r>
          </a:p>
          <a:p>
            <a:pPr algn="l" marL="623188" indent="-311594" lvl="1">
              <a:lnSpc>
                <a:spcPts val="2886"/>
              </a:lnSpc>
              <a:spcBef>
                <a:spcPct val="0"/>
              </a:spcBef>
              <a:buFont typeface="Arial"/>
              <a:buChar char="•"/>
            </a:pPr>
            <a:r>
              <a:rPr lang="en-US" sz="2886">
                <a:solidFill>
                  <a:srgbClr val="FFFFFF"/>
                </a:solidFill>
                <a:latin typeface="Lato"/>
                <a:ea typeface="Lato"/>
                <a:cs typeface="Lato"/>
                <a:sym typeface="Lato"/>
              </a:rPr>
              <a:t>Chi phí thấp hơn </a:t>
            </a:r>
          </a:p>
          <a:p>
            <a:pPr algn="l">
              <a:lnSpc>
                <a:spcPts val="2886"/>
              </a:lnSpc>
              <a:spcBef>
                <a:spcPct val="0"/>
              </a:spcBef>
            </a:pPr>
          </a:p>
          <a:p>
            <a:pPr algn="l">
              <a:lnSpc>
                <a:spcPts val="2886"/>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06608" y="583405"/>
            <a:ext cx="6122813" cy="890591"/>
          </a:xfrm>
          <a:custGeom>
            <a:avLst/>
            <a:gdLst/>
            <a:ahLst/>
            <a:cxnLst/>
            <a:rect r="r" b="b" t="t" l="l"/>
            <a:pathLst>
              <a:path h="890591" w="6122813">
                <a:moveTo>
                  <a:pt x="0" y="0"/>
                </a:moveTo>
                <a:lnTo>
                  <a:pt x="6122812" y="0"/>
                </a:lnTo>
                <a:lnTo>
                  <a:pt x="6122812"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0" y="9258300"/>
            <a:ext cx="6122813" cy="890591"/>
          </a:xfrm>
          <a:custGeom>
            <a:avLst/>
            <a:gdLst/>
            <a:ahLst/>
            <a:cxnLst/>
            <a:rect r="r" b="b" t="t" l="l"/>
            <a:pathLst>
              <a:path h="890591" w="6122813">
                <a:moveTo>
                  <a:pt x="6122813" y="0"/>
                </a:moveTo>
                <a:lnTo>
                  <a:pt x="0" y="0"/>
                </a:lnTo>
                <a:lnTo>
                  <a:pt x="0" y="890591"/>
                </a:lnTo>
                <a:lnTo>
                  <a:pt x="6122813" y="890591"/>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363719" y="8256955"/>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1542361">
            <a:off x="15287090" y="9148325"/>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8529258" y="2611384"/>
            <a:ext cx="9000162" cy="5064231"/>
          </a:xfrm>
          <a:custGeom>
            <a:avLst/>
            <a:gdLst/>
            <a:ahLst/>
            <a:cxnLst/>
            <a:rect r="r" b="b" t="t" l="l"/>
            <a:pathLst>
              <a:path h="5064231" w="9000162">
                <a:moveTo>
                  <a:pt x="0" y="0"/>
                </a:moveTo>
                <a:lnTo>
                  <a:pt x="9000162" y="0"/>
                </a:lnTo>
                <a:lnTo>
                  <a:pt x="9000162" y="5064232"/>
                </a:lnTo>
                <a:lnTo>
                  <a:pt x="0" y="5064232"/>
                </a:lnTo>
                <a:lnTo>
                  <a:pt x="0" y="0"/>
                </a:lnTo>
                <a:close/>
              </a:path>
            </a:pathLst>
          </a:custGeom>
          <a:blipFill>
            <a:blip r:embed="rId11"/>
            <a:stretch>
              <a:fillRect l="0" t="0" r="0" b="0"/>
            </a:stretch>
          </a:blipFill>
        </p:spPr>
      </p:sp>
      <p:sp>
        <p:nvSpPr>
          <p:cNvPr name="TextBox 10" id="10"/>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Vật liệu sử dụng trong quang khắc</a:t>
            </a:r>
          </a:p>
        </p:txBody>
      </p:sp>
      <p:sp>
        <p:nvSpPr>
          <p:cNvPr name="TextBox 11" id="11"/>
          <p:cNvSpPr txBox="true"/>
          <p:nvPr/>
        </p:nvSpPr>
        <p:spPr>
          <a:xfrm rot="0">
            <a:off x="841162" y="1559720"/>
            <a:ext cx="10312594" cy="1152350"/>
          </a:xfrm>
          <a:prstGeom prst="rect">
            <a:avLst/>
          </a:prstGeom>
        </p:spPr>
        <p:txBody>
          <a:bodyPr anchor="t" rtlCol="false" tIns="0" lIns="0" bIns="0" rIns="0">
            <a:spAutoFit/>
          </a:bodyPr>
          <a:lstStyle/>
          <a:p>
            <a:pPr algn="l">
              <a:lnSpc>
                <a:spcPts val="4493"/>
              </a:lnSpc>
            </a:pPr>
            <a:r>
              <a:rPr lang="en-US" sz="4493">
                <a:solidFill>
                  <a:srgbClr val="FFFFFF"/>
                </a:solidFill>
                <a:latin typeface="Lato"/>
                <a:ea typeface="Lato"/>
                <a:cs typeface="Lato"/>
                <a:sym typeface="Lato"/>
              </a:rPr>
              <a:t>Thành phần hóa học và cơ chế phản ứng</a:t>
            </a:r>
          </a:p>
          <a:p>
            <a:pPr algn="l">
              <a:lnSpc>
                <a:spcPts val="4493"/>
              </a:lnSpc>
            </a:pPr>
          </a:p>
        </p:txBody>
      </p:sp>
      <p:sp>
        <p:nvSpPr>
          <p:cNvPr name="TextBox 12" id="12"/>
          <p:cNvSpPr txBox="true"/>
          <p:nvPr/>
        </p:nvSpPr>
        <p:spPr>
          <a:xfrm rot="0">
            <a:off x="792894" y="2532548"/>
            <a:ext cx="7572989" cy="6169316"/>
          </a:xfrm>
          <a:prstGeom prst="rect">
            <a:avLst/>
          </a:prstGeom>
        </p:spPr>
        <p:txBody>
          <a:bodyPr anchor="t" rtlCol="false" tIns="0" lIns="0" bIns="0" rIns="0">
            <a:spAutoFit/>
          </a:bodyPr>
          <a:lstStyle/>
          <a:p>
            <a:pPr algn="l">
              <a:lnSpc>
                <a:spcPts val="2886"/>
              </a:lnSpc>
              <a:spcBef>
                <a:spcPct val="0"/>
              </a:spcBef>
            </a:pPr>
            <a:r>
              <a:rPr lang="en-US" sz="2886">
                <a:solidFill>
                  <a:srgbClr val="FFFFFF"/>
                </a:solidFill>
                <a:latin typeface="Lato"/>
                <a:ea typeface="Lato"/>
                <a:cs typeface="Lato"/>
                <a:sym typeface="Lato"/>
              </a:rPr>
              <a:t>M</a:t>
            </a:r>
            <a:r>
              <a:rPr lang="en-US" sz="2886">
                <a:solidFill>
                  <a:srgbClr val="FFFFFF"/>
                </a:solidFill>
                <a:latin typeface="Lato"/>
                <a:ea typeface="Lato"/>
                <a:cs typeface="Lato"/>
                <a:sym typeface="Lato"/>
              </a:rPr>
              <a:t>àng Photoresist là một hệ vật liệu nhạy sáng, thay đổi độ hòa tan khi tiếp xúc với các bước sóng ánh sáng nhất định, cấu thành từ ba thành phần chính:</a:t>
            </a:r>
          </a:p>
          <a:p>
            <a:pPr algn="l">
              <a:lnSpc>
                <a:spcPts val="2886"/>
              </a:lnSpc>
              <a:spcBef>
                <a:spcPct val="0"/>
              </a:spcBef>
            </a:pPr>
          </a:p>
          <a:p>
            <a:pPr algn="l">
              <a:lnSpc>
                <a:spcPts val="2886"/>
              </a:lnSpc>
              <a:spcBef>
                <a:spcPct val="0"/>
              </a:spcBef>
            </a:pPr>
            <a:r>
              <a:rPr lang="en-US" sz="2886">
                <a:solidFill>
                  <a:srgbClr val="FFFFFF"/>
                </a:solidFill>
                <a:latin typeface="Lato"/>
                <a:ea typeface="Lato"/>
                <a:cs typeface="Lato"/>
                <a:sym typeface="Lato"/>
              </a:rPr>
              <a:t>+ Nhựa nền (Polymer binder/Resin): Tạo khung xương cơ học và quyết định độ bền ăn mòn</a:t>
            </a:r>
          </a:p>
          <a:p>
            <a:pPr algn="l">
              <a:lnSpc>
                <a:spcPts val="2886"/>
              </a:lnSpc>
              <a:spcBef>
                <a:spcPct val="0"/>
              </a:spcBef>
            </a:pPr>
          </a:p>
          <a:p>
            <a:pPr algn="l">
              <a:lnSpc>
                <a:spcPts val="2886"/>
              </a:lnSpc>
              <a:spcBef>
                <a:spcPct val="0"/>
              </a:spcBef>
            </a:pPr>
            <a:r>
              <a:rPr lang="en-US" sz="2886">
                <a:solidFill>
                  <a:srgbClr val="FFFFFF"/>
                </a:solidFill>
                <a:latin typeface="Lato"/>
                <a:ea typeface="Lato"/>
                <a:cs typeface="Lato"/>
                <a:sym typeface="Lato"/>
              </a:rPr>
              <a:t>+ Hợp chất hoạt tính quang học (PAC): Đóng vai trò là "cảm biến" ánh sáng, kích hoạt các phản ứng hóa học.</a:t>
            </a:r>
          </a:p>
          <a:p>
            <a:pPr algn="l">
              <a:lnSpc>
                <a:spcPts val="2886"/>
              </a:lnSpc>
              <a:spcBef>
                <a:spcPct val="0"/>
              </a:spcBef>
            </a:pPr>
          </a:p>
          <a:p>
            <a:pPr algn="l">
              <a:lnSpc>
                <a:spcPts val="2886"/>
              </a:lnSpc>
              <a:spcBef>
                <a:spcPct val="0"/>
              </a:spcBef>
            </a:pPr>
            <a:r>
              <a:rPr lang="en-US" sz="2886">
                <a:solidFill>
                  <a:srgbClr val="FFFFFF"/>
                </a:solidFill>
                <a:latin typeface="Lato"/>
                <a:ea typeface="Lato"/>
                <a:cs typeface="Lato"/>
                <a:sym typeface="Lato"/>
              </a:rPr>
              <a:t>+ Dung môi (Solvent): Duy trì trạng thái lỏng và điều chỉnh độ nhớt để đảm bảo màng trải đều khi quay ly tâm.</a:t>
            </a:r>
          </a:p>
          <a:p>
            <a:pPr algn="l">
              <a:lnSpc>
                <a:spcPts val="2886"/>
              </a:lnSpc>
              <a:spcBef>
                <a:spcPct val="0"/>
              </a:spcBef>
            </a:pPr>
          </a:p>
          <a:p>
            <a:pPr algn="l">
              <a:lnSpc>
                <a:spcPts val="2886"/>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06608" y="583405"/>
            <a:ext cx="6122813" cy="890591"/>
          </a:xfrm>
          <a:custGeom>
            <a:avLst/>
            <a:gdLst/>
            <a:ahLst/>
            <a:cxnLst/>
            <a:rect r="r" b="b" t="t" l="l"/>
            <a:pathLst>
              <a:path h="890591" w="6122813">
                <a:moveTo>
                  <a:pt x="0" y="0"/>
                </a:moveTo>
                <a:lnTo>
                  <a:pt x="6122812" y="0"/>
                </a:lnTo>
                <a:lnTo>
                  <a:pt x="6122812"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0" y="9258300"/>
            <a:ext cx="6122813" cy="890591"/>
          </a:xfrm>
          <a:custGeom>
            <a:avLst/>
            <a:gdLst/>
            <a:ahLst/>
            <a:cxnLst/>
            <a:rect r="r" b="b" t="t" l="l"/>
            <a:pathLst>
              <a:path h="890591" w="6122813">
                <a:moveTo>
                  <a:pt x="6122813" y="0"/>
                </a:moveTo>
                <a:lnTo>
                  <a:pt x="0" y="0"/>
                </a:lnTo>
                <a:lnTo>
                  <a:pt x="0" y="890591"/>
                </a:lnTo>
                <a:lnTo>
                  <a:pt x="6122813" y="890591"/>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363719" y="8256955"/>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1542361">
            <a:off x="15287090" y="9148325"/>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Vật liệu sử dụng trong quang khắc</a:t>
            </a:r>
          </a:p>
        </p:txBody>
      </p:sp>
      <p:sp>
        <p:nvSpPr>
          <p:cNvPr name="TextBox 10" id="10"/>
          <p:cNvSpPr txBox="true"/>
          <p:nvPr/>
        </p:nvSpPr>
        <p:spPr>
          <a:xfrm rot="0">
            <a:off x="841162" y="1559720"/>
            <a:ext cx="7335256" cy="590375"/>
          </a:xfrm>
          <a:prstGeom prst="rect">
            <a:avLst/>
          </a:prstGeom>
        </p:spPr>
        <p:txBody>
          <a:bodyPr anchor="t" rtlCol="false" tIns="0" lIns="0" bIns="0" rIns="0">
            <a:spAutoFit/>
          </a:bodyPr>
          <a:lstStyle/>
          <a:p>
            <a:pPr algn="l">
              <a:lnSpc>
                <a:spcPts val="4493"/>
              </a:lnSpc>
            </a:pPr>
            <a:r>
              <a:rPr lang="en-US" sz="4493">
                <a:solidFill>
                  <a:srgbClr val="FFFFFF"/>
                </a:solidFill>
                <a:latin typeface="Lato"/>
                <a:ea typeface="Lato"/>
                <a:cs typeface="Lato"/>
                <a:sym typeface="Lato"/>
              </a:rPr>
              <a:t>Các đặc tính kỹ thuật cốt lõi</a:t>
            </a:r>
          </a:p>
        </p:txBody>
      </p:sp>
      <p:sp>
        <p:nvSpPr>
          <p:cNvPr name="TextBox 11" id="11"/>
          <p:cNvSpPr txBox="true"/>
          <p:nvPr/>
        </p:nvSpPr>
        <p:spPr>
          <a:xfrm rot="0">
            <a:off x="1293786" y="3033965"/>
            <a:ext cx="15700428" cy="4721516"/>
          </a:xfrm>
          <a:prstGeom prst="rect">
            <a:avLst/>
          </a:prstGeom>
        </p:spPr>
        <p:txBody>
          <a:bodyPr anchor="t" rtlCol="false" tIns="0" lIns="0" bIns="0" rIns="0">
            <a:spAutoFit/>
          </a:bodyPr>
          <a:lstStyle/>
          <a:p>
            <a:pPr algn="l">
              <a:lnSpc>
                <a:spcPts val="2886"/>
              </a:lnSpc>
              <a:spcBef>
                <a:spcPct val="0"/>
              </a:spcBef>
            </a:pPr>
          </a:p>
          <a:p>
            <a:pPr algn="l">
              <a:lnSpc>
                <a:spcPts val="2886"/>
              </a:lnSpc>
              <a:spcBef>
                <a:spcPct val="0"/>
              </a:spcBef>
            </a:pPr>
            <a:r>
              <a:rPr lang="en-US" sz="2886">
                <a:solidFill>
                  <a:srgbClr val="FFFFFF"/>
                </a:solidFill>
                <a:latin typeface="Lato"/>
                <a:ea typeface="Lato"/>
                <a:cs typeface="Lato"/>
                <a:sym typeface="Lato"/>
              </a:rPr>
              <a:t>Độ nhạy xác định liều lượng năng lượng tối thiểu cần thiết để làm biến đổi hoàn toàn tính chất của màng PR. </a:t>
            </a:r>
          </a:p>
          <a:p>
            <a:pPr algn="l">
              <a:lnSpc>
                <a:spcPts val="2886"/>
              </a:lnSpc>
              <a:spcBef>
                <a:spcPct val="0"/>
              </a:spcBef>
            </a:pPr>
          </a:p>
          <a:p>
            <a:pPr algn="l">
              <a:lnSpc>
                <a:spcPts val="2886"/>
              </a:lnSpc>
              <a:spcBef>
                <a:spcPct val="0"/>
              </a:spcBef>
            </a:pPr>
            <a:r>
              <a:rPr lang="en-US" sz="2886">
                <a:solidFill>
                  <a:srgbClr val="FFFFFF"/>
                </a:solidFill>
                <a:latin typeface="Lato"/>
                <a:ea typeface="Lato"/>
                <a:cs typeface="Lato"/>
                <a:sym typeface="Lato"/>
              </a:rPr>
              <a:t>Độ phân giải là khả năng của hệ thống trong việc phân tách hai chi tiết nằm sát nhau mà không làm chúng bị dính liền. Kích thước tới hạn là đơn vị đo lường độ phân giải. CD càng nhỏ, chip càng chứa được nhiều linh kiện</a:t>
            </a:r>
          </a:p>
          <a:p>
            <a:pPr algn="l">
              <a:lnSpc>
                <a:spcPts val="2886"/>
              </a:lnSpc>
              <a:spcBef>
                <a:spcPct val="0"/>
              </a:spcBef>
            </a:pPr>
          </a:p>
          <a:p>
            <a:pPr algn="l">
              <a:lnSpc>
                <a:spcPts val="2886"/>
              </a:lnSpc>
              <a:spcBef>
                <a:spcPct val="0"/>
              </a:spcBef>
            </a:pPr>
            <a:r>
              <a:rPr lang="en-US" sz="2886">
                <a:solidFill>
                  <a:srgbClr val="FFFFFF"/>
                </a:solidFill>
                <a:latin typeface="Lato"/>
                <a:ea typeface="Lato"/>
                <a:cs typeface="Lato"/>
                <a:sym typeface="Lato"/>
              </a:rPr>
              <a:t>Độ bám dính là khả năng liên kết giữa lớp màng PR mang tính hữu cơ) và bề mặt tấm wafer mang tính vô cơ</a:t>
            </a:r>
            <a:r>
              <a:rPr lang="en-US" b="true" sz="2886">
                <a:solidFill>
                  <a:srgbClr val="FFFFFF"/>
                </a:solidFill>
                <a:latin typeface="Lato Bold"/>
                <a:ea typeface="Lato Bold"/>
                <a:cs typeface="Lato Bold"/>
                <a:sym typeface="Lato Bold"/>
              </a:rPr>
              <a:t>. </a:t>
            </a:r>
            <a:r>
              <a:rPr lang="en-US" sz="2886">
                <a:solidFill>
                  <a:srgbClr val="FFFFFF"/>
                </a:solidFill>
                <a:latin typeface="Lato"/>
                <a:ea typeface="Lato"/>
                <a:cs typeface="Lato"/>
                <a:sym typeface="Lato"/>
              </a:rPr>
              <a:t>Nếu độ bám dính kém, màng PR sẽ bị bong tróc trong các bước rửa siêu âm hoặc ăn mòn hóa học, dẫn đến ngắn mạch và hỏng toàn bộ chip.</a:t>
            </a:r>
          </a:p>
          <a:p>
            <a:pPr algn="l">
              <a:lnSpc>
                <a:spcPts val="2886"/>
              </a:lnSpc>
              <a:spcBef>
                <a:spcPct val="0"/>
              </a:spcBef>
            </a:pPr>
          </a:p>
          <a:p>
            <a:pPr algn="l">
              <a:lnSpc>
                <a:spcPts val="2886"/>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06608" y="583405"/>
            <a:ext cx="6122813" cy="890591"/>
          </a:xfrm>
          <a:custGeom>
            <a:avLst/>
            <a:gdLst/>
            <a:ahLst/>
            <a:cxnLst/>
            <a:rect r="r" b="b" t="t" l="l"/>
            <a:pathLst>
              <a:path h="890591" w="6122813">
                <a:moveTo>
                  <a:pt x="0" y="0"/>
                </a:moveTo>
                <a:lnTo>
                  <a:pt x="6122812" y="0"/>
                </a:lnTo>
                <a:lnTo>
                  <a:pt x="6122812"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0" y="9258300"/>
            <a:ext cx="6122813" cy="890591"/>
          </a:xfrm>
          <a:custGeom>
            <a:avLst/>
            <a:gdLst/>
            <a:ahLst/>
            <a:cxnLst/>
            <a:rect r="r" b="b" t="t" l="l"/>
            <a:pathLst>
              <a:path h="890591" w="6122813">
                <a:moveTo>
                  <a:pt x="6122813" y="0"/>
                </a:moveTo>
                <a:lnTo>
                  <a:pt x="0" y="0"/>
                </a:lnTo>
                <a:lnTo>
                  <a:pt x="0" y="890591"/>
                </a:lnTo>
                <a:lnTo>
                  <a:pt x="6122813" y="890591"/>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363719" y="8256955"/>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1542361">
            <a:off x="15287090" y="9148325"/>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0031854" y="2654859"/>
            <a:ext cx="6670312" cy="5041259"/>
          </a:xfrm>
          <a:custGeom>
            <a:avLst/>
            <a:gdLst/>
            <a:ahLst/>
            <a:cxnLst/>
            <a:rect r="r" b="b" t="t" l="l"/>
            <a:pathLst>
              <a:path h="5041259" w="6670312">
                <a:moveTo>
                  <a:pt x="0" y="0"/>
                </a:moveTo>
                <a:lnTo>
                  <a:pt x="6670312" y="0"/>
                </a:lnTo>
                <a:lnTo>
                  <a:pt x="6670312" y="5041259"/>
                </a:lnTo>
                <a:lnTo>
                  <a:pt x="0" y="5041259"/>
                </a:lnTo>
                <a:lnTo>
                  <a:pt x="0" y="0"/>
                </a:lnTo>
                <a:close/>
              </a:path>
            </a:pathLst>
          </a:custGeom>
          <a:blipFill>
            <a:blip r:embed="rId11"/>
            <a:stretch>
              <a:fillRect l="0" t="0" r="0" b="0"/>
            </a:stretch>
          </a:blipFill>
        </p:spPr>
      </p:sp>
      <p:sp>
        <p:nvSpPr>
          <p:cNvPr name="TextBox 10" id="10"/>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Vật liệu sử dụng trong quang khắc</a:t>
            </a:r>
          </a:p>
        </p:txBody>
      </p:sp>
      <p:sp>
        <p:nvSpPr>
          <p:cNvPr name="TextBox 11" id="11"/>
          <p:cNvSpPr txBox="true"/>
          <p:nvPr/>
        </p:nvSpPr>
        <p:spPr>
          <a:xfrm rot="0">
            <a:off x="841162" y="1559720"/>
            <a:ext cx="7335256" cy="1152350"/>
          </a:xfrm>
          <a:prstGeom prst="rect">
            <a:avLst/>
          </a:prstGeom>
        </p:spPr>
        <p:txBody>
          <a:bodyPr anchor="t" rtlCol="false" tIns="0" lIns="0" bIns="0" rIns="0">
            <a:spAutoFit/>
          </a:bodyPr>
          <a:lstStyle/>
          <a:p>
            <a:pPr algn="l">
              <a:lnSpc>
                <a:spcPts val="4493"/>
              </a:lnSpc>
            </a:pPr>
            <a:r>
              <a:rPr lang="en-US" sz="4493">
                <a:solidFill>
                  <a:srgbClr val="FFFFFF"/>
                </a:solidFill>
                <a:latin typeface="Lato"/>
                <a:ea typeface="Lato"/>
                <a:cs typeface="Lato"/>
                <a:sym typeface="Lato"/>
              </a:rPr>
              <a:t>Substrate (Wafer Silicon)</a:t>
            </a:r>
          </a:p>
          <a:p>
            <a:pPr algn="l">
              <a:lnSpc>
                <a:spcPts val="4493"/>
              </a:lnSpc>
            </a:pPr>
          </a:p>
        </p:txBody>
      </p:sp>
      <p:sp>
        <p:nvSpPr>
          <p:cNvPr name="TextBox 12" id="12"/>
          <p:cNvSpPr txBox="true"/>
          <p:nvPr/>
        </p:nvSpPr>
        <p:spPr>
          <a:xfrm rot="0">
            <a:off x="1293786" y="3024440"/>
            <a:ext cx="7850214" cy="2860006"/>
          </a:xfrm>
          <a:prstGeom prst="rect">
            <a:avLst/>
          </a:prstGeom>
        </p:spPr>
        <p:txBody>
          <a:bodyPr anchor="t" rtlCol="false" tIns="0" lIns="0" bIns="0" rIns="0">
            <a:spAutoFit/>
          </a:bodyPr>
          <a:lstStyle/>
          <a:p>
            <a:pPr algn="l">
              <a:lnSpc>
                <a:spcPts val="2826"/>
              </a:lnSpc>
              <a:spcBef>
                <a:spcPct val="0"/>
              </a:spcBef>
            </a:pPr>
            <a:r>
              <a:rPr lang="en-US" sz="2826">
                <a:solidFill>
                  <a:srgbClr val="FFFFFF"/>
                </a:solidFill>
                <a:latin typeface="Lato"/>
                <a:ea typeface="Lato"/>
                <a:cs typeface="Lato"/>
                <a:sym typeface="Lato"/>
              </a:rPr>
              <a:t>Bê</a:t>
            </a:r>
            <a:r>
              <a:rPr lang="en-US" sz="2826">
                <a:solidFill>
                  <a:srgbClr val="FFFFFF"/>
                </a:solidFill>
                <a:latin typeface="Lato"/>
                <a:ea typeface="Lato"/>
                <a:cs typeface="Lato"/>
                <a:sym typeface="Lato"/>
              </a:rPr>
              <a:t>n dưới màng polymer hy sinh là cấu trúc nền tảng không thể thay thế của toàn bộ ngành công nghiệp vi điện tử. </a:t>
            </a:r>
          </a:p>
          <a:p>
            <a:pPr algn="l">
              <a:lnSpc>
                <a:spcPts val="2826"/>
              </a:lnSpc>
              <a:spcBef>
                <a:spcPct val="0"/>
              </a:spcBef>
            </a:pPr>
          </a:p>
          <a:p>
            <a:pPr algn="l">
              <a:lnSpc>
                <a:spcPts val="2826"/>
              </a:lnSpc>
              <a:spcBef>
                <a:spcPct val="0"/>
              </a:spcBef>
            </a:pPr>
            <a:r>
              <a:rPr lang="en-US" sz="2826">
                <a:solidFill>
                  <a:srgbClr val="FFFFFF"/>
                </a:solidFill>
                <a:latin typeface="Lato"/>
                <a:ea typeface="Lato"/>
                <a:cs typeface="Lato"/>
                <a:sym typeface="Lato"/>
              </a:rPr>
              <a:t>Mọi linh kiện điện tử thụ động và tích cực (như transistor MOSFET) đều được hình thành trực tiếp bên trong cấu trúc tinh thể của phiến nền này</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06608" y="583405"/>
            <a:ext cx="6122813" cy="890591"/>
          </a:xfrm>
          <a:custGeom>
            <a:avLst/>
            <a:gdLst/>
            <a:ahLst/>
            <a:cxnLst/>
            <a:rect r="r" b="b" t="t" l="l"/>
            <a:pathLst>
              <a:path h="890591" w="6122813">
                <a:moveTo>
                  <a:pt x="0" y="0"/>
                </a:moveTo>
                <a:lnTo>
                  <a:pt x="6122812" y="0"/>
                </a:lnTo>
                <a:lnTo>
                  <a:pt x="6122812"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0" y="9258300"/>
            <a:ext cx="6122813" cy="890591"/>
          </a:xfrm>
          <a:custGeom>
            <a:avLst/>
            <a:gdLst/>
            <a:ahLst/>
            <a:cxnLst/>
            <a:rect r="r" b="b" t="t" l="l"/>
            <a:pathLst>
              <a:path h="890591" w="6122813">
                <a:moveTo>
                  <a:pt x="6122813" y="0"/>
                </a:moveTo>
                <a:lnTo>
                  <a:pt x="0" y="0"/>
                </a:lnTo>
                <a:lnTo>
                  <a:pt x="0" y="890591"/>
                </a:lnTo>
                <a:lnTo>
                  <a:pt x="6122813" y="890591"/>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363719" y="8256955"/>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1542361">
            <a:off x="15287090" y="9148325"/>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9775420" y="2557266"/>
            <a:ext cx="7065661" cy="5085608"/>
          </a:xfrm>
          <a:custGeom>
            <a:avLst/>
            <a:gdLst/>
            <a:ahLst/>
            <a:cxnLst/>
            <a:rect r="r" b="b" t="t" l="l"/>
            <a:pathLst>
              <a:path h="5085608" w="7065661">
                <a:moveTo>
                  <a:pt x="0" y="0"/>
                </a:moveTo>
                <a:lnTo>
                  <a:pt x="7065661" y="0"/>
                </a:lnTo>
                <a:lnTo>
                  <a:pt x="7065661" y="5085608"/>
                </a:lnTo>
                <a:lnTo>
                  <a:pt x="0" y="5085608"/>
                </a:lnTo>
                <a:lnTo>
                  <a:pt x="0" y="0"/>
                </a:lnTo>
                <a:close/>
              </a:path>
            </a:pathLst>
          </a:custGeom>
          <a:blipFill>
            <a:blip r:embed="rId11"/>
            <a:stretch>
              <a:fillRect l="0" t="0" r="0" b="0"/>
            </a:stretch>
          </a:blipFill>
        </p:spPr>
      </p:sp>
      <p:sp>
        <p:nvSpPr>
          <p:cNvPr name="TextBox 10" id="10"/>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Vật liệu sử dụng trong quang khắc</a:t>
            </a:r>
          </a:p>
        </p:txBody>
      </p:sp>
      <p:sp>
        <p:nvSpPr>
          <p:cNvPr name="TextBox 11" id="11"/>
          <p:cNvSpPr txBox="true"/>
          <p:nvPr/>
        </p:nvSpPr>
        <p:spPr>
          <a:xfrm rot="0">
            <a:off x="841162" y="1559720"/>
            <a:ext cx="7335256" cy="1152350"/>
          </a:xfrm>
          <a:prstGeom prst="rect">
            <a:avLst/>
          </a:prstGeom>
        </p:spPr>
        <p:txBody>
          <a:bodyPr anchor="t" rtlCol="false" tIns="0" lIns="0" bIns="0" rIns="0">
            <a:spAutoFit/>
          </a:bodyPr>
          <a:lstStyle/>
          <a:p>
            <a:pPr algn="l">
              <a:lnSpc>
                <a:spcPts val="4493"/>
              </a:lnSpc>
            </a:pPr>
            <a:r>
              <a:rPr lang="en-US" sz="4493">
                <a:solidFill>
                  <a:srgbClr val="FFFFFF"/>
                </a:solidFill>
                <a:latin typeface="Lato"/>
                <a:ea typeface="Lato"/>
                <a:cs typeface="Lato"/>
                <a:sym typeface="Lato"/>
              </a:rPr>
              <a:t>Cấu trúc wafer và lớp nền</a:t>
            </a:r>
          </a:p>
          <a:p>
            <a:pPr algn="l">
              <a:lnSpc>
                <a:spcPts val="4493"/>
              </a:lnSpc>
            </a:pPr>
          </a:p>
        </p:txBody>
      </p:sp>
      <p:sp>
        <p:nvSpPr>
          <p:cNvPr name="TextBox 12" id="12"/>
          <p:cNvSpPr txBox="true"/>
          <p:nvPr/>
        </p:nvSpPr>
        <p:spPr>
          <a:xfrm rot="0">
            <a:off x="1293786" y="3024440"/>
            <a:ext cx="7850214" cy="3214484"/>
          </a:xfrm>
          <a:prstGeom prst="rect">
            <a:avLst/>
          </a:prstGeom>
        </p:spPr>
        <p:txBody>
          <a:bodyPr anchor="t" rtlCol="false" tIns="0" lIns="0" bIns="0" rIns="0">
            <a:spAutoFit/>
          </a:bodyPr>
          <a:lstStyle/>
          <a:p>
            <a:pPr algn="l">
              <a:lnSpc>
                <a:spcPts val="2826"/>
              </a:lnSpc>
              <a:spcBef>
                <a:spcPct val="0"/>
              </a:spcBef>
            </a:pPr>
            <a:r>
              <a:rPr lang="en-US" sz="2826">
                <a:solidFill>
                  <a:srgbClr val="FFFFFF"/>
                </a:solidFill>
                <a:latin typeface="Lato"/>
                <a:ea typeface="Lato"/>
                <a:cs typeface="Lato"/>
                <a:sym typeface="Lato"/>
              </a:rPr>
              <a:t>Nguyê</a:t>
            </a:r>
            <a:r>
              <a:rPr lang="en-US" sz="2826">
                <a:solidFill>
                  <a:srgbClr val="FFFFFF"/>
                </a:solidFill>
                <a:latin typeface="Lato"/>
                <a:ea typeface="Lato"/>
                <a:cs typeface="Lato"/>
                <a:sym typeface="Lato"/>
              </a:rPr>
              <a:t>n liệu khởi thủy để sản xuất wafer là cát thạch anh trắng, chủ yếu là Silicon Dioxide - SiO2</a:t>
            </a:r>
          </a:p>
          <a:p>
            <a:pPr algn="l">
              <a:lnSpc>
                <a:spcPts val="2826"/>
              </a:lnSpc>
              <a:spcBef>
                <a:spcPct val="0"/>
              </a:spcBef>
            </a:pPr>
            <a:r>
              <a:rPr lang="en-US" sz="2826">
                <a:solidFill>
                  <a:srgbClr val="FFFFFF"/>
                </a:solidFill>
                <a:latin typeface="Lato"/>
                <a:ea typeface="Lato"/>
                <a:cs typeface="Lato"/>
                <a:sym typeface="Lato"/>
              </a:rPr>
              <a:t> </a:t>
            </a:r>
          </a:p>
          <a:p>
            <a:pPr algn="l">
              <a:lnSpc>
                <a:spcPts val="2826"/>
              </a:lnSpc>
              <a:spcBef>
                <a:spcPct val="0"/>
              </a:spcBef>
            </a:pPr>
            <a:r>
              <a:rPr lang="en-US" sz="2826">
                <a:solidFill>
                  <a:srgbClr val="FFFFFF"/>
                </a:solidFill>
                <a:latin typeface="Lato"/>
                <a:ea typeface="Lato"/>
                <a:cs typeface="Lato"/>
                <a:sym typeface="Lato"/>
              </a:rPr>
              <a:t>Để sản xuất wafer cho vi mạch, cấu trúc mạng tinh thể phải đạt mức độ đồng nhất hoàn hảo: silicon đơn tinh thể với độ tinh khiết đạt ngưỡng 9N (99.9999999%).</a:t>
            </a:r>
          </a:p>
          <a:p>
            <a:pPr algn="l">
              <a:lnSpc>
                <a:spcPts val="2826"/>
              </a:lnSpc>
              <a:spcBef>
                <a:spcPct val="0"/>
              </a:spcBef>
            </a:pPr>
          </a:p>
          <a:p>
            <a:pPr algn="l">
              <a:lnSpc>
                <a:spcPts val="2826"/>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06608" y="583405"/>
            <a:ext cx="6122813" cy="890591"/>
          </a:xfrm>
          <a:custGeom>
            <a:avLst/>
            <a:gdLst/>
            <a:ahLst/>
            <a:cxnLst/>
            <a:rect r="r" b="b" t="t" l="l"/>
            <a:pathLst>
              <a:path h="890591" w="6122813">
                <a:moveTo>
                  <a:pt x="0" y="0"/>
                </a:moveTo>
                <a:lnTo>
                  <a:pt x="6122812" y="0"/>
                </a:lnTo>
                <a:lnTo>
                  <a:pt x="6122812"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0" y="9258300"/>
            <a:ext cx="6122813" cy="890591"/>
          </a:xfrm>
          <a:custGeom>
            <a:avLst/>
            <a:gdLst/>
            <a:ahLst/>
            <a:cxnLst/>
            <a:rect r="r" b="b" t="t" l="l"/>
            <a:pathLst>
              <a:path h="890591" w="6122813">
                <a:moveTo>
                  <a:pt x="6122813" y="0"/>
                </a:moveTo>
                <a:lnTo>
                  <a:pt x="0" y="0"/>
                </a:lnTo>
                <a:lnTo>
                  <a:pt x="0" y="890591"/>
                </a:lnTo>
                <a:lnTo>
                  <a:pt x="6122813" y="890591"/>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363719" y="8256955"/>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1542361">
            <a:off x="15287090" y="9148325"/>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9144000" y="2883520"/>
            <a:ext cx="8481921" cy="5026323"/>
          </a:xfrm>
          <a:custGeom>
            <a:avLst/>
            <a:gdLst/>
            <a:ahLst/>
            <a:cxnLst/>
            <a:rect r="r" b="b" t="t" l="l"/>
            <a:pathLst>
              <a:path h="5026323" w="8481921">
                <a:moveTo>
                  <a:pt x="0" y="0"/>
                </a:moveTo>
                <a:lnTo>
                  <a:pt x="8481921" y="0"/>
                </a:lnTo>
                <a:lnTo>
                  <a:pt x="8481921" y="5026323"/>
                </a:lnTo>
                <a:lnTo>
                  <a:pt x="0" y="5026323"/>
                </a:lnTo>
                <a:lnTo>
                  <a:pt x="0" y="0"/>
                </a:lnTo>
                <a:close/>
              </a:path>
            </a:pathLst>
          </a:custGeom>
          <a:blipFill>
            <a:blip r:embed="rId11"/>
            <a:stretch>
              <a:fillRect l="0" t="0" r="0" b="0"/>
            </a:stretch>
          </a:blipFill>
        </p:spPr>
      </p:sp>
      <p:sp>
        <p:nvSpPr>
          <p:cNvPr name="TextBox 10" id="10"/>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Vật liệu sử dụng trong quang khắc</a:t>
            </a:r>
          </a:p>
        </p:txBody>
      </p:sp>
      <p:sp>
        <p:nvSpPr>
          <p:cNvPr name="TextBox 11" id="11"/>
          <p:cNvSpPr txBox="true"/>
          <p:nvPr/>
        </p:nvSpPr>
        <p:spPr>
          <a:xfrm rot="0">
            <a:off x="841162" y="1559720"/>
            <a:ext cx="8481933" cy="1152350"/>
          </a:xfrm>
          <a:prstGeom prst="rect">
            <a:avLst/>
          </a:prstGeom>
        </p:spPr>
        <p:txBody>
          <a:bodyPr anchor="t" rtlCol="false" tIns="0" lIns="0" bIns="0" rIns="0">
            <a:spAutoFit/>
          </a:bodyPr>
          <a:lstStyle/>
          <a:p>
            <a:pPr algn="l">
              <a:lnSpc>
                <a:spcPts val="4493"/>
              </a:lnSpc>
            </a:pPr>
            <a:r>
              <a:rPr lang="en-US" sz="4493">
                <a:solidFill>
                  <a:srgbClr val="FFFFFF"/>
                </a:solidFill>
                <a:latin typeface="Lato"/>
                <a:ea typeface="Lato"/>
                <a:cs typeface="Lato"/>
                <a:sym typeface="Lato"/>
              </a:rPr>
              <a:t>Xử lý bề mặt trước khi phủ PR</a:t>
            </a:r>
          </a:p>
          <a:p>
            <a:pPr algn="l">
              <a:lnSpc>
                <a:spcPts val="4493"/>
              </a:lnSpc>
            </a:pPr>
          </a:p>
        </p:txBody>
      </p:sp>
      <p:sp>
        <p:nvSpPr>
          <p:cNvPr name="TextBox 12" id="12"/>
          <p:cNvSpPr txBox="true"/>
          <p:nvPr/>
        </p:nvSpPr>
        <p:spPr>
          <a:xfrm rot="0">
            <a:off x="1157022" y="3016870"/>
            <a:ext cx="7850214" cy="4986877"/>
          </a:xfrm>
          <a:prstGeom prst="rect">
            <a:avLst/>
          </a:prstGeom>
        </p:spPr>
        <p:txBody>
          <a:bodyPr anchor="t" rtlCol="false" tIns="0" lIns="0" bIns="0" rIns="0">
            <a:spAutoFit/>
          </a:bodyPr>
          <a:lstStyle/>
          <a:p>
            <a:pPr algn="l">
              <a:lnSpc>
                <a:spcPts val="2826"/>
              </a:lnSpc>
              <a:spcBef>
                <a:spcPct val="0"/>
              </a:spcBef>
            </a:pPr>
            <a:r>
              <a:rPr lang="en-US" sz="2826">
                <a:solidFill>
                  <a:srgbClr val="FFFFFF"/>
                </a:solidFill>
                <a:latin typeface="Lato"/>
                <a:ea typeface="Lato"/>
                <a:cs typeface="Lato"/>
                <a:sym typeface="Lato"/>
              </a:rPr>
              <a:t>Quy trì</a:t>
            </a:r>
            <a:r>
              <a:rPr lang="en-US" sz="2826">
                <a:solidFill>
                  <a:srgbClr val="FFFFFF"/>
                </a:solidFill>
                <a:latin typeface="Lato"/>
                <a:ea typeface="Lato"/>
                <a:cs typeface="Lato"/>
                <a:sym typeface="Lato"/>
              </a:rPr>
              <a:t>nh xử lý: </a:t>
            </a:r>
          </a:p>
          <a:p>
            <a:pPr algn="l">
              <a:lnSpc>
                <a:spcPts val="2826"/>
              </a:lnSpc>
              <a:spcBef>
                <a:spcPct val="0"/>
              </a:spcBef>
            </a:pPr>
            <a:r>
              <a:rPr lang="en-US" sz="2826">
                <a:solidFill>
                  <a:srgbClr val="FFFFFF"/>
                </a:solidFill>
                <a:latin typeface="Lato"/>
                <a:ea typeface="Lato"/>
                <a:cs typeface="Lato"/>
                <a:sym typeface="Lato"/>
              </a:rPr>
              <a:t>+ Công đoạn 1: Làm sạch sâu tẩy rửa bằng hóa chất mạnh hoặc bắn phá bằng Plasma. loại bỏ hạt bụi, vết dầu mỡ, ion kim loại</a:t>
            </a:r>
          </a:p>
          <a:p>
            <a:pPr algn="l">
              <a:lnSpc>
                <a:spcPts val="2826"/>
              </a:lnSpc>
              <a:spcBef>
                <a:spcPct val="0"/>
              </a:spcBef>
            </a:pPr>
          </a:p>
          <a:p>
            <a:pPr algn="l">
              <a:lnSpc>
                <a:spcPts val="2826"/>
              </a:lnSpc>
              <a:spcBef>
                <a:spcPct val="0"/>
              </a:spcBef>
            </a:pPr>
            <a:r>
              <a:rPr lang="en-US" sz="2826">
                <a:solidFill>
                  <a:srgbClr val="FFFFFF"/>
                </a:solidFill>
                <a:latin typeface="Lato"/>
                <a:ea typeface="Lato"/>
                <a:cs typeface="Lato"/>
                <a:sym typeface="Lato"/>
              </a:rPr>
              <a:t>+ Công đoạn 2: Sấy khô chân không, đưa vào buồng chân không và gia nhiệt từ 140°C đến 160°C. Môi trường chân không giúp nước bay hơi nhanh hơn ở nhiệt độ thấp. </a:t>
            </a:r>
          </a:p>
          <a:p>
            <a:pPr algn="l">
              <a:lnSpc>
                <a:spcPts val="2826"/>
              </a:lnSpc>
              <a:spcBef>
                <a:spcPct val="0"/>
              </a:spcBef>
            </a:pPr>
          </a:p>
          <a:p>
            <a:pPr algn="l">
              <a:lnSpc>
                <a:spcPts val="2826"/>
              </a:lnSpc>
              <a:spcBef>
                <a:spcPct val="0"/>
              </a:spcBef>
            </a:pPr>
            <a:r>
              <a:rPr lang="en-US" sz="2826">
                <a:solidFill>
                  <a:srgbClr val="FFFFFF"/>
                </a:solidFill>
                <a:latin typeface="Lato"/>
                <a:ea typeface="Lato"/>
                <a:cs typeface="Lato"/>
                <a:sym typeface="Lato"/>
              </a:rPr>
              <a:t>+ Công đoạn 3: Phủ chất mồi, hợp chất HMDS được đưa vào, bề mặt wafer bây giờ trở nên đồng nhất về bản chất với nhựa PR, tạo ra lực bám dính</a:t>
            </a:r>
          </a:p>
          <a:p>
            <a:pPr algn="l">
              <a:lnSpc>
                <a:spcPts val="2826"/>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06608" y="583405"/>
            <a:ext cx="6122813" cy="890591"/>
          </a:xfrm>
          <a:custGeom>
            <a:avLst/>
            <a:gdLst/>
            <a:ahLst/>
            <a:cxnLst/>
            <a:rect r="r" b="b" t="t" l="l"/>
            <a:pathLst>
              <a:path h="890591" w="6122813">
                <a:moveTo>
                  <a:pt x="0" y="0"/>
                </a:moveTo>
                <a:lnTo>
                  <a:pt x="6122812" y="0"/>
                </a:lnTo>
                <a:lnTo>
                  <a:pt x="6122812"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0" y="9258300"/>
            <a:ext cx="6122813" cy="890591"/>
          </a:xfrm>
          <a:custGeom>
            <a:avLst/>
            <a:gdLst/>
            <a:ahLst/>
            <a:cxnLst/>
            <a:rect r="r" b="b" t="t" l="l"/>
            <a:pathLst>
              <a:path h="890591" w="6122813">
                <a:moveTo>
                  <a:pt x="6122813" y="0"/>
                </a:moveTo>
                <a:lnTo>
                  <a:pt x="0" y="0"/>
                </a:lnTo>
                <a:lnTo>
                  <a:pt x="0" y="890591"/>
                </a:lnTo>
                <a:lnTo>
                  <a:pt x="6122813" y="890591"/>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363719" y="8256955"/>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1542361">
            <a:off x="15287090" y="9148325"/>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9882651" y="2461082"/>
            <a:ext cx="7376649" cy="5364836"/>
          </a:xfrm>
          <a:custGeom>
            <a:avLst/>
            <a:gdLst/>
            <a:ahLst/>
            <a:cxnLst/>
            <a:rect r="r" b="b" t="t" l="l"/>
            <a:pathLst>
              <a:path h="5364836" w="7376649">
                <a:moveTo>
                  <a:pt x="0" y="0"/>
                </a:moveTo>
                <a:lnTo>
                  <a:pt x="7376649" y="0"/>
                </a:lnTo>
                <a:lnTo>
                  <a:pt x="7376649" y="5364836"/>
                </a:lnTo>
                <a:lnTo>
                  <a:pt x="0" y="5364836"/>
                </a:lnTo>
                <a:lnTo>
                  <a:pt x="0" y="0"/>
                </a:lnTo>
                <a:close/>
              </a:path>
            </a:pathLst>
          </a:custGeom>
          <a:blipFill>
            <a:blip r:embed="rId11"/>
            <a:stretch>
              <a:fillRect l="0" t="0" r="0" b="0"/>
            </a:stretch>
          </a:blipFill>
        </p:spPr>
      </p:sp>
      <p:sp>
        <p:nvSpPr>
          <p:cNvPr name="TextBox 10" id="10"/>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Vật liệu sử dụng trong quang khắc</a:t>
            </a:r>
          </a:p>
        </p:txBody>
      </p:sp>
      <p:sp>
        <p:nvSpPr>
          <p:cNvPr name="TextBox 11" id="11"/>
          <p:cNvSpPr txBox="true"/>
          <p:nvPr/>
        </p:nvSpPr>
        <p:spPr>
          <a:xfrm rot="0">
            <a:off x="841162" y="1559720"/>
            <a:ext cx="8481933" cy="1152350"/>
          </a:xfrm>
          <a:prstGeom prst="rect">
            <a:avLst/>
          </a:prstGeom>
        </p:spPr>
        <p:txBody>
          <a:bodyPr anchor="t" rtlCol="false" tIns="0" lIns="0" bIns="0" rIns="0">
            <a:spAutoFit/>
          </a:bodyPr>
          <a:lstStyle/>
          <a:p>
            <a:pPr algn="l">
              <a:lnSpc>
                <a:spcPts val="4493"/>
              </a:lnSpc>
            </a:pPr>
            <a:r>
              <a:rPr lang="en-US" sz="4493">
                <a:solidFill>
                  <a:srgbClr val="FFFFFF"/>
                </a:solidFill>
                <a:latin typeface="Lato"/>
                <a:ea typeface="Lato"/>
                <a:cs typeface="Lato"/>
                <a:sym typeface="Lato"/>
              </a:rPr>
              <a:t>Mask và Reticle</a:t>
            </a:r>
          </a:p>
          <a:p>
            <a:pPr algn="l">
              <a:lnSpc>
                <a:spcPts val="4493"/>
              </a:lnSpc>
            </a:pPr>
          </a:p>
        </p:txBody>
      </p:sp>
      <p:sp>
        <p:nvSpPr>
          <p:cNvPr name="TextBox 12" id="12"/>
          <p:cNvSpPr txBox="true"/>
          <p:nvPr/>
        </p:nvSpPr>
        <p:spPr>
          <a:xfrm rot="0">
            <a:off x="1157022" y="3016870"/>
            <a:ext cx="7850214" cy="4632398"/>
          </a:xfrm>
          <a:prstGeom prst="rect">
            <a:avLst/>
          </a:prstGeom>
        </p:spPr>
        <p:txBody>
          <a:bodyPr anchor="t" rtlCol="false" tIns="0" lIns="0" bIns="0" rIns="0">
            <a:spAutoFit/>
          </a:bodyPr>
          <a:lstStyle/>
          <a:p>
            <a:pPr algn="l">
              <a:lnSpc>
                <a:spcPts val="2826"/>
              </a:lnSpc>
              <a:spcBef>
                <a:spcPct val="0"/>
              </a:spcBef>
            </a:pPr>
            <a:r>
              <a:rPr lang="en-US" sz="2826">
                <a:solidFill>
                  <a:srgbClr val="FFFFFF"/>
                </a:solidFill>
                <a:latin typeface="Lato"/>
                <a:ea typeface="Lato"/>
                <a:cs typeface="Lato"/>
                <a:sym typeface="Lato"/>
              </a:rPr>
              <a:t>Mặt</a:t>
            </a:r>
            <a:r>
              <a:rPr lang="en-US" sz="2826">
                <a:solidFill>
                  <a:srgbClr val="FFFFFF"/>
                </a:solidFill>
                <a:latin typeface="Lato"/>
                <a:ea typeface="Lato"/>
                <a:cs typeface="Lato"/>
                <a:sym typeface="Lato"/>
              </a:rPr>
              <a:t> nạ quang học Photomask: Khi ánh sáng chiếu qua mặt nạ, hình ảnh thu nhỏ của mạch điện sẽ được in lên bề mặt wafer.</a:t>
            </a:r>
          </a:p>
          <a:p>
            <a:pPr algn="l">
              <a:lnSpc>
                <a:spcPts val="2826"/>
              </a:lnSpc>
              <a:spcBef>
                <a:spcPct val="0"/>
              </a:spcBef>
            </a:pPr>
          </a:p>
          <a:p>
            <a:pPr algn="l">
              <a:lnSpc>
                <a:spcPts val="2826"/>
              </a:lnSpc>
              <a:spcBef>
                <a:spcPct val="0"/>
              </a:spcBef>
            </a:pPr>
            <a:r>
              <a:rPr lang="en-US" sz="2826">
                <a:solidFill>
                  <a:srgbClr val="FFFFFF"/>
                </a:solidFill>
                <a:latin typeface="Lato"/>
                <a:ea typeface="Lato"/>
                <a:cs typeface="Lato"/>
                <a:sym typeface="Lato"/>
              </a:rPr>
              <a:t>Lớp nền: Sử dụng Thạch anh tinh khiết. Ưu điểm là cho ánh sáng UV đi qua</a:t>
            </a:r>
          </a:p>
          <a:p>
            <a:pPr algn="l">
              <a:lnSpc>
                <a:spcPts val="2826"/>
              </a:lnSpc>
              <a:spcBef>
                <a:spcPct val="0"/>
              </a:spcBef>
            </a:pPr>
          </a:p>
          <a:p>
            <a:pPr algn="l">
              <a:lnSpc>
                <a:spcPts val="2826"/>
              </a:lnSpc>
              <a:spcBef>
                <a:spcPct val="0"/>
              </a:spcBef>
            </a:pPr>
            <a:r>
              <a:rPr lang="en-US" sz="2826">
                <a:solidFill>
                  <a:srgbClr val="FFFFFF"/>
                </a:solidFill>
                <a:latin typeface="Lato"/>
                <a:ea typeface="Lato"/>
                <a:cs typeface="Lato"/>
                <a:sym typeface="Lato"/>
              </a:rPr>
              <a:t>Lớp chắn sáng: Một lớp Chrome mỏng được phủ lên trên để ngăn ánh sáng ở những vùng không cần thiết, tạo ra ranh giới sáng/tối </a:t>
            </a:r>
          </a:p>
          <a:p>
            <a:pPr algn="l">
              <a:lnSpc>
                <a:spcPts val="2826"/>
              </a:lnSpc>
              <a:spcBef>
                <a:spcPct val="0"/>
              </a:spcBef>
            </a:pPr>
          </a:p>
          <a:p>
            <a:pPr algn="l">
              <a:lnSpc>
                <a:spcPts val="2826"/>
              </a:lnSpc>
              <a:spcBef>
                <a:spcPct val="0"/>
              </a:spcBef>
            </a:pPr>
          </a:p>
          <a:p>
            <a:pPr algn="l">
              <a:lnSpc>
                <a:spcPts val="2826"/>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06608" y="583405"/>
            <a:ext cx="6122813" cy="890591"/>
          </a:xfrm>
          <a:custGeom>
            <a:avLst/>
            <a:gdLst/>
            <a:ahLst/>
            <a:cxnLst/>
            <a:rect r="r" b="b" t="t" l="l"/>
            <a:pathLst>
              <a:path h="890591" w="6122813">
                <a:moveTo>
                  <a:pt x="0" y="0"/>
                </a:moveTo>
                <a:lnTo>
                  <a:pt x="6122812" y="0"/>
                </a:lnTo>
                <a:lnTo>
                  <a:pt x="6122812"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0" y="9258300"/>
            <a:ext cx="6122813" cy="890591"/>
          </a:xfrm>
          <a:custGeom>
            <a:avLst/>
            <a:gdLst/>
            <a:ahLst/>
            <a:cxnLst/>
            <a:rect r="r" b="b" t="t" l="l"/>
            <a:pathLst>
              <a:path h="890591" w="6122813">
                <a:moveTo>
                  <a:pt x="6122813" y="0"/>
                </a:moveTo>
                <a:lnTo>
                  <a:pt x="0" y="0"/>
                </a:lnTo>
                <a:lnTo>
                  <a:pt x="0" y="890591"/>
                </a:lnTo>
                <a:lnTo>
                  <a:pt x="6122813" y="890591"/>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363719" y="8256955"/>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1542361">
            <a:off x="15287090" y="9148325"/>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9323095" y="3178988"/>
            <a:ext cx="8040623" cy="3372973"/>
          </a:xfrm>
          <a:custGeom>
            <a:avLst/>
            <a:gdLst/>
            <a:ahLst/>
            <a:cxnLst/>
            <a:rect r="r" b="b" t="t" l="l"/>
            <a:pathLst>
              <a:path h="3372973" w="8040623">
                <a:moveTo>
                  <a:pt x="0" y="0"/>
                </a:moveTo>
                <a:lnTo>
                  <a:pt x="8040624" y="0"/>
                </a:lnTo>
                <a:lnTo>
                  <a:pt x="8040624" y="3372974"/>
                </a:lnTo>
                <a:lnTo>
                  <a:pt x="0" y="3372974"/>
                </a:lnTo>
                <a:lnTo>
                  <a:pt x="0" y="0"/>
                </a:lnTo>
                <a:close/>
              </a:path>
            </a:pathLst>
          </a:custGeom>
          <a:blipFill>
            <a:blip r:embed="rId11"/>
            <a:stretch>
              <a:fillRect l="0" t="0" r="0" b="0"/>
            </a:stretch>
          </a:blipFill>
        </p:spPr>
      </p:sp>
      <p:sp>
        <p:nvSpPr>
          <p:cNvPr name="TextBox 10" id="10"/>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Vật liệu sử dụng trong quang khắc</a:t>
            </a:r>
          </a:p>
        </p:txBody>
      </p:sp>
      <p:sp>
        <p:nvSpPr>
          <p:cNvPr name="TextBox 11" id="11"/>
          <p:cNvSpPr txBox="true"/>
          <p:nvPr/>
        </p:nvSpPr>
        <p:spPr>
          <a:xfrm rot="0">
            <a:off x="841162" y="1559720"/>
            <a:ext cx="8481933" cy="1152350"/>
          </a:xfrm>
          <a:prstGeom prst="rect">
            <a:avLst/>
          </a:prstGeom>
        </p:spPr>
        <p:txBody>
          <a:bodyPr anchor="t" rtlCol="false" tIns="0" lIns="0" bIns="0" rIns="0">
            <a:spAutoFit/>
          </a:bodyPr>
          <a:lstStyle/>
          <a:p>
            <a:pPr algn="l">
              <a:lnSpc>
                <a:spcPts val="4493"/>
              </a:lnSpc>
            </a:pPr>
            <a:r>
              <a:rPr lang="en-US" sz="4493">
                <a:solidFill>
                  <a:srgbClr val="FFFFFF"/>
                </a:solidFill>
                <a:latin typeface="Lato"/>
                <a:ea typeface="Lato"/>
                <a:cs typeface="Lato"/>
                <a:sym typeface="Lato"/>
              </a:rPr>
              <a:t>Phân loại Mặt nạ</a:t>
            </a:r>
          </a:p>
          <a:p>
            <a:pPr algn="l">
              <a:lnSpc>
                <a:spcPts val="4493"/>
              </a:lnSpc>
            </a:pPr>
          </a:p>
        </p:txBody>
      </p:sp>
      <p:sp>
        <p:nvSpPr>
          <p:cNvPr name="TextBox 12" id="12"/>
          <p:cNvSpPr txBox="true"/>
          <p:nvPr/>
        </p:nvSpPr>
        <p:spPr>
          <a:xfrm rot="0">
            <a:off x="1157022" y="3016870"/>
            <a:ext cx="7850214" cy="4277920"/>
          </a:xfrm>
          <a:prstGeom prst="rect">
            <a:avLst/>
          </a:prstGeom>
        </p:spPr>
        <p:txBody>
          <a:bodyPr anchor="t" rtlCol="false" tIns="0" lIns="0" bIns="0" rIns="0">
            <a:spAutoFit/>
          </a:bodyPr>
          <a:lstStyle/>
          <a:p>
            <a:pPr algn="l">
              <a:lnSpc>
                <a:spcPts val="2826"/>
              </a:lnSpc>
              <a:spcBef>
                <a:spcPct val="0"/>
              </a:spcBef>
            </a:pPr>
            <a:r>
              <a:rPr lang="en-US" sz="2826">
                <a:solidFill>
                  <a:srgbClr val="FFFFFF"/>
                </a:solidFill>
                <a:latin typeface="Lato"/>
                <a:ea typeface="Lato"/>
                <a:cs typeface="Lato"/>
                <a:sym typeface="Lato"/>
              </a:rPr>
              <a:t>Mặt</a:t>
            </a:r>
            <a:r>
              <a:rPr lang="en-US" sz="2826">
                <a:solidFill>
                  <a:srgbClr val="FFFFFF"/>
                </a:solidFill>
                <a:latin typeface="Lato"/>
                <a:ea typeface="Lato"/>
                <a:cs typeface="Lato"/>
                <a:sym typeface="Lato"/>
              </a:rPr>
              <a:t> nạ Nhị phân: Chỉ có hai trạng thái: Cho ánh sáng qua 100% hoặc cản 100%. Dễ chế tạo, giá rẻ nhưng khi làm mạch siêu nhỏ (dưới 32nm) sẽ bị hiện tượng nhòe biên.</a:t>
            </a:r>
          </a:p>
          <a:p>
            <a:pPr algn="l">
              <a:lnSpc>
                <a:spcPts val="2826"/>
              </a:lnSpc>
              <a:spcBef>
                <a:spcPct val="0"/>
              </a:spcBef>
            </a:pPr>
          </a:p>
          <a:p>
            <a:pPr algn="l">
              <a:lnSpc>
                <a:spcPts val="2826"/>
              </a:lnSpc>
              <a:spcBef>
                <a:spcPct val="0"/>
              </a:spcBef>
            </a:pPr>
          </a:p>
          <a:p>
            <a:pPr algn="l">
              <a:lnSpc>
                <a:spcPts val="2826"/>
              </a:lnSpc>
              <a:spcBef>
                <a:spcPct val="0"/>
              </a:spcBef>
            </a:pPr>
            <a:r>
              <a:rPr lang="en-US" sz="2826">
                <a:solidFill>
                  <a:srgbClr val="FFFFFF"/>
                </a:solidFill>
                <a:latin typeface="Lato"/>
                <a:ea typeface="Lato"/>
                <a:cs typeface="Lato"/>
                <a:sym typeface="Lato"/>
              </a:rPr>
              <a:t>Mặt nạ Dịch pha: Nó không chỉ cản sáng mà còn thay đổi pha của sóng ánh sáng 180 độ. Khi hai luồng sáng ngược pha gặp nhau tại biên giới, chúng sẽ tự triệt tiêu nhau, giúp ranh giới mạch trở nên sắc nét tuyệt đối.</a:t>
            </a:r>
          </a:p>
          <a:p>
            <a:pPr algn="l">
              <a:lnSpc>
                <a:spcPts val="2826"/>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06608" y="583405"/>
            <a:ext cx="6122813" cy="890591"/>
          </a:xfrm>
          <a:custGeom>
            <a:avLst/>
            <a:gdLst/>
            <a:ahLst/>
            <a:cxnLst/>
            <a:rect r="r" b="b" t="t" l="l"/>
            <a:pathLst>
              <a:path h="890591" w="6122813">
                <a:moveTo>
                  <a:pt x="0" y="0"/>
                </a:moveTo>
                <a:lnTo>
                  <a:pt x="6122812" y="0"/>
                </a:lnTo>
                <a:lnTo>
                  <a:pt x="6122812"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0" y="9258300"/>
            <a:ext cx="6122813" cy="890591"/>
          </a:xfrm>
          <a:custGeom>
            <a:avLst/>
            <a:gdLst/>
            <a:ahLst/>
            <a:cxnLst/>
            <a:rect r="r" b="b" t="t" l="l"/>
            <a:pathLst>
              <a:path h="890591" w="6122813">
                <a:moveTo>
                  <a:pt x="6122813" y="0"/>
                </a:moveTo>
                <a:lnTo>
                  <a:pt x="0" y="0"/>
                </a:lnTo>
                <a:lnTo>
                  <a:pt x="0" y="890591"/>
                </a:lnTo>
                <a:lnTo>
                  <a:pt x="6122813" y="890591"/>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363719" y="8256955"/>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1542361">
            <a:off x="15287090" y="9148325"/>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1931108" y="2093033"/>
            <a:ext cx="3699434" cy="7265153"/>
          </a:xfrm>
          <a:custGeom>
            <a:avLst/>
            <a:gdLst/>
            <a:ahLst/>
            <a:cxnLst/>
            <a:rect r="r" b="b" t="t" l="l"/>
            <a:pathLst>
              <a:path h="7265153" w="3699434">
                <a:moveTo>
                  <a:pt x="0" y="0"/>
                </a:moveTo>
                <a:lnTo>
                  <a:pt x="3699434" y="0"/>
                </a:lnTo>
                <a:lnTo>
                  <a:pt x="3699434" y="7265153"/>
                </a:lnTo>
                <a:lnTo>
                  <a:pt x="0" y="7265153"/>
                </a:lnTo>
                <a:lnTo>
                  <a:pt x="0" y="0"/>
                </a:lnTo>
                <a:close/>
              </a:path>
            </a:pathLst>
          </a:custGeom>
          <a:blipFill>
            <a:blip r:embed="rId11"/>
            <a:stretch>
              <a:fillRect l="0" t="0" r="0" b="0"/>
            </a:stretch>
          </a:blipFill>
        </p:spPr>
      </p:sp>
      <p:sp>
        <p:nvSpPr>
          <p:cNvPr name="TextBox 10" id="10"/>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Vật liệu sử dụng trong quang khắc</a:t>
            </a:r>
          </a:p>
        </p:txBody>
      </p:sp>
      <p:sp>
        <p:nvSpPr>
          <p:cNvPr name="TextBox 11" id="11"/>
          <p:cNvSpPr txBox="true"/>
          <p:nvPr/>
        </p:nvSpPr>
        <p:spPr>
          <a:xfrm rot="0">
            <a:off x="841162" y="1559720"/>
            <a:ext cx="8481933" cy="1152350"/>
          </a:xfrm>
          <a:prstGeom prst="rect">
            <a:avLst/>
          </a:prstGeom>
        </p:spPr>
        <p:txBody>
          <a:bodyPr anchor="t" rtlCol="false" tIns="0" lIns="0" bIns="0" rIns="0">
            <a:spAutoFit/>
          </a:bodyPr>
          <a:lstStyle/>
          <a:p>
            <a:pPr algn="l">
              <a:lnSpc>
                <a:spcPts val="4493"/>
              </a:lnSpc>
            </a:pPr>
            <a:r>
              <a:rPr lang="en-US" sz="4493">
                <a:solidFill>
                  <a:srgbClr val="FFFFFF"/>
                </a:solidFill>
                <a:latin typeface="Lato"/>
                <a:ea typeface="Lato"/>
                <a:cs typeface="Lato"/>
                <a:sym typeface="Lato"/>
              </a:rPr>
              <a:t> Hóa chất và Dung môi xử lý</a:t>
            </a:r>
          </a:p>
          <a:p>
            <a:pPr algn="l">
              <a:lnSpc>
                <a:spcPts val="4493"/>
              </a:lnSpc>
            </a:pPr>
          </a:p>
        </p:txBody>
      </p:sp>
      <p:sp>
        <p:nvSpPr>
          <p:cNvPr name="TextBox 12" id="12"/>
          <p:cNvSpPr txBox="true"/>
          <p:nvPr/>
        </p:nvSpPr>
        <p:spPr>
          <a:xfrm rot="0">
            <a:off x="1157022" y="3016870"/>
            <a:ext cx="7850214" cy="4632398"/>
          </a:xfrm>
          <a:prstGeom prst="rect">
            <a:avLst/>
          </a:prstGeom>
        </p:spPr>
        <p:txBody>
          <a:bodyPr anchor="t" rtlCol="false" tIns="0" lIns="0" bIns="0" rIns="0">
            <a:spAutoFit/>
          </a:bodyPr>
          <a:lstStyle/>
          <a:p>
            <a:pPr algn="l">
              <a:lnSpc>
                <a:spcPts val="2826"/>
              </a:lnSpc>
              <a:spcBef>
                <a:spcPct val="0"/>
              </a:spcBef>
            </a:pPr>
            <a:r>
              <a:rPr lang="en-US" sz="2826">
                <a:solidFill>
                  <a:srgbClr val="FFFFFF"/>
                </a:solidFill>
                <a:latin typeface="Lato"/>
                <a:ea typeface="Lato"/>
                <a:cs typeface="Lato"/>
                <a:sym typeface="Lato"/>
              </a:rPr>
              <a:t>Du</a:t>
            </a:r>
            <a:r>
              <a:rPr lang="en-US" sz="2826">
                <a:solidFill>
                  <a:srgbClr val="FFFFFF"/>
                </a:solidFill>
                <a:latin typeface="Lato"/>
                <a:ea typeface="Lato"/>
                <a:cs typeface="Lato"/>
                <a:sym typeface="Lato"/>
              </a:rPr>
              <a:t>ng dịch Developer rửa trôi những phần nhựa PR đã bị biến đổi tính chất sau khi gặp ánh sáng:</a:t>
            </a:r>
          </a:p>
          <a:p>
            <a:pPr algn="l">
              <a:lnSpc>
                <a:spcPts val="2826"/>
              </a:lnSpc>
              <a:spcBef>
                <a:spcPct val="0"/>
              </a:spcBef>
            </a:pPr>
            <a:r>
              <a:rPr lang="en-US" sz="2826">
                <a:solidFill>
                  <a:srgbClr val="FFFFFF"/>
                </a:solidFill>
                <a:latin typeface="Lato"/>
                <a:ea typeface="Lato"/>
                <a:cs typeface="Lato"/>
                <a:sym typeface="Lato"/>
              </a:rPr>
              <a:t> </a:t>
            </a:r>
          </a:p>
          <a:p>
            <a:pPr algn="l">
              <a:lnSpc>
                <a:spcPts val="2826"/>
              </a:lnSpc>
              <a:spcBef>
                <a:spcPct val="0"/>
              </a:spcBef>
            </a:pPr>
            <a:r>
              <a:rPr lang="en-US" sz="2826">
                <a:solidFill>
                  <a:srgbClr val="FFFFFF"/>
                </a:solidFill>
                <a:latin typeface="Lato"/>
                <a:ea typeface="Lato"/>
                <a:cs typeface="Lato"/>
                <a:sym typeface="Lato"/>
              </a:rPr>
              <a:t>+ TMAH: Đặc điểm lớn nhất là không chứa ion kim loại. Các ion kim loại ảnh hưởng đối với transistor</a:t>
            </a:r>
          </a:p>
          <a:p>
            <a:pPr algn="l">
              <a:lnSpc>
                <a:spcPts val="2826"/>
              </a:lnSpc>
              <a:spcBef>
                <a:spcPct val="0"/>
              </a:spcBef>
            </a:pPr>
          </a:p>
          <a:p>
            <a:pPr algn="l">
              <a:lnSpc>
                <a:spcPts val="2826"/>
              </a:lnSpc>
              <a:spcBef>
                <a:spcPct val="0"/>
              </a:spcBef>
            </a:pPr>
            <a:r>
              <a:rPr lang="en-US" sz="2826">
                <a:solidFill>
                  <a:srgbClr val="FFFFFF"/>
                </a:solidFill>
                <a:latin typeface="Lato"/>
                <a:ea typeface="Lato"/>
                <a:cs typeface="Lato"/>
                <a:sym typeface="Lato"/>
              </a:rPr>
              <a:t>+ KOH / NaOH: Chứa ion kim loại nhưng chi phí rẻ hơn. Chỉ dùng cho sản xuất màn hình LCD, MEMS hoặc các linh kiện không quá nhạy cảm</a:t>
            </a:r>
          </a:p>
          <a:p>
            <a:pPr algn="l">
              <a:lnSpc>
                <a:spcPts val="2826"/>
              </a:lnSpc>
              <a:spcBef>
                <a:spcPct val="0"/>
              </a:spcBef>
            </a:pPr>
          </a:p>
          <a:p>
            <a:pPr algn="l">
              <a:lnSpc>
                <a:spcPts val="2826"/>
              </a:lnSpc>
              <a:spcBef>
                <a:spcPct val="0"/>
              </a:spcBef>
            </a:pPr>
          </a:p>
          <a:p>
            <a:pPr algn="l">
              <a:lnSpc>
                <a:spcPts val="2826"/>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06608" y="583405"/>
            <a:ext cx="6122813" cy="890591"/>
          </a:xfrm>
          <a:custGeom>
            <a:avLst/>
            <a:gdLst/>
            <a:ahLst/>
            <a:cxnLst/>
            <a:rect r="r" b="b" t="t" l="l"/>
            <a:pathLst>
              <a:path h="890591" w="6122813">
                <a:moveTo>
                  <a:pt x="0" y="0"/>
                </a:moveTo>
                <a:lnTo>
                  <a:pt x="6122812" y="0"/>
                </a:lnTo>
                <a:lnTo>
                  <a:pt x="6122812"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0" y="9258300"/>
            <a:ext cx="6122813" cy="890591"/>
          </a:xfrm>
          <a:custGeom>
            <a:avLst/>
            <a:gdLst/>
            <a:ahLst/>
            <a:cxnLst/>
            <a:rect r="r" b="b" t="t" l="l"/>
            <a:pathLst>
              <a:path h="890591" w="6122813">
                <a:moveTo>
                  <a:pt x="6122813" y="0"/>
                </a:moveTo>
                <a:lnTo>
                  <a:pt x="0" y="0"/>
                </a:lnTo>
                <a:lnTo>
                  <a:pt x="0" y="890591"/>
                </a:lnTo>
                <a:lnTo>
                  <a:pt x="6122813" y="890591"/>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363719" y="8256955"/>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1542361">
            <a:off x="15287090" y="9148325"/>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9323095" y="4864899"/>
            <a:ext cx="6897060" cy="3793383"/>
          </a:xfrm>
          <a:custGeom>
            <a:avLst/>
            <a:gdLst/>
            <a:ahLst/>
            <a:cxnLst/>
            <a:rect r="r" b="b" t="t" l="l"/>
            <a:pathLst>
              <a:path h="3793383" w="6897060">
                <a:moveTo>
                  <a:pt x="0" y="0"/>
                </a:moveTo>
                <a:lnTo>
                  <a:pt x="6897060" y="0"/>
                </a:lnTo>
                <a:lnTo>
                  <a:pt x="6897060" y="3793383"/>
                </a:lnTo>
                <a:lnTo>
                  <a:pt x="0" y="3793383"/>
                </a:lnTo>
                <a:lnTo>
                  <a:pt x="0" y="0"/>
                </a:lnTo>
                <a:close/>
              </a:path>
            </a:pathLst>
          </a:custGeom>
          <a:blipFill>
            <a:blip r:embed="rId11"/>
            <a:stretch>
              <a:fillRect l="0" t="0" r="0" b="0"/>
            </a:stretch>
          </a:blipFill>
        </p:spPr>
      </p:sp>
      <p:sp>
        <p:nvSpPr>
          <p:cNvPr name="Freeform 10" id="10"/>
          <p:cNvSpPr/>
          <p:nvPr/>
        </p:nvSpPr>
        <p:spPr>
          <a:xfrm flipH="false" flipV="false" rot="0">
            <a:off x="10885090" y="1993947"/>
            <a:ext cx="3006334" cy="2697867"/>
          </a:xfrm>
          <a:custGeom>
            <a:avLst/>
            <a:gdLst/>
            <a:ahLst/>
            <a:cxnLst/>
            <a:rect r="r" b="b" t="t" l="l"/>
            <a:pathLst>
              <a:path h="2697867" w="3006334">
                <a:moveTo>
                  <a:pt x="0" y="0"/>
                </a:moveTo>
                <a:lnTo>
                  <a:pt x="3006335" y="0"/>
                </a:lnTo>
                <a:lnTo>
                  <a:pt x="3006335" y="2697867"/>
                </a:lnTo>
                <a:lnTo>
                  <a:pt x="0" y="2697867"/>
                </a:lnTo>
                <a:lnTo>
                  <a:pt x="0" y="0"/>
                </a:lnTo>
                <a:close/>
              </a:path>
            </a:pathLst>
          </a:custGeom>
          <a:blipFill>
            <a:blip r:embed="rId12"/>
            <a:stretch>
              <a:fillRect l="0" t="-11433" r="0" b="0"/>
            </a:stretch>
          </a:blipFill>
        </p:spPr>
      </p:sp>
      <p:sp>
        <p:nvSpPr>
          <p:cNvPr name="TextBox 11" id="11"/>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Vật liệu sử dụng trong quang khắc</a:t>
            </a:r>
          </a:p>
        </p:txBody>
      </p:sp>
      <p:sp>
        <p:nvSpPr>
          <p:cNvPr name="TextBox 12" id="12"/>
          <p:cNvSpPr txBox="true"/>
          <p:nvPr/>
        </p:nvSpPr>
        <p:spPr>
          <a:xfrm rot="0">
            <a:off x="841162" y="1559720"/>
            <a:ext cx="8481933" cy="1152350"/>
          </a:xfrm>
          <a:prstGeom prst="rect">
            <a:avLst/>
          </a:prstGeom>
        </p:spPr>
        <p:txBody>
          <a:bodyPr anchor="t" rtlCol="false" tIns="0" lIns="0" bIns="0" rIns="0">
            <a:spAutoFit/>
          </a:bodyPr>
          <a:lstStyle/>
          <a:p>
            <a:pPr algn="l">
              <a:lnSpc>
                <a:spcPts val="4493"/>
              </a:lnSpc>
            </a:pPr>
            <a:r>
              <a:rPr lang="en-US" sz="4493">
                <a:solidFill>
                  <a:srgbClr val="FFFFFF"/>
                </a:solidFill>
                <a:latin typeface="Lato"/>
                <a:ea typeface="Lato"/>
                <a:cs typeface="Lato"/>
                <a:sym typeface="Lato"/>
              </a:rPr>
              <a:t> Hóa chất và Dung môi xử lý</a:t>
            </a:r>
          </a:p>
          <a:p>
            <a:pPr algn="l">
              <a:lnSpc>
                <a:spcPts val="4493"/>
              </a:lnSpc>
            </a:pPr>
          </a:p>
        </p:txBody>
      </p:sp>
      <p:sp>
        <p:nvSpPr>
          <p:cNvPr name="TextBox 13" id="13"/>
          <p:cNvSpPr txBox="true"/>
          <p:nvPr/>
        </p:nvSpPr>
        <p:spPr>
          <a:xfrm rot="0">
            <a:off x="1028700" y="2931145"/>
            <a:ext cx="7850214" cy="3568963"/>
          </a:xfrm>
          <a:prstGeom prst="rect">
            <a:avLst/>
          </a:prstGeom>
        </p:spPr>
        <p:txBody>
          <a:bodyPr anchor="t" rtlCol="false" tIns="0" lIns="0" bIns="0" rIns="0">
            <a:spAutoFit/>
          </a:bodyPr>
          <a:lstStyle/>
          <a:p>
            <a:pPr algn="l">
              <a:lnSpc>
                <a:spcPts val="2826"/>
              </a:lnSpc>
              <a:spcBef>
                <a:spcPct val="0"/>
              </a:spcBef>
            </a:pPr>
            <a:r>
              <a:rPr lang="en-US" sz="2826">
                <a:solidFill>
                  <a:srgbClr val="FFFFFF"/>
                </a:solidFill>
                <a:latin typeface="Lato"/>
                <a:ea typeface="Lato"/>
                <a:cs typeface="Lato"/>
                <a:sym typeface="Lato"/>
              </a:rPr>
              <a:t>Du</a:t>
            </a:r>
            <a:r>
              <a:rPr lang="en-US" sz="2826">
                <a:solidFill>
                  <a:srgbClr val="FFFFFF"/>
                </a:solidFill>
                <a:latin typeface="Lato"/>
                <a:ea typeface="Lato"/>
                <a:cs typeface="Lato"/>
                <a:sym typeface="Lato"/>
              </a:rPr>
              <a:t>ng môi tẩy bỏ và Làm sạch</a:t>
            </a:r>
          </a:p>
          <a:p>
            <a:pPr algn="l">
              <a:lnSpc>
                <a:spcPts val="2826"/>
              </a:lnSpc>
              <a:spcBef>
                <a:spcPct val="0"/>
              </a:spcBef>
            </a:pPr>
          </a:p>
          <a:p>
            <a:pPr algn="l">
              <a:lnSpc>
                <a:spcPts val="2826"/>
              </a:lnSpc>
              <a:spcBef>
                <a:spcPct val="0"/>
              </a:spcBef>
            </a:pPr>
            <a:r>
              <a:rPr lang="en-US" sz="2826">
                <a:solidFill>
                  <a:srgbClr val="FFFFFF"/>
                </a:solidFill>
                <a:latin typeface="Lato"/>
                <a:ea typeface="Lato"/>
                <a:cs typeface="Lato"/>
                <a:sym typeface="Lato"/>
              </a:rPr>
              <a:t>+ DMSO: Dung môi an toàn, thân thiện môi trường thay thế cho NMP. Khi đun nóng, nó làm phồng và tách lớp PR ra khỏi wafer</a:t>
            </a:r>
          </a:p>
          <a:p>
            <a:pPr algn="l">
              <a:lnSpc>
                <a:spcPts val="2826"/>
              </a:lnSpc>
              <a:spcBef>
                <a:spcPct val="0"/>
              </a:spcBef>
            </a:pPr>
          </a:p>
          <a:p>
            <a:pPr algn="l">
              <a:lnSpc>
                <a:spcPts val="2826"/>
              </a:lnSpc>
              <a:spcBef>
                <a:spcPct val="0"/>
              </a:spcBef>
            </a:pPr>
            <a:r>
              <a:rPr lang="en-US" sz="2826">
                <a:solidFill>
                  <a:srgbClr val="FFFFFF"/>
                </a:solidFill>
                <a:latin typeface="Lato"/>
                <a:ea typeface="Lato"/>
                <a:cs typeface="Lato"/>
                <a:sym typeface="Lato"/>
              </a:rPr>
              <a:t>+ Plasma Ashing: Wafer được đưa vào buồng chân không, dùng tia plasma oxy biến lớp nhựa thành khí và hút ra ngoài</a:t>
            </a:r>
          </a:p>
          <a:p>
            <a:pPr algn="l">
              <a:lnSpc>
                <a:spcPts val="2826"/>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06608" y="583405"/>
            <a:ext cx="6122813" cy="890591"/>
          </a:xfrm>
          <a:custGeom>
            <a:avLst/>
            <a:gdLst/>
            <a:ahLst/>
            <a:cxnLst/>
            <a:rect r="r" b="b" t="t" l="l"/>
            <a:pathLst>
              <a:path h="890591" w="6122813">
                <a:moveTo>
                  <a:pt x="0" y="0"/>
                </a:moveTo>
                <a:lnTo>
                  <a:pt x="6122812" y="0"/>
                </a:lnTo>
                <a:lnTo>
                  <a:pt x="6122812"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0" y="9258300"/>
            <a:ext cx="6122813" cy="890591"/>
          </a:xfrm>
          <a:custGeom>
            <a:avLst/>
            <a:gdLst/>
            <a:ahLst/>
            <a:cxnLst/>
            <a:rect r="r" b="b" t="t" l="l"/>
            <a:pathLst>
              <a:path h="890591" w="6122813">
                <a:moveTo>
                  <a:pt x="6122813" y="0"/>
                </a:moveTo>
                <a:lnTo>
                  <a:pt x="0" y="0"/>
                </a:lnTo>
                <a:lnTo>
                  <a:pt x="0" y="890591"/>
                </a:lnTo>
                <a:lnTo>
                  <a:pt x="6122813" y="890591"/>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3115689" y="1683545"/>
            <a:ext cx="11634874" cy="878293"/>
          </a:xfrm>
          <a:prstGeom prst="rect">
            <a:avLst/>
          </a:prstGeom>
        </p:spPr>
        <p:txBody>
          <a:bodyPr anchor="t" rtlCol="false" tIns="0" lIns="0" bIns="0" rIns="0">
            <a:spAutoFit/>
          </a:bodyPr>
          <a:lstStyle/>
          <a:p>
            <a:pPr algn="ctr">
              <a:lnSpc>
                <a:spcPts val="6362"/>
              </a:lnSpc>
            </a:pPr>
            <a:r>
              <a:rPr lang="en-US" b="true" sz="7148">
                <a:solidFill>
                  <a:srgbClr val="FFFFFF"/>
                </a:solidFill>
                <a:latin typeface="Lato Heavy"/>
                <a:ea typeface="Lato Heavy"/>
                <a:cs typeface="Lato Heavy"/>
                <a:sym typeface="Lato Heavy"/>
              </a:rPr>
              <a:t>QUÁ TRÌNH QUANG KHẮC</a:t>
            </a:r>
          </a:p>
        </p:txBody>
      </p:sp>
      <p:sp>
        <p:nvSpPr>
          <p:cNvPr name="AutoShape 7" id="7"/>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8" id="8"/>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1542361">
            <a:off x="15287090" y="9148325"/>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3638484" y="2853803"/>
            <a:ext cx="10589283" cy="6507212"/>
          </a:xfrm>
          <a:custGeom>
            <a:avLst/>
            <a:gdLst/>
            <a:ahLst/>
            <a:cxnLst/>
            <a:rect r="r" b="b" t="t" l="l"/>
            <a:pathLst>
              <a:path h="6507212" w="10589283">
                <a:moveTo>
                  <a:pt x="0" y="0"/>
                </a:moveTo>
                <a:lnTo>
                  <a:pt x="10589283" y="0"/>
                </a:lnTo>
                <a:lnTo>
                  <a:pt x="10589283" y="6507212"/>
                </a:lnTo>
                <a:lnTo>
                  <a:pt x="0" y="6507212"/>
                </a:lnTo>
                <a:lnTo>
                  <a:pt x="0" y="0"/>
                </a:lnTo>
                <a:close/>
              </a:path>
            </a:pathLst>
          </a:custGeom>
          <a:blipFill>
            <a:blip r:embed="rId13"/>
            <a:stretch>
              <a:fillRect l="0" t="0" r="0" b="0"/>
            </a:stretch>
          </a:blipFill>
        </p:spPr>
      </p:sp>
      <p:sp>
        <p:nvSpPr>
          <p:cNvPr name="TextBox 12" id="12"/>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Quy trình quang khắc chi tiết</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597317" y="600079"/>
            <a:ext cx="6122813" cy="890591"/>
          </a:xfrm>
          <a:custGeom>
            <a:avLst/>
            <a:gdLst/>
            <a:ahLst/>
            <a:cxnLst/>
            <a:rect r="r" b="b" t="t" l="l"/>
            <a:pathLst>
              <a:path h="890591" w="6122813">
                <a:moveTo>
                  <a:pt x="0" y="0"/>
                </a:moveTo>
                <a:lnTo>
                  <a:pt x="6122812" y="0"/>
                </a:lnTo>
                <a:lnTo>
                  <a:pt x="6122812"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259300" y="9068186"/>
            <a:ext cx="921659" cy="889819"/>
          </a:xfrm>
          <a:custGeom>
            <a:avLst/>
            <a:gdLst/>
            <a:ahLst/>
            <a:cxnLst/>
            <a:rect r="r" b="b" t="t" l="l"/>
            <a:pathLst>
              <a:path h="889819" w="921659">
                <a:moveTo>
                  <a:pt x="0" y="0"/>
                </a:moveTo>
                <a:lnTo>
                  <a:pt x="921659" y="0"/>
                </a:lnTo>
                <a:lnTo>
                  <a:pt x="921659"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577296" y="1889785"/>
            <a:ext cx="10410498" cy="520839"/>
          </a:xfrm>
          <a:prstGeom prst="rect">
            <a:avLst/>
          </a:prstGeom>
        </p:spPr>
        <p:txBody>
          <a:bodyPr anchor="t" rtlCol="false" tIns="0" lIns="0" bIns="0" rIns="0">
            <a:spAutoFit/>
          </a:bodyPr>
          <a:lstStyle/>
          <a:p>
            <a:pPr algn="l">
              <a:lnSpc>
                <a:spcPts val="3807"/>
              </a:lnSpc>
            </a:pPr>
            <a:r>
              <a:rPr lang="en-US" b="true" sz="4277">
                <a:solidFill>
                  <a:srgbClr val="FFFFFF"/>
                </a:solidFill>
                <a:latin typeface="Lato Bold"/>
                <a:ea typeface="Lato Bold"/>
                <a:cs typeface="Lato Bold"/>
                <a:sym typeface="Lato Bold"/>
              </a:rPr>
              <a:t> LÀM SẠCH WAFER (WAFER CLEANING)</a:t>
            </a:r>
          </a:p>
        </p:txBody>
      </p:sp>
      <p:sp>
        <p:nvSpPr>
          <p:cNvPr name="AutoShape 7" id="7"/>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8" id="8"/>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1542361">
            <a:off x="6499421" y="490103"/>
            <a:ext cx="1015641" cy="1110541"/>
          </a:xfrm>
          <a:custGeom>
            <a:avLst/>
            <a:gdLst/>
            <a:ahLst/>
            <a:cxnLst/>
            <a:rect r="r" b="b" t="t" l="l"/>
            <a:pathLst>
              <a:path h="1110541" w="1015641">
                <a:moveTo>
                  <a:pt x="0" y="0"/>
                </a:moveTo>
                <a:lnTo>
                  <a:pt x="1015640" y="0"/>
                </a:lnTo>
                <a:lnTo>
                  <a:pt x="1015640" y="1110542"/>
                </a:lnTo>
                <a:lnTo>
                  <a:pt x="0" y="11105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0346541" y="476120"/>
            <a:ext cx="1148953" cy="1138508"/>
          </a:xfrm>
          <a:custGeom>
            <a:avLst/>
            <a:gdLst/>
            <a:ahLst/>
            <a:cxnLst/>
            <a:rect r="r" b="b" t="t" l="l"/>
            <a:pathLst>
              <a:path h="1138508" w="1148953">
                <a:moveTo>
                  <a:pt x="0" y="0"/>
                </a:moveTo>
                <a:lnTo>
                  <a:pt x="1148952" y="0"/>
                </a:lnTo>
                <a:lnTo>
                  <a:pt x="1148952" y="1138508"/>
                </a:lnTo>
                <a:lnTo>
                  <a:pt x="0" y="11385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1" id="11"/>
          <p:cNvSpPr txBox="true"/>
          <p:nvPr/>
        </p:nvSpPr>
        <p:spPr>
          <a:xfrm rot="0">
            <a:off x="577296" y="2514147"/>
            <a:ext cx="10540560" cy="6668860"/>
          </a:xfrm>
          <a:prstGeom prst="rect">
            <a:avLst/>
          </a:prstGeom>
        </p:spPr>
        <p:txBody>
          <a:bodyPr anchor="t" rtlCol="false" tIns="0" lIns="0" bIns="0" rIns="0">
            <a:spAutoFit/>
          </a:bodyPr>
          <a:lstStyle/>
          <a:p>
            <a:pPr algn="l">
              <a:lnSpc>
                <a:spcPts val="4808"/>
              </a:lnSpc>
            </a:pPr>
            <a:r>
              <a:rPr lang="en-US" b="true" sz="2828">
                <a:solidFill>
                  <a:srgbClr val="FFFFFF"/>
                </a:solidFill>
                <a:latin typeface="Lato Bold"/>
                <a:ea typeface="Lato Bold"/>
                <a:cs typeface="Lato Bold"/>
                <a:sym typeface="Lato Bold"/>
              </a:rPr>
              <a:t>WAFER SILICON ĐƯỢC LÀM SẠCH NHẰM LOẠI BỎ:</a:t>
            </a:r>
            <a:r>
              <a:rPr lang="en-US" sz="2828" b="true">
                <a:solidFill>
                  <a:srgbClr val="FFFFFF"/>
                </a:solidFill>
                <a:latin typeface="Lato Bold"/>
                <a:ea typeface="Lato Bold"/>
                <a:cs typeface="Lato Bold"/>
                <a:sym typeface="Lato Bold"/>
              </a:rPr>
              <a:t> </a:t>
            </a:r>
          </a:p>
          <a:p>
            <a:pPr algn="l" marL="610690" indent="-305345" lvl="1">
              <a:lnSpc>
                <a:spcPts val="4808"/>
              </a:lnSpc>
              <a:buFont typeface="Arial"/>
              <a:buChar char="•"/>
            </a:pPr>
            <a:r>
              <a:rPr lang="en-US" b="true" sz="2828">
                <a:solidFill>
                  <a:srgbClr val="FFFFFF"/>
                </a:solidFill>
                <a:latin typeface="Lato Bold"/>
                <a:ea typeface="Lato Bold"/>
                <a:cs typeface="Lato Bold"/>
                <a:sym typeface="Lato Bold"/>
              </a:rPr>
              <a:t>H</a:t>
            </a:r>
            <a:r>
              <a:rPr lang="en-US" b="true" sz="2828">
                <a:solidFill>
                  <a:srgbClr val="FFFFFF"/>
                </a:solidFill>
                <a:latin typeface="Lato Bold"/>
                <a:ea typeface="Lato Bold"/>
                <a:cs typeface="Lato Bold"/>
                <a:sym typeface="Lato Bold"/>
              </a:rPr>
              <a:t>ạt bụi (particles) </a:t>
            </a:r>
          </a:p>
          <a:p>
            <a:pPr algn="l" marL="610690" indent="-305345" lvl="1">
              <a:lnSpc>
                <a:spcPts val="4808"/>
              </a:lnSpc>
              <a:buFont typeface="Arial"/>
              <a:buChar char="•"/>
            </a:pPr>
            <a:r>
              <a:rPr lang="en-US" b="true" sz="2828">
                <a:solidFill>
                  <a:srgbClr val="FFFFFF"/>
                </a:solidFill>
                <a:latin typeface="Lato Bold"/>
                <a:ea typeface="Lato Bold"/>
                <a:cs typeface="Lato Bold"/>
                <a:sym typeface="Lato Bold"/>
              </a:rPr>
              <a:t>T</a:t>
            </a:r>
            <a:r>
              <a:rPr lang="en-US" b="true" sz="2828">
                <a:solidFill>
                  <a:srgbClr val="FFFFFF"/>
                </a:solidFill>
                <a:latin typeface="Lato Bold"/>
                <a:ea typeface="Lato Bold"/>
                <a:cs typeface="Lato Bold"/>
                <a:sym typeface="Lato Bold"/>
              </a:rPr>
              <a:t>ạp chất hữu cơ </a:t>
            </a:r>
          </a:p>
          <a:p>
            <a:pPr algn="l" marL="610690" indent="-305345" lvl="1">
              <a:lnSpc>
                <a:spcPts val="4808"/>
              </a:lnSpc>
              <a:buFont typeface="Arial"/>
              <a:buChar char="•"/>
            </a:pPr>
            <a:r>
              <a:rPr lang="en-US" b="true" sz="2828">
                <a:solidFill>
                  <a:srgbClr val="FFFFFF"/>
                </a:solidFill>
                <a:latin typeface="Lato Bold"/>
                <a:ea typeface="Lato Bold"/>
                <a:cs typeface="Lato Bold"/>
                <a:sym typeface="Lato Bold"/>
              </a:rPr>
              <a:t>I</a:t>
            </a:r>
            <a:r>
              <a:rPr lang="en-US" b="true" sz="2828">
                <a:solidFill>
                  <a:srgbClr val="FFFFFF"/>
                </a:solidFill>
                <a:latin typeface="Lato Bold"/>
                <a:ea typeface="Lato Bold"/>
                <a:cs typeface="Lato Bold"/>
                <a:sym typeface="Lato Bold"/>
              </a:rPr>
              <a:t>on kim loại </a:t>
            </a:r>
          </a:p>
          <a:p>
            <a:pPr algn="l">
              <a:lnSpc>
                <a:spcPts val="4808"/>
              </a:lnSpc>
            </a:pPr>
            <a:r>
              <a:rPr lang="en-US" sz="2828" b="true">
                <a:solidFill>
                  <a:srgbClr val="FFFFFF"/>
                </a:solidFill>
                <a:latin typeface="Lato Bold"/>
                <a:ea typeface="Lato Bold"/>
                <a:cs typeface="Lato Bold"/>
                <a:sym typeface="Lato Bold"/>
              </a:rPr>
              <a:t>Phương pháp phổ biến: àm sạch hóa học (RCA cleaning): sử dụng dung dịch H₂SO₄, H₂O₂, NH₄OH </a:t>
            </a:r>
          </a:p>
          <a:p>
            <a:pPr algn="l">
              <a:lnSpc>
                <a:spcPts val="4808"/>
              </a:lnSpc>
            </a:pPr>
            <a:r>
              <a:rPr lang="en-US" sz="2828" b="true">
                <a:solidFill>
                  <a:srgbClr val="FFFFFF"/>
                </a:solidFill>
                <a:latin typeface="Lato Bold"/>
                <a:ea typeface="Lato Bold"/>
                <a:cs typeface="Lato Bold"/>
                <a:sym typeface="Lato Bold"/>
              </a:rPr>
              <a:t>Mục đích: </a:t>
            </a:r>
          </a:p>
          <a:p>
            <a:pPr algn="l" marL="610690" indent="-305345" lvl="1">
              <a:lnSpc>
                <a:spcPts val="4808"/>
              </a:lnSpc>
              <a:buFont typeface="Arial"/>
              <a:buChar char="•"/>
            </a:pPr>
            <a:r>
              <a:rPr lang="en-US" b="true" sz="2828">
                <a:solidFill>
                  <a:srgbClr val="FFFFFF"/>
                </a:solidFill>
                <a:latin typeface="Lato Bold"/>
                <a:ea typeface="Lato Bold"/>
                <a:cs typeface="Lato Bold"/>
                <a:sym typeface="Lato Bold"/>
              </a:rPr>
              <a:t>Đ</a:t>
            </a:r>
            <a:r>
              <a:rPr lang="en-US" b="true" sz="2828">
                <a:solidFill>
                  <a:srgbClr val="FFFFFF"/>
                </a:solidFill>
                <a:latin typeface="Lato Bold"/>
                <a:ea typeface="Lato Bold"/>
                <a:cs typeface="Lato Bold"/>
                <a:sym typeface="Lato Bold"/>
              </a:rPr>
              <a:t>ảm bảo độ bám dính tốt của lớp photoresist </a:t>
            </a:r>
          </a:p>
          <a:p>
            <a:pPr algn="l" marL="610690" indent="-305345" lvl="1">
              <a:lnSpc>
                <a:spcPts val="4808"/>
              </a:lnSpc>
              <a:buFont typeface="Arial"/>
              <a:buChar char="•"/>
            </a:pPr>
            <a:r>
              <a:rPr lang="en-US" b="true" sz="2828">
                <a:solidFill>
                  <a:srgbClr val="FFFFFF"/>
                </a:solidFill>
                <a:latin typeface="Lato Bold"/>
                <a:ea typeface="Lato Bold"/>
                <a:cs typeface="Lato Bold"/>
                <a:sym typeface="Lato Bold"/>
              </a:rPr>
              <a:t>T</a:t>
            </a:r>
            <a:r>
              <a:rPr lang="en-US" b="true" sz="2828">
                <a:solidFill>
                  <a:srgbClr val="FFFFFF"/>
                </a:solidFill>
                <a:latin typeface="Lato Bold"/>
                <a:ea typeface="Lato Bold"/>
                <a:cs typeface="Lato Bold"/>
                <a:sym typeface="Lato Bold"/>
              </a:rPr>
              <a:t>ránh lỗi khuyết tật trong quá trình quang khắc </a:t>
            </a:r>
          </a:p>
          <a:p>
            <a:pPr algn="l">
              <a:lnSpc>
                <a:spcPts val="4808"/>
              </a:lnSpc>
            </a:pPr>
          </a:p>
        </p:txBody>
      </p:sp>
      <p:sp>
        <p:nvSpPr>
          <p:cNvPr name="Freeform 12" id="12"/>
          <p:cNvSpPr/>
          <p:nvPr/>
        </p:nvSpPr>
        <p:spPr>
          <a:xfrm flipH="false" flipV="false" rot="0">
            <a:off x="10826711" y="2755080"/>
            <a:ext cx="6901987" cy="5278397"/>
          </a:xfrm>
          <a:custGeom>
            <a:avLst/>
            <a:gdLst/>
            <a:ahLst/>
            <a:cxnLst/>
            <a:rect r="r" b="b" t="t" l="l"/>
            <a:pathLst>
              <a:path h="5278397" w="6901987">
                <a:moveTo>
                  <a:pt x="0" y="0"/>
                </a:moveTo>
                <a:lnTo>
                  <a:pt x="6901987" y="0"/>
                </a:lnTo>
                <a:lnTo>
                  <a:pt x="6901987" y="5278396"/>
                </a:lnTo>
                <a:lnTo>
                  <a:pt x="0" y="5278396"/>
                </a:lnTo>
                <a:lnTo>
                  <a:pt x="0" y="0"/>
                </a:lnTo>
                <a:close/>
              </a:path>
            </a:pathLst>
          </a:custGeom>
          <a:blipFill>
            <a:blip r:embed="rId13"/>
            <a:stretch>
              <a:fillRect l="-2904" t="0" r="-2904" b="0"/>
            </a:stretch>
          </a:blipFill>
        </p:spPr>
      </p:sp>
      <p:sp>
        <p:nvSpPr>
          <p:cNvPr name="AutoShape 13" id="13"/>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TextBox 14" id="14"/>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Quy trình quang khắc chi tiết</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576988" y="583405"/>
            <a:ext cx="6122813" cy="890591"/>
          </a:xfrm>
          <a:custGeom>
            <a:avLst/>
            <a:gdLst/>
            <a:ahLst/>
            <a:cxnLst/>
            <a:rect r="r" b="b" t="t" l="l"/>
            <a:pathLst>
              <a:path h="890591" w="6122813">
                <a:moveTo>
                  <a:pt x="0" y="0"/>
                </a:moveTo>
                <a:lnTo>
                  <a:pt x="6122812" y="0"/>
                </a:lnTo>
                <a:lnTo>
                  <a:pt x="6122812"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111600" y="1298119"/>
            <a:ext cx="1176400" cy="1135760"/>
          </a:xfrm>
          <a:custGeom>
            <a:avLst/>
            <a:gdLst/>
            <a:ahLst/>
            <a:cxnLst/>
            <a:rect r="r" b="b" t="t" l="l"/>
            <a:pathLst>
              <a:path h="1135760" w="1176400">
                <a:moveTo>
                  <a:pt x="0" y="0"/>
                </a:moveTo>
                <a:lnTo>
                  <a:pt x="1176400" y="0"/>
                </a:lnTo>
                <a:lnTo>
                  <a:pt x="1176400" y="1135760"/>
                </a:lnTo>
                <a:lnTo>
                  <a:pt x="0" y="11357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7103613" y="9258300"/>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71051" y="2353640"/>
            <a:ext cx="12671765" cy="520839"/>
          </a:xfrm>
          <a:prstGeom prst="rect">
            <a:avLst/>
          </a:prstGeom>
        </p:spPr>
        <p:txBody>
          <a:bodyPr anchor="t" rtlCol="false" tIns="0" lIns="0" bIns="0" rIns="0">
            <a:spAutoFit/>
          </a:bodyPr>
          <a:lstStyle/>
          <a:p>
            <a:pPr algn="l">
              <a:lnSpc>
                <a:spcPts val="3807"/>
              </a:lnSpc>
            </a:pPr>
            <a:r>
              <a:rPr lang="en-US" b="true" sz="4277">
                <a:solidFill>
                  <a:srgbClr val="FFFFFF"/>
                </a:solidFill>
                <a:latin typeface="Lato Bold"/>
                <a:ea typeface="Lato Bold"/>
                <a:cs typeface="Lato Bold"/>
                <a:sym typeface="Lato Bold"/>
              </a:rPr>
              <a:t>PHỦ LỚP NHẠY SÁNG (PHOTORESIST COATING) </a:t>
            </a:r>
          </a:p>
        </p:txBody>
      </p:sp>
      <p:sp>
        <p:nvSpPr>
          <p:cNvPr name="AutoShape 8" id="8"/>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9" id="9"/>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1542361">
            <a:off x="6499421" y="380339"/>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189447" y="7674497"/>
            <a:ext cx="1148953" cy="1138508"/>
          </a:xfrm>
          <a:custGeom>
            <a:avLst/>
            <a:gdLst/>
            <a:ahLst/>
            <a:cxnLst/>
            <a:rect r="r" b="b" t="t" l="l"/>
            <a:pathLst>
              <a:path h="1138508" w="1148953">
                <a:moveTo>
                  <a:pt x="0" y="0"/>
                </a:moveTo>
                <a:lnTo>
                  <a:pt x="1148953" y="0"/>
                </a:lnTo>
                <a:lnTo>
                  <a:pt x="1148953" y="1138508"/>
                </a:lnTo>
                <a:lnTo>
                  <a:pt x="0" y="11385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10346541" y="3169754"/>
            <a:ext cx="7592442" cy="5352671"/>
          </a:xfrm>
          <a:custGeom>
            <a:avLst/>
            <a:gdLst/>
            <a:ahLst/>
            <a:cxnLst/>
            <a:rect r="r" b="b" t="t" l="l"/>
            <a:pathLst>
              <a:path h="5352671" w="7592442">
                <a:moveTo>
                  <a:pt x="0" y="0"/>
                </a:moveTo>
                <a:lnTo>
                  <a:pt x="7592441" y="0"/>
                </a:lnTo>
                <a:lnTo>
                  <a:pt x="7592441" y="5352671"/>
                </a:lnTo>
                <a:lnTo>
                  <a:pt x="0" y="5352671"/>
                </a:lnTo>
                <a:lnTo>
                  <a:pt x="0" y="0"/>
                </a:lnTo>
                <a:close/>
              </a:path>
            </a:pathLst>
          </a:custGeom>
          <a:blipFill>
            <a:blip r:embed="rId13"/>
            <a:stretch>
              <a:fillRect l="0" t="0" r="0" b="0"/>
            </a:stretch>
          </a:blipFill>
        </p:spPr>
      </p:sp>
      <p:sp>
        <p:nvSpPr>
          <p:cNvPr name="TextBox 13" id="13"/>
          <p:cNvSpPr txBox="true"/>
          <p:nvPr/>
        </p:nvSpPr>
        <p:spPr>
          <a:xfrm rot="0">
            <a:off x="371051" y="3156261"/>
            <a:ext cx="10519535" cy="3445632"/>
          </a:xfrm>
          <a:prstGeom prst="rect">
            <a:avLst/>
          </a:prstGeom>
        </p:spPr>
        <p:txBody>
          <a:bodyPr anchor="t" rtlCol="false" tIns="0" lIns="0" bIns="0" rIns="0">
            <a:spAutoFit/>
          </a:bodyPr>
          <a:lstStyle/>
          <a:p>
            <a:pPr algn="l">
              <a:lnSpc>
                <a:spcPts val="3952"/>
              </a:lnSpc>
            </a:pPr>
            <a:r>
              <a:rPr lang="en-US" sz="2822" b="true">
                <a:solidFill>
                  <a:srgbClr val="FFFFFF"/>
                </a:solidFill>
                <a:latin typeface="Lato Bold"/>
                <a:ea typeface="Lato Bold"/>
                <a:cs typeface="Lato Bold"/>
                <a:sym typeface="Lato Bold"/>
              </a:rPr>
              <a:t>MỘT LỚP PHOTORESIST ĐƯỢC PHỦ LÊN WAFER BẰNG PHƯƠNG PHÁP SPIN COATING: </a:t>
            </a:r>
          </a:p>
          <a:p>
            <a:pPr algn="l" marL="609472" indent="-304736" lvl="1">
              <a:lnSpc>
                <a:spcPts val="3952"/>
              </a:lnSpc>
              <a:buFont typeface="Arial"/>
              <a:buChar char="•"/>
            </a:pPr>
            <a:r>
              <a:rPr lang="en-US" sz="2822">
                <a:solidFill>
                  <a:srgbClr val="FFFFFF"/>
                </a:solidFill>
                <a:latin typeface="Lato"/>
                <a:ea typeface="Lato"/>
                <a:cs typeface="Lato"/>
                <a:sym typeface="Lato"/>
              </a:rPr>
              <a:t>W</a:t>
            </a:r>
            <a:r>
              <a:rPr lang="en-US" b="true" sz="2822">
                <a:solidFill>
                  <a:srgbClr val="FFFFFF"/>
                </a:solidFill>
                <a:latin typeface="Lato Bold"/>
                <a:ea typeface="Lato Bold"/>
                <a:cs typeface="Lato Bold"/>
                <a:sym typeface="Lato Bold"/>
              </a:rPr>
              <a:t>afer quay với tốc độ cao (1000–5000 rpm) </a:t>
            </a:r>
          </a:p>
          <a:p>
            <a:pPr algn="l" marL="609472" indent="-304736" lvl="1">
              <a:lnSpc>
                <a:spcPts val="3952"/>
              </a:lnSpc>
              <a:buFont typeface="Arial"/>
              <a:buChar char="•"/>
            </a:pPr>
            <a:r>
              <a:rPr lang="en-US" sz="2822">
                <a:solidFill>
                  <a:srgbClr val="FFFFFF"/>
                </a:solidFill>
                <a:latin typeface="Lato"/>
                <a:ea typeface="Lato"/>
                <a:cs typeface="Lato"/>
                <a:sym typeface="Lato"/>
              </a:rPr>
              <a:t>T</a:t>
            </a:r>
            <a:r>
              <a:rPr lang="en-US" b="true" sz="2822">
                <a:solidFill>
                  <a:srgbClr val="FFFFFF"/>
                </a:solidFill>
                <a:latin typeface="Lato Bold"/>
                <a:ea typeface="Lato Bold"/>
                <a:cs typeface="Lato Bold"/>
                <a:sym typeface="Lato Bold"/>
              </a:rPr>
              <a:t>ạo lớp PR đồng đều </a:t>
            </a:r>
          </a:p>
          <a:p>
            <a:pPr algn="l">
              <a:lnSpc>
                <a:spcPts val="3952"/>
              </a:lnSpc>
            </a:pPr>
            <a:r>
              <a:rPr lang="en-US" sz="2822" b="true">
                <a:solidFill>
                  <a:srgbClr val="FFFFFF"/>
                </a:solidFill>
                <a:latin typeface="Lato Bold"/>
                <a:ea typeface="Lato Bold"/>
                <a:cs typeface="Lato Bold"/>
                <a:sym typeface="Lato Bold"/>
              </a:rPr>
              <a:t>Độ dày lớp PR: </a:t>
            </a:r>
          </a:p>
          <a:p>
            <a:pPr algn="l" marL="609472" indent="-304736" lvl="1">
              <a:lnSpc>
                <a:spcPts val="3952"/>
              </a:lnSpc>
              <a:buFont typeface="Arial"/>
              <a:buChar char="•"/>
            </a:pPr>
            <a:r>
              <a:rPr lang="en-US" b="true" sz="2822">
                <a:solidFill>
                  <a:srgbClr val="FFFFFF"/>
                </a:solidFill>
                <a:latin typeface="Lato Bold"/>
                <a:ea typeface="Lato Bold"/>
                <a:cs typeface="Lato Bold"/>
                <a:sym typeface="Lato Bold"/>
              </a:rPr>
              <a:t>Khoảng 0.5 – vài µm tùy công nghệ </a:t>
            </a:r>
          </a:p>
          <a:p>
            <a:pPr algn="l">
              <a:lnSpc>
                <a:spcPts val="3952"/>
              </a:lnSpc>
            </a:pPr>
          </a:p>
        </p:txBody>
      </p:sp>
      <p:sp>
        <p:nvSpPr>
          <p:cNvPr name="AutoShape 14" id="14"/>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TextBox 15" id="15"/>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Quy trình quang khắc chi tiết</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240906" y="583405"/>
            <a:ext cx="6122813" cy="890591"/>
          </a:xfrm>
          <a:custGeom>
            <a:avLst/>
            <a:gdLst/>
            <a:ahLst/>
            <a:cxnLst/>
            <a:rect r="r" b="b" t="t" l="l"/>
            <a:pathLst>
              <a:path h="890591" w="6122813">
                <a:moveTo>
                  <a:pt x="0" y="0"/>
                </a:moveTo>
                <a:lnTo>
                  <a:pt x="6122813" y="0"/>
                </a:lnTo>
                <a:lnTo>
                  <a:pt x="6122813"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848872" y="1064729"/>
            <a:ext cx="1176400" cy="1135760"/>
          </a:xfrm>
          <a:custGeom>
            <a:avLst/>
            <a:gdLst/>
            <a:ahLst/>
            <a:cxnLst/>
            <a:rect r="r" b="b" t="t" l="l"/>
            <a:pathLst>
              <a:path h="1135760" w="1176400">
                <a:moveTo>
                  <a:pt x="0" y="0"/>
                </a:moveTo>
                <a:lnTo>
                  <a:pt x="1176399" y="0"/>
                </a:lnTo>
                <a:lnTo>
                  <a:pt x="1176399" y="1135761"/>
                </a:lnTo>
                <a:lnTo>
                  <a:pt x="0" y="11357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7259300" y="9132494"/>
            <a:ext cx="921659" cy="889819"/>
          </a:xfrm>
          <a:custGeom>
            <a:avLst/>
            <a:gdLst/>
            <a:ahLst/>
            <a:cxnLst/>
            <a:rect r="r" b="b" t="t" l="l"/>
            <a:pathLst>
              <a:path h="889819" w="921659">
                <a:moveTo>
                  <a:pt x="0" y="0"/>
                </a:moveTo>
                <a:lnTo>
                  <a:pt x="921659" y="0"/>
                </a:lnTo>
                <a:lnTo>
                  <a:pt x="921659"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627402" y="1889785"/>
            <a:ext cx="12784829" cy="520839"/>
          </a:xfrm>
          <a:prstGeom prst="rect">
            <a:avLst/>
          </a:prstGeom>
        </p:spPr>
        <p:txBody>
          <a:bodyPr anchor="t" rtlCol="false" tIns="0" lIns="0" bIns="0" rIns="0">
            <a:spAutoFit/>
          </a:bodyPr>
          <a:lstStyle/>
          <a:p>
            <a:pPr algn="l">
              <a:lnSpc>
                <a:spcPts val="3807"/>
              </a:lnSpc>
            </a:pPr>
            <a:r>
              <a:rPr lang="en-US" b="true" sz="4277">
                <a:solidFill>
                  <a:srgbClr val="FFFFFF"/>
                </a:solidFill>
                <a:latin typeface="Lato Bold"/>
                <a:ea typeface="Lato Bold"/>
                <a:cs typeface="Lato Bold"/>
                <a:sym typeface="Lato Bold"/>
              </a:rPr>
              <a:t>PHỦ LỚP NHẠY SÁNG (PHOTORESIST COATING) </a:t>
            </a:r>
          </a:p>
        </p:txBody>
      </p:sp>
      <p:sp>
        <p:nvSpPr>
          <p:cNvPr name="AutoShape 8" id="8"/>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9" id="9"/>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1542361">
            <a:off x="6165645" y="356753"/>
            <a:ext cx="1015641" cy="1110541"/>
          </a:xfrm>
          <a:custGeom>
            <a:avLst/>
            <a:gdLst/>
            <a:ahLst/>
            <a:cxnLst/>
            <a:rect r="r" b="b" t="t" l="l"/>
            <a:pathLst>
              <a:path h="1110541" w="1015641">
                <a:moveTo>
                  <a:pt x="0" y="0"/>
                </a:moveTo>
                <a:lnTo>
                  <a:pt x="1015641" y="0"/>
                </a:lnTo>
                <a:lnTo>
                  <a:pt x="1015641" y="1110542"/>
                </a:lnTo>
                <a:lnTo>
                  <a:pt x="0" y="11105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189447" y="7674497"/>
            <a:ext cx="1148953" cy="1138508"/>
          </a:xfrm>
          <a:custGeom>
            <a:avLst/>
            <a:gdLst/>
            <a:ahLst/>
            <a:cxnLst/>
            <a:rect r="r" b="b" t="t" l="l"/>
            <a:pathLst>
              <a:path h="1138508" w="1148953">
                <a:moveTo>
                  <a:pt x="0" y="0"/>
                </a:moveTo>
                <a:lnTo>
                  <a:pt x="1148953" y="0"/>
                </a:lnTo>
                <a:lnTo>
                  <a:pt x="1148953" y="1138508"/>
                </a:lnTo>
                <a:lnTo>
                  <a:pt x="0" y="11385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9921232" y="2705899"/>
            <a:ext cx="7338068" cy="5921770"/>
          </a:xfrm>
          <a:custGeom>
            <a:avLst/>
            <a:gdLst/>
            <a:ahLst/>
            <a:cxnLst/>
            <a:rect r="r" b="b" t="t" l="l"/>
            <a:pathLst>
              <a:path h="5921770" w="7338068">
                <a:moveTo>
                  <a:pt x="0" y="0"/>
                </a:moveTo>
                <a:lnTo>
                  <a:pt x="7338068" y="0"/>
                </a:lnTo>
                <a:lnTo>
                  <a:pt x="7338068" y="5921770"/>
                </a:lnTo>
                <a:lnTo>
                  <a:pt x="0" y="5921770"/>
                </a:lnTo>
                <a:lnTo>
                  <a:pt x="0" y="0"/>
                </a:lnTo>
                <a:close/>
              </a:path>
            </a:pathLst>
          </a:custGeom>
          <a:blipFill>
            <a:blip r:embed="rId13"/>
            <a:stretch>
              <a:fillRect l="0" t="0" r="0" b="0"/>
            </a:stretch>
          </a:blipFill>
        </p:spPr>
      </p:sp>
      <p:sp>
        <p:nvSpPr>
          <p:cNvPr name="TextBox 13" id="13"/>
          <p:cNvSpPr txBox="true"/>
          <p:nvPr/>
        </p:nvSpPr>
        <p:spPr>
          <a:xfrm rot="0">
            <a:off x="627402" y="2401099"/>
            <a:ext cx="9293829" cy="3443534"/>
          </a:xfrm>
          <a:prstGeom prst="rect">
            <a:avLst/>
          </a:prstGeom>
        </p:spPr>
        <p:txBody>
          <a:bodyPr anchor="t" rtlCol="false" tIns="0" lIns="0" bIns="0" rIns="0">
            <a:spAutoFit/>
          </a:bodyPr>
          <a:lstStyle/>
          <a:p>
            <a:pPr algn="l">
              <a:lnSpc>
                <a:spcPts val="4590"/>
              </a:lnSpc>
            </a:pPr>
            <a:r>
              <a:rPr lang="en-US" sz="2608" b="true">
                <a:solidFill>
                  <a:srgbClr val="FFFFFF"/>
                </a:solidFill>
                <a:latin typeface="Lato Bold"/>
                <a:ea typeface="Lato Bold"/>
                <a:cs typeface="Lato Bold"/>
                <a:sym typeface="Lato Bold"/>
              </a:rPr>
              <a:t>PHÂN LOẠI PHOTORESIT:</a:t>
            </a:r>
          </a:p>
          <a:p>
            <a:pPr algn="l" marL="563099" indent="-281550" lvl="1">
              <a:lnSpc>
                <a:spcPts val="4590"/>
              </a:lnSpc>
              <a:buFont typeface="Arial"/>
              <a:buChar char="•"/>
            </a:pPr>
            <a:r>
              <a:rPr lang="en-US" b="true" sz="2608">
                <a:solidFill>
                  <a:srgbClr val="FFFFFF"/>
                </a:solidFill>
                <a:latin typeface="Lato Bold"/>
                <a:ea typeface="Lato Bold"/>
                <a:cs typeface="Lato Bold"/>
                <a:sym typeface="Lato Bold"/>
              </a:rPr>
              <a:t>Positive PR: vùng bị chiếu sáng sẽ hòa tan trong dung dịch rửa </a:t>
            </a:r>
          </a:p>
          <a:p>
            <a:pPr algn="l" marL="563099" indent="-281550" lvl="1">
              <a:lnSpc>
                <a:spcPts val="4590"/>
              </a:lnSpc>
              <a:buFont typeface="Arial"/>
              <a:buChar char="•"/>
            </a:pPr>
            <a:r>
              <a:rPr lang="en-US" b="true" sz="2608">
                <a:solidFill>
                  <a:srgbClr val="FFFFFF"/>
                </a:solidFill>
                <a:latin typeface="Lato Bold"/>
                <a:ea typeface="Lato Bold"/>
                <a:cs typeface="Lato Bold"/>
                <a:sym typeface="Lato Bold"/>
              </a:rPr>
              <a:t>Negative PR: vùng bị chiếu sáng sẽ trở nên bền vững hơn </a:t>
            </a:r>
          </a:p>
          <a:p>
            <a:pPr algn="l">
              <a:lnSpc>
                <a:spcPts val="4590"/>
              </a:lnSpc>
            </a:pPr>
          </a:p>
        </p:txBody>
      </p:sp>
      <p:sp>
        <p:nvSpPr>
          <p:cNvPr name="AutoShape 14" id="14"/>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TextBox 15" id="15"/>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Quy trình quang khắc chi tiết</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06608" y="583405"/>
            <a:ext cx="6122813" cy="890591"/>
          </a:xfrm>
          <a:custGeom>
            <a:avLst/>
            <a:gdLst/>
            <a:ahLst/>
            <a:cxnLst/>
            <a:rect r="r" b="b" t="t" l="l"/>
            <a:pathLst>
              <a:path h="890591" w="6122813">
                <a:moveTo>
                  <a:pt x="0" y="0"/>
                </a:moveTo>
                <a:lnTo>
                  <a:pt x="6122812" y="0"/>
                </a:lnTo>
                <a:lnTo>
                  <a:pt x="6122812"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04695" y="8945215"/>
            <a:ext cx="1176400" cy="1135760"/>
          </a:xfrm>
          <a:custGeom>
            <a:avLst/>
            <a:gdLst/>
            <a:ahLst/>
            <a:cxnLst/>
            <a:rect r="r" b="b" t="t" l="l"/>
            <a:pathLst>
              <a:path h="1135760" w="1176400">
                <a:moveTo>
                  <a:pt x="0" y="0"/>
                </a:moveTo>
                <a:lnTo>
                  <a:pt x="1176399" y="0"/>
                </a:lnTo>
                <a:lnTo>
                  <a:pt x="1176399" y="1135761"/>
                </a:lnTo>
                <a:lnTo>
                  <a:pt x="0" y="11357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902890" y="8243751"/>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538517" y="2212117"/>
            <a:ext cx="6962065" cy="520839"/>
          </a:xfrm>
          <a:prstGeom prst="rect">
            <a:avLst/>
          </a:prstGeom>
        </p:spPr>
        <p:txBody>
          <a:bodyPr anchor="t" rtlCol="false" tIns="0" lIns="0" bIns="0" rIns="0">
            <a:spAutoFit/>
          </a:bodyPr>
          <a:lstStyle/>
          <a:p>
            <a:pPr algn="l">
              <a:lnSpc>
                <a:spcPts val="3807"/>
              </a:lnSpc>
            </a:pPr>
            <a:r>
              <a:rPr lang="en-US" b="true" sz="4277">
                <a:solidFill>
                  <a:srgbClr val="FFFFFF"/>
                </a:solidFill>
                <a:latin typeface="Lato Bold"/>
                <a:ea typeface="Lato Bold"/>
                <a:cs typeface="Lato Bold"/>
                <a:sym typeface="Lato Bold"/>
              </a:rPr>
              <a:t>SẤY SƠ BỘ (SOFT BAKE )</a:t>
            </a:r>
          </a:p>
        </p:txBody>
      </p:sp>
      <p:sp>
        <p:nvSpPr>
          <p:cNvPr name="AutoShape 8" id="8"/>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9" id="9"/>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1542361">
            <a:off x="6499421" y="22763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10257655" y="213651"/>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10346541" y="2088292"/>
            <a:ext cx="6057449" cy="7045279"/>
          </a:xfrm>
          <a:custGeom>
            <a:avLst/>
            <a:gdLst/>
            <a:ahLst/>
            <a:cxnLst/>
            <a:rect r="r" b="b" t="t" l="l"/>
            <a:pathLst>
              <a:path h="7045279" w="6057449">
                <a:moveTo>
                  <a:pt x="0" y="0"/>
                </a:moveTo>
                <a:lnTo>
                  <a:pt x="6057448" y="0"/>
                </a:lnTo>
                <a:lnTo>
                  <a:pt x="6057448" y="7045278"/>
                </a:lnTo>
                <a:lnTo>
                  <a:pt x="0" y="7045278"/>
                </a:lnTo>
                <a:lnTo>
                  <a:pt x="0" y="0"/>
                </a:lnTo>
                <a:close/>
              </a:path>
            </a:pathLst>
          </a:custGeom>
          <a:blipFill>
            <a:blip r:embed="rId13"/>
            <a:stretch>
              <a:fillRect l="0" t="0" r="0" b="0"/>
            </a:stretch>
          </a:blipFill>
        </p:spPr>
      </p:sp>
      <p:sp>
        <p:nvSpPr>
          <p:cNvPr name="TextBox 13" id="13"/>
          <p:cNvSpPr txBox="true"/>
          <p:nvPr/>
        </p:nvSpPr>
        <p:spPr>
          <a:xfrm rot="0">
            <a:off x="538517" y="2994094"/>
            <a:ext cx="9719138" cy="3961196"/>
          </a:xfrm>
          <a:prstGeom prst="rect">
            <a:avLst/>
          </a:prstGeom>
        </p:spPr>
        <p:txBody>
          <a:bodyPr anchor="t" rtlCol="false" tIns="0" lIns="0" bIns="0" rIns="0">
            <a:spAutoFit/>
          </a:bodyPr>
          <a:lstStyle/>
          <a:p>
            <a:pPr algn="l">
              <a:lnSpc>
                <a:spcPts val="4564"/>
              </a:lnSpc>
            </a:pPr>
            <a:r>
              <a:rPr lang="en-US" sz="2608" b="true">
                <a:solidFill>
                  <a:srgbClr val="FFFFFF"/>
                </a:solidFill>
                <a:latin typeface="Lato Bold"/>
                <a:ea typeface="Lato Bold"/>
                <a:cs typeface="Lato Bold"/>
                <a:sym typeface="Lato Bold"/>
              </a:rPr>
              <a:t>NHIỆT ĐỘ: KHOẢNG 90 – 100°C </a:t>
            </a:r>
          </a:p>
          <a:p>
            <a:pPr algn="l">
              <a:lnSpc>
                <a:spcPts val="4564"/>
              </a:lnSpc>
            </a:pPr>
            <a:r>
              <a:rPr lang="en-US" sz="2608" b="true">
                <a:solidFill>
                  <a:srgbClr val="FFFFFF"/>
                </a:solidFill>
                <a:latin typeface="Lato Bold"/>
                <a:ea typeface="Lato Bold"/>
                <a:cs typeface="Lato Bold"/>
                <a:sym typeface="Lato Bold"/>
              </a:rPr>
              <a:t>THỜI GIAN: VÀ</a:t>
            </a:r>
            <a:r>
              <a:rPr lang="en-US" sz="2608" b="true">
                <a:solidFill>
                  <a:srgbClr val="FFFFFF"/>
                </a:solidFill>
                <a:latin typeface="Lato Bold"/>
                <a:ea typeface="Lato Bold"/>
                <a:cs typeface="Lato Bold"/>
                <a:sym typeface="Lato Bold"/>
              </a:rPr>
              <a:t>i chục giây đến vài phút </a:t>
            </a:r>
          </a:p>
          <a:p>
            <a:pPr algn="l">
              <a:lnSpc>
                <a:spcPts val="4564"/>
              </a:lnSpc>
            </a:pPr>
            <a:r>
              <a:rPr lang="en-US" sz="2608" b="true">
                <a:solidFill>
                  <a:srgbClr val="FFFFFF"/>
                </a:solidFill>
                <a:latin typeface="Lato Bold"/>
                <a:ea typeface="Lato Bold"/>
                <a:cs typeface="Lato Bold"/>
                <a:sym typeface="Lato Bold"/>
              </a:rPr>
              <a:t>Mục đích: </a:t>
            </a:r>
          </a:p>
          <a:p>
            <a:pPr algn="l" marL="563099" indent="-281550" lvl="1">
              <a:lnSpc>
                <a:spcPts val="4564"/>
              </a:lnSpc>
              <a:buFont typeface="Arial"/>
              <a:buChar char="•"/>
            </a:pPr>
            <a:r>
              <a:rPr lang="en-US" b="true" sz="2608">
                <a:solidFill>
                  <a:srgbClr val="FFFFFF"/>
                </a:solidFill>
                <a:latin typeface="Lato Bold"/>
                <a:ea typeface="Lato Bold"/>
                <a:cs typeface="Lato Bold"/>
                <a:sym typeface="Lato Bold"/>
              </a:rPr>
              <a:t>Loại bỏ dung môi còn lại trong PR </a:t>
            </a:r>
          </a:p>
          <a:p>
            <a:pPr algn="l" marL="563099" indent="-281550" lvl="1">
              <a:lnSpc>
                <a:spcPts val="4564"/>
              </a:lnSpc>
              <a:buFont typeface="Arial"/>
              <a:buChar char="•"/>
            </a:pPr>
            <a:r>
              <a:rPr lang="en-US" b="true" sz="2608">
                <a:solidFill>
                  <a:srgbClr val="FFFFFF"/>
                </a:solidFill>
                <a:latin typeface="Lato Bold"/>
                <a:ea typeface="Lato Bold"/>
                <a:cs typeface="Lato Bold"/>
                <a:sym typeface="Lato Bold"/>
              </a:rPr>
              <a:t>Tăng độ bám dính của PR lên wafer </a:t>
            </a:r>
          </a:p>
          <a:p>
            <a:pPr algn="l" marL="563099" indent="-281550" lvl="1">
              <a:lnSpc>
                <a:spcPts val="4564"/>
              </a:lnSpc>
              <a:buFont typeface="Arial"/>
              <a:buChar char="•"/>
            </a:pPr>
            <a:r>
              <a:rPr lang="en-US" b="true" sz="2608">
                <a:solidFill>
                  <a:srgbClr val="FFFFFF"/>
                </a:solidFill>
                <a:latin typeface="Lato Bold"/>
                <a:ea typeface="Lato Bold"/>
                <a:cs typeface="Lato Bold"/>
                <a:sym typeface="Lato Bold"/>
              </a:rPr>
              <a:t>Cải thiện tính đồng nhất của lớp phủ </a:t>
            </a:r>
          </a:p>
          <a:p>
            <a:pPr algn="l">
              <a:lnSpc>
                <a:spcPts val="4564"/>
              </a:lnSpc>
            </a:pPr>
          </a:p>
        </p:txBody>
      </p:sp>
      <p:sp>
        <p:nvSpPr>
          <p:cNvPr name="AutoShape 14" id="14"/>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TextBox 15" id="15"/>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Quy trình quang khắc chi tiết</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95493" y="583405"/>
            <a:ext cx="6122813" cy="890591"/>
          </a:xfrm>
          <a:custGeom>
            <a:avLst/>
            <a:gdLst/>
            <a:ahLst/>
            <a:cxnLst/>
            <a:rect r="r" b="b" t="t" l="l"/>
            <a:pathLst>
              <a:path h="890591" w="6122813">
                <a:moveTo>
                  <a:pt x="0" y="0"/>
                </a:moveTo>
                <a:lnTo>
                  <a:pt x="6122813" y="0"/>
                </a:lnTo>
                <a:lnTo>
                  <a:pt x="6122813"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0" y="8984455"/>
            <a:ext cx="1176400" cy="1135760"/>
          </a:xfrm>
          <a:custGeom>
            <a:avLst/>
            <a:gdLst/>
            <a:ahLst/>
            <a:cxnLst/>
            <a:rect r="r" b="b" t="t" l="l"/>
            <a:pathLst>
              <a:path h="1135760" w="1176400">
                <a:moveTo>
                  <a:pt x="0" y="0"/>
                </a:moveTo>
                <a:lnTo>
                  <a:pt x="1176400" y="0"/>
                </a:lnTo>
                <a:lnTo>
                  <a:pt x="1176400" y="1135760"/>
                </a:lnTo>
                <a:lnTo>
                  <a:pt x="0" y="11357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902890" y="8243751"/>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7" id="7"/>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8" id="8"/>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1542361">
            <a:off x="6499421" y="22763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0346541" y="213651"/>
            <a:ext cx="1148953" cy="1138508"/>
          </a:xfrm>
          <a:custGeom>
            <a:avLst/>
            <a:gdLst/>
            <a:ahLst/>
            <a:cxnLst/>
            <a:rect r="r" b="b" t="t" l="l"/>
            <a:pathLst>
              <a:path h="1138508" w="1148953">
                <a:moveTo>
                  <a:pt x="0" y="0"/>
                </a:moveTo>
                <a:lnTo>
                  <a:pt x="1148952" y="0"/>
                </a:lnTo>
                <a:lnTo>
                  <a:pt x="1148952" y="1138507"/>
                </a:lnTo>
                <a:lnTo>
                  <a:pt x="0" y="11385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10109309" y="3305195"/>
            <a:ext cx="7915963" cy="3676611"/>
          </a:xfrm>
          <a:custGeom>
            <a:avLst/>
            <a:gdLst/>
            <a:ahLst/>
            <a:cxnLst/>
            <a:rect r="r" b="b" t="t" l="l"/>
            <a:pathLst>
              <a:path h="3676611" w="7915963">
                <a:moveTo>
                  <a:pt x="0" y="0"/>
                </a:moveTo>
                <a:lnTo>
                  <a:pt x="7915962" y="0"/>
                </a:lnTo>
                <a:lnTo>
                  <a:pt x="7915962" y="3676610"/>
                </a:lnTo>
                <a:lnTo>
                  <a:pt x="0" y="3676610"/>
                </a:lnTo>
                <a:lnTo>
                  <a:pt x="0" y="0"/>
                </a:lnTo>
                <a:close/>
              </a:path>
            </a:pathLst>
          </a:custGeom>
          <a:blipFill>
            <a:blip r:embed="rId13"/>
            <a:stretch>
              <a:fillRect l="-4006" t="0" r="-1551" b="0"/>
            </a:stretch>
          </a:blipFill>
        </p:spPr>
      </p:sp>
      <p:sp>
        <p:nvSpPr>
          <p:cNvPr name="TextBox 12" id="12"/>
          <p:cNvSpPr txBox="true"/>
          <p:nvPr/>
        </p:nvSpPr>
        <p:spPr>
          <a:xfrm rot="0">
            <a:off x="189447" y="1889785"/>
            <a:ext cx="17174271" cy="520839"/>
          </a:xfrm>
          <a:prstGeom prst="rect">
            <a:avLst/>
          </a:prstGeom>
        </p:spPr>
        <p:txBody>
          <a:bodyPr anchor="t" rtlCol="false" tIns="0" lIns="0" bIns="0" rIns="0">
            <a:spAutoFit/>
          </a:bodyPr>
          <a:lstStyle/>
          <a:p>
            <a:pPr algn="l">
              <a:lnSpc>
                <a:spcPts val="3807"/>
              </a:lnSpc>
            </a:pPr>
            <a:r>
              <a:rPr lang="en-US" b="true" sz="4277">
                <a:solidFill>
                  <a:srgbClr val="FFFFFF"/>
                </a:solidFill>
                <a:latin typeface="Lato Bold"/>
                <a:ea typeface="Lato Bold"/>
                <a:cs typeface="Lato Bold"/>
                <a:sym typeface="Lato Bold"/>
              </a:rPr>
              <a:t>CĂN CHỈNH VÀ CHIẾU SÁNG (MASK ALIGNMENT &amp; EXPOSURE)</a:t>
            </a:r>
          </a:p>
        </p:txBody>
      </p:sp>
      <p:sp>
        <p:nvSpPr>
          <p:cNvPr name="TextBox 13" id="13"/>
          <p:cNvSpPr txBox="true"/>
          <p:nvPr/>
        </p:nvSpPr>
        <p:spPr>
          <a:xfrm rot="0">
            <a:off x="189447" y="2506997"/>
            <a:ext cx="9719138" cy="6662555"/>
          </a:xfrm>
          <a:prstGeom prst="rect">
            <a:avLst/>
          </a:prstGeom>
        </p:spPr>
        <p:txBody>
          <a:bodyPr anchor="t" rtlCol="false" tIns="0" lIns="0" bIns="0" rIns="0">
            <a:spAutoFit/>
          </a:bodyPr>
          <a:lstStyle/>
          <a:p>
            <a:pPr algn="l">
              <a:lnSpc>
                <a:spcPts val="4068"/>
              </a:lnSpc>
            </a:pPr>
            <a:r>
              <a:rPr lang="en-US" sz="2608" b="true">
                <a:solidFill>
                  <a:srgbClr val="FFFFFF"/>
                </a:solidFill>
                <a:latin typeface="Lato Bold"/>
                <a:ea typeface="Lato Bold"/>
                <a:cs typeface="Lato Bold"/>
                <a:sym typeface="Lato Bold"/>
              </a:rPr>
              <a:t>WAFER ĐƯỢC CĂN CHỈNH CHÍNH XÁC VỚI MẶT NẠ (MASK) CHỨA MẪU HÌNH MẠCH. </a:t>
            </a:r>
          </a:p>
          <a:p>
            <a:pPr algn="l">
              <a:lnSpc>
                <a:spcPts val="4068"/>
              </a:lnSpc>
            </a:pPr>
            <a:r>
              <a:rPr lang="en-US" sz="2608" b="true">
                <a:solidFill>
                  <a:srgbClr val="FFFFFF"/>
                </a:solidFill>
                <a:latin typeface="Lato Bold"/>
                <a:ea typeface="Lato Bold"/>
                <a:cs typeface="Lato Bold"/>
                <a:sym typeface="Lato Bold"/>
              </a:rPr>
              <a:t>CHIẾU TIA UV QUA MASK: </a:t>
            </a:r>
          </a:p>
          <a:p>
            <a:pPr algn="l" marL="563099" indent="-281550" lvl="1">
              <a:lnSpc>
                <a:spcPts val="4068"/>
              </a:lnSpc>
              <a:buFont typeface="Arial"/>
              <a:buChar char="•"/>
            </a:pPr>
            <a:r>
              <a:rPr lang="en-US" b="true" sz="2608">
                <a:solidFill>
                  <a:srgbClr val="FFFFFF"/>
                </a:solidFill>
                <a:latin typeface="Lato Bold"/>
                <a:ea typeface="Lato Bold"/>
                <a:cs typeface="Lato Bold"/>
                <a:sym typeface="Lato Bold"/>
              </a:rPr>
              <a:t>BƯỚC SÓNG PHỔ BIẾN: 365 NM (</a:t>
            </a:r>
            <a:r>
              <a:rPr lang="en-US" b="true" sz="2608">
                <a:solidFill>
                  <a:srgbClr val="FFFFFF"/>
                </a:solidFill>
                <a:latin typeface="Lato Bold"/>
                <a:ea typeface="Lato Bold"/>
                <a:cs typeface="Lato Bold"/>
                <a:sym typeface="Lato Bold"/>
              </a:rPr>
              <a:t>i-line), 248 nm, 193 nm hoặc EUV (~13.5 nm) </a:t>
            </a:r>
          </a:p>
          <a:p>
            <a:pPr algn="l">
              <a:lnSpc>
                <a:spcPts val="4068"/>
              </a:lnSpc>
            </a:pPr>
            <a:r>
              <a:rPr lang="en-US" sz="2608" b="true">
                <a:solidFill>
                  <a:srgbClr val="FFFFFF"/>
                </a:solidFill>
                <a:latin typeface="Lato Bold"/>
                <a:ea typeface="Lato Bold"/>
                <a:cs typeface="Lato Bold"/>
                <a:sym typeface="Lato Bold"/>
              </a:rPr>
              <a:t>Nguyên lý: </a:t>
            </a:r>
          </a:p>
          <a:p>
            <a:pPr algn="l" marL="563099" indent="-281550" lvl="1">
              <a:lnSpc>
                <a:spcPts val="4068"/>
              </a:lnSpc>
              <a:buFont typeface="Arial"/>
              <a:buChar char="•"/>
            </a:pPr>
            <a:r>
              <a:rPr lang="en-US" b="true" sz="2608">
                <a:solidFill>
                  <a:srgbClr val="FFFFFF"/>
                </a:solidFill>
                <a:latin typeface="Lato Bold"/>
                <a:ea typeface="Lato Bold"/>
                <a:cs typeface="Lato Bold"/>
                <a:sym typeface="Lato Bold"/>
              </a:rPr>
              <a:t>Ánh sáng làm thay đổi cấu trúc hóa học của photoresist </a:t>
            </a:r>
          </a:p>
          <a:p>
            <a:pPr algn="l">
              <a:lnSpc>
                <a:spcPts val="4068"/>
              </a:lnSpc>
            </a:pPr>
            <a:r>
              <a:rPr lang="en-US" sz="2608" b="true">
                <a:solidFill>
                  <a:srgbClr val="FFFFFF"/>
                </a:solidFill>
                <a:latin typeface="Lato Bold"/>
                <a:ea typeface="Lato Bold"/>
                <a:cs typeface="Lato Bold"/>
                <a:sym typeface="Lato Bold"/>
              </a:rPr>
              <a:t>Yêu cầu quan trọng: </a:t>
            </a:r>
          </a:p>
          <a:p>
            <a:pPr algn="l" marL="563099" indent="-281550" lvl="1">
              <a:lnSpc>
                <a:spcPts val="4068"/>
              </a:lnSpc>
              <a:buFont typeface="Arial"/>
              <a:buChar char="•"/>
            </a:pPr>
            <a:r>
              <a:rPr lang="en-US" b="true" sz="2608">
                <a:solidFill>
                  <a:srgbClr val="FFFFFF"/>
                </a:solidFill>
                <a:latin typeface="Lato Bold"/>
                <a:ea typeface="Lato Bold"/>
                <a:cs typeface="Lato Bold"/>
                <a:sym typeface="Lato Bold"/>
              </a:rPr>
              <a:t>Đ</a:t>
            </a:r>
            <a:r>
              <a:rPr lang="en-US" b="true" sz="2608">
                <a:solidFill>
                  <a:srgbClr val="FFFFFF"/>
                </a:solidFill>
                <a:latin typeface="Lato Bold"/>
                <a:ea typeface="Lato Bold"/>
                <a:cs typeface="Lato Bold"/>
                <a:sym typeface="Lato Bold"/>
              </a:rPr>
              <a:t>ộ chính xác căn chỉnh (alignment) ở mức nanomet </a:t>
            </a:r>
          </a:p>
          <a:p>
            <a:pPr algn="l" marL="563099" indent="-281550" lvl="1">
              <a:lnSpc>
                <a:spcPts val="4068"/>
              </a:lnSpc>
              <a:buFont typeface="Arial"/>
              <a:buChar char="•"/>
            </a:pPr>
            <a:r>
              <a:rPr lang="en-US" b="true" sz="2608">
                <a:solidFill>
                  <a:srgbClr val="FFFFFF"/>
                </a:solidFill>
                <a:latin typeface="Lato Bold"/>
                <a:ea typeface="Lato Bold"/>
                <a:cs typeface="Lato Bold"/>
                <a:sym typeface="Lato Bold"/>
              </a:rPr>
              <a:t>K</a:t>
            </a:r>
            <a:r>
              <a:rPr lang="en-US" b="true" sz="2608">
                <a:solidFill>
                  <a:srgbClr val="FFFFFF"/>
                </a:solidFill>
                <a:latin typeface="Lato Bold"/>
                <a:ea typeface="Lato Bold"/>
                <a:cs typeface="Lato Bold"/>
                <a:sym typeface="Lato Bold"/>
              </a:rPr>
              <a:t>iểm soát thời gian và liều chiếu (exposure dose) </a:t>
            </a:r>
          </a:p>
          <a:p>
            <a:pPr algn="l">
              <a:lnSpc>
                <a:spcPts val="4068"/>
              </a:lnSpc>
            </a:pPr>
          </a:p>
        </p:txBody>
      </p:sp>
      <p:sp>
        <p:nvSpPr>
          <p:cNvPr name="AutoShape 14" id="14"/>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TextBox 15" id="15"/>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Quy trình quang khắc chi tiết</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95493" y="583405"/>
            <a:ext cx="6122813" cy="890591"/>
          </a:xfrm>
          <a:custGeom>
            <a:avLst/>
            <a:gdLst/>
            <a:ahLst/>
            <a:cxnLst/>
            <a:rect r="r" b="b" t="t" l="l"/>
            <a:pathLst>
              <a:path h="890591" w="6122813">
                <a:moveTo>
                  <a:pt x="0" y="0"/>
                </a:moveTo>
                <a:lnTo>
                  <a:pt x="6122813" y="0"/>
                </a:lnTo>
                <a:lnTo>
                  <a:pt x="6122813"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2000" y="8984455"/>
            <a:ext cx="1176400" cy="1135760"/>
          </a:xfrm>
          <a:custGeom>
            <a:avLst/>
            <a:gdLst/>
            <a:ahLst/>
            <a:cxnLst/>
            <a:rect r="r" b="b" t="t" l="l"/>
            <a:pathLst>
              <a:path h="1135760" w="1176400">
                <a:moveTo>
                  <a:pt x="0" y="0"/>
                </a:moveTo>
                <a:lnTo>
                  <a:pt x="1176400" y="0"/>
                </a:lnTo>
                <a:lnTo>
                  <a:pt x="1176400" y="1135760"/>
                </a:lnTo>
                <a:lnTo>
                  <a:pt x="0" y="11357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902890" y="8243751"/>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7" id="7"/>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8" id="8"/>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1542361">
            <a:off x="6499421" y="22763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0346541" y="352600"/>
            <a:ext cx="1148953" cy="1138508"/>
          </a:xfrm>
          <a:custGeom>
            <a:avLst/>
            <a:gdLst/>
            <a:ahLst/>
            <a:cxnLst/>
            <a:rect r="r" b="b" t="t" l="l"/>
            <a:pathLst>
              <a:path h="1138508" w="1148953">
                <a:moveTo>
                  <a:pt x="0" y="0"/>
                </a:moveTo>
                <a:lnTo>
                  <a:pt x="1148952" y="0"/>
                </a:lnTo>
                <a:lnTo>
                  <a:pt x="1148952" y="1138508"/>
                </a:lnTo>
                <a:lnTo>
                  <a:pt x="0" y="11385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8914778" y="3010699"/>
            <a:ext cx="8448941" cy="3453505"/>
          </a:xfrm>
          <a:custGeom>
            <a:avLst/>
            <a:gdLst/>
            <a:ahLst/>
            <a:cxnLst/>
            <a:rect r="r" b="b" t="t" l="l"/>
            <a:pathLst>
              <a:path h="3453505" w="8448941">
                <a:moveTo>
                  <a:pt x="0" y="0"/>
                </a:moveTo>
                <a:lnTo>
                  <a:pt x="8448941" y="0"/>
                </a:lnTo>
                <a:lnTo>
                  <a:pt x="8448941" y="3453504"/>
                </a:lnTo>
                <a:lnTo>
                  <a:pt x="0" y="3453504"/>
                </a:lnTo>
                <a:lnTo>
                  <a:pt x="0" y="0"/>
                </a:lnTo>
                <a:close/>
              </a:path>
            </a:pathLst>
          </a:custGeom>
          <a:blipFill>
            <a:blip r:embed="rId13"/>
            <a:stretch>
              <a:fillRect l="0" t="0" r="0" b="0"/>
            </a:stretch>
          </a:blipFill>
        </p:spPr>
      </p:sp>
      <p:sp>
        <p:nvSpPr>
          <p:cNvPr name="TextBox 12" id="12"/>
          <p:cNvSpPr txBox="true"/>
          <p:nvPr/>
        </p:nvSpPr>
        <p:spPr>
          <a:xfrm rot="0">
            <a:off x="371051" y="2013610"/>
            <a:ext cx="17174271" cy="997089"/>
          </a:xfrm>
          <a:prstGeom prst="rect">
            <a:avLst/>
          </a:prstGeom>
        </p:spPr>
        <p:txBody>
          <a:bodyPr anchor="t" rtlCol="false" tIns="0" lIns="0" bIns="0" rIns="0">
            <a:spAutoFit/>
          </a:bodyPr>
          <a:lstStyle/>
          <a:p>
            <a:pPr algn="l">
              <a:lnSpc>
                <a:spcPts val="3807"/>
              </a:lnSpc>
            </a:pPr>
            <a:r>
              <a:rPr lang="en-US" b="true" sz="4277">
                <a:solidFill>
                  <a:srgbClr val="FFFFFF"/>
                </a:solidFill>
                <a:latin typeface="Lato Bold"/>
                <a:ea typeface="Lato Bold"/>
                <a:cs typeface="Lato Bold"/>
                <a:sym typeface="Lato Bold"/>
              </a:rPr>
              <a:t>SẤY SAU CHIẾU (POST-EXPOSURE BAKE – PEB)</a:t>
            </a:r>
          </a:p>
          <a:p>
            <a:pPr algn="l">
              <a:lnSpc>
                <a:spcPts val="3807"/>
              </a:lnSpc>
            </a:pPr>
          </a:p>
        </p:txBody>
      </p:sp>
      <p:sp>
        <p:nvSpPr>
          <p:cNvPr name="TextBox 13" id="13"/>
          <p:cNvSpPr txBox="true"/>
          <p:nvPr/>
        </p:nvSpPr>
        <p:spPr>
          <a:xfrm rot="0">
            <a:off x="371051" y="2743999"/>
            <a:ext cx="9719138" cy="3389696"/>
          </a:xfrm>
          <a:prstGeom prst="rect">
            <a:avLst/>
          </a:prstGeom>
        </p:spPr>
        <p:txBody>
          <a:bodyPr anchor="t" rtlCol="false" tIns="0" lIns="0" bIns="0" rIns="0">
            <a:spAutoFit/>
          </a:bodyPr>
          <a:lstStyle/>
          <a:p>
            <a:pPr algn="l">
              <a:lnSpc>
                <a:spcPts val="4564"/>
              </a:lnSpc>
            </a:pPr>
            <a:r>
              <a:rPr lang="en-US" sz="2608" b="true">
                <a:solidFill>
                  <a:srgbClr val="FFFFFF"/>
                </a:solidFill>
                <a:latin typeface="Lato Bold"/>
                <a:ea typeface="Lato Bold"/>
                <a:cs typeface="Lato Bold"/>
                <a:sym typeface="Lato Bold"/>
              </a:rPr>
              <a:t>NHIỆT ĐỘ: ~100 – 120°C </a:t>
            </a:r>
          </a:p>
          <a:p>
            <a:pPr algn="l">
              <a:lnSpc>
                <a:spcPts val="4564"/>
              </a:lnSpc>
            </a:pPr>
            <a:r>
              <a:rPr lang="en-US" sz="2608" b="true">
                <a:solidFill>
                  <a:srgbClr val="FFFFFF"/>
                </a:solidFill>
                <a:latin typeface="Lato Bold"/>
                <a:ea typeface="Lato Bold"/>
                <a:cs typeface="Lato Bold"/>
                <a:sym typeface="Lato Bold"/>
              </a:rPr>
              <a:t>MỤC ĐÍCH: </a:t>
            </a:r>
          </a:p>
          <a:p>
            <a:pPr algn="l" marL="563099" indent="-281550" lvl="1">
              <a:lnSpc>
                <a:spcPts val="4564"/>
              </a:lnSpc>
              <a:buFont typeface="Arial"/>
              <a:buChar char="•"/>
            </a:pPr>
            <a:r>
              <a:rPr lang="en-US" b="true" sz="2608">
                <a:solidFill>
                  <a:srgbClr val="FFFFFF"/>
                </a:solidFill>
                <a:latin typeface="Lato Bold"/>
                <a:ea typeface="Lato Bold"/>
                <a:cs typeface="Lato Bold"/>
                <a:sym typeface="Lato Bold"/>
              </a:rPr>
              <a:t>HOÀN TẤT PHẢN ỨNG QUANG HÓA TRONG PR </a:t>
            </a:r>
          </a:p>
          <a:p>
            <a:pPr algn="l" marL="563099" indent="-281550" lvl="1">
              <a:lnSpc>
                <a:spcPts val="4564"/>
              </a:lnSpc>
              <a:buFont typeface="Arial"/>
              <a:buChar char="•"/>
            </a:pPr>
            <a:r>
              <a:rPr lang="en-US" b="true" sz="2608">
                <a:solidFill>
                  <a:srgbClr val="FFFFFF"/>
                </a:solidFill>
                <a:latin typeface="Lato Bold"/>
                <a:ea typeface="Lato Bold"/>
                <a:cs typeface="Lato Bold"/>
                <a:sym typeface="Lato Bold"/>
              </a:rPr>
              <a:t>G</a:t>
            </a:r>
            <a:r>
              <a:rPr lang="en-US" b="true" sz="2608">
                <a:solidFill>
                  <a:srgbClr val="FFFFFF"/>
                </a:solidFill>
                <a:latin typeface="Lato Bold"/>
                <a:ea typeface="Lato Bold"/>
                <a:cs typeface="Lato Bold"/>
                <a:sym typeface="Lato Bold"/>
              </a:rPr>
              <a:t>iảm nhiễu (standing wave effect) </a:t>
            </a:r>
          </a:p>
          <a:p>
            <a:pPr algn="l" marL="563099" indent="-281550" lvl="1">
              <a:lnSpc>
                <a:spcPts val="4564"/>
              </a:lnSpc>
              <a:buFont typeface="Arial"/>
              <a:buChar char="•"/>
            </a:pPr>
            <a:r>
              <a:rPr lang="en-US" b="true" sz="2608">
                <a:solidFill>
                  <a:srgbClr val="FFFFFF"/>
                </a:solidFill>
                <a:latin typeface="Lato Bold"/>
                <a:ea typeface="Lato Bold"/>
                <a:cs typeface="Lato Bold"/>
                <a:sym typeface="Lato Bold"/>
              </a:rPr>
              <a:t>TĂ</a:t>
            </a:r>
            <a:r>
              <a:rPr lang="en-US" b="true" sz="2608">
                <a:solidFill>
                  <a:srgbClr val="FFFFFF"/>
                </a:solidFill>
                <a:latin typeface="Lato Bold"/>
                <a:ea typeface="Lato Bold"/>
                <a:cs typeface="Lato Bold"/>
                <a:sym typeface="Lato Bold"/>
              </a:rPr>
              <a:t>ng độ phân giải và độ chính xác mẫu</a:t>
            </a:r>
          </a:p>
          <a:p>
            <a:pPr algn="l">
              <a:lnSpc>
                <a:spcPts val="4564"/>
              </a:lnSpc>
            </a:pPr>
          </a:p>
        </p:txBody>
      </p:sp>
      <p:sp>
        <p:nvSpPr>
          <p:cNvPr name="AutoShape 14" id="14"/>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TextBox 15" id="15"/>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Quy trình quang khắc chi tiết</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95493" y="503894"/>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2000" y="8984455"/>
            <a:ext cx="1176400" cy="1135760"/>
          </a:xfrm>
          <a:custGeom>
            <a:avLst/>
            <a:gdLst/>
            <a:ahLst/>
            <a:cxnLst/>
            <a:rect r="r" b="b" t="t" l="l"/>
            <a:pathLst>
              <a:path h="1135760" w="1176400">
                <a:moveTo>
                  <a:pt x="0" y="0"/>
                </a:moveTo>
                <a:lnTo>
                  <a:pt x="1176400" y="0"/>
                </a:lnTo>
                <a:lnTo>
                  <a:pt x="1176400" y="1135760"/>
                </a:lnTo>
                <a:lnTo>
                  <a:pt x="0" y="11357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902890" y="8243751"/>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7" id="7"/>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8" id="8"/>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1542361">
            <a:off x="6499421" y="22763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0346541" y="213651"/>
            <a:ext cx="1148953" cy="1138508"/>
          </a:xfrm>
          <a:custGeom>
            <a:avLst/>
            <a:gdLst/>
            <a:ahLst/>
            <a:cxnLst/>
            <a:rect r="r" b="b" t="t" l="l"/>
            <a:pathLst>
              <a:path h="1138508" w="1148953">
                <a:moveTo>
                  <a:pt x="0" y="0"/>
                </a:moveTo>
                <a:lnTo>
                  <a:pt x="1148952" y="0"/>
                </a:lnTo>
                <a:lnTo>
                  <a:pt x="1148952" y="1138507"/>
                </a:lnTo>
                <a:lnTo>
                  <a:pt x="0" y="11385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9043619" y="2326417"/>
            <a:ext cx="8780929" cy="4939273"/>
          </a:xfrm>
          <a:custGeom>
            <a:avLst/>
            <a:gdLst/>
            <a:ahLst/>
            <a:cxnLst/>
            <a:rect r="r" b="b" t="t" l="l"/>
            <a:pathLst>
              <a:path h="4939273" w="8780929">
                <a:moveTo>
                  <a:pt x="0" y="0"/>
                </a:moveTo>
                <a:lnTo>
                  <a:pt x="8780929" y="0"/>
                </a:lnTo>
                <a:lnTo>
                  <a:pt x="8780929" y="4939272"/>
                </a:lnTo>
                <a:lnTo>
                  <a:pt x="0" y="4939272"/>
                </a:lnTo>
                <a:lnTo>
                  <a:pt x="0" y="0"/>
                </a:lnTo>
                <a:close/>
              </a:path>
            </a:pathLst>
          </a:custGeom>
          <a:blipFill>
            <a:blip r:embed="rId13"/>
            <a:stretch>
              <a:fillRect l="0" t="0" r="0" b="0"/>
            </a:stretch>
          </a:blipFill>
        </p:spPr>
      </p:sp>
      <p:sp>
        <p:nvSpPr>
          <p:cNvPr name="TextBox 12" id="12"/>
          <p:cNvSpPr txBox="true"/>
          <p:nvPr/>
        </p:nvSpPr>
        <p:spPr>
          <a:xfrm rot="0">
            <a:off x="371051" y="2450242"/>
            <a:ext cx="17174271" cy="997089"/>
          </a:xfrm>
          <a:prstGeom prst="rect">
            <a:avLst/>
          </a:prstGeom>
        </p:spPr>
        <p:txBody>
          <a:bodyPr anchor="t" rtlCol="false" tIns="0" lIns="0" bIns="0" rIns="0">
            <a:spAutoFit/>
          </a:bodyPr>
          <a:lstStyle/>
          <a:p>
            <a:pPr algn="l">
              <a:lnSpc>
                <a:spcPts val="3807"/>
              </a:lnSpc>
            </a:pPr>
            <a:r>
              <a:rPr lang="en-US" b="true" sz="4277">
                <a:solidFill>
                  <a:srgbClr val="FFFFFF"/>
                </a:solidFill>
                <a:latin typeface="Lato Bold"/>
                <a:ea typeface="Lato Bold"/>
                <a:cs typeface="Lato Bold"/>
                <a:sym typeface="Lato Bold"/>
              </a:rPr>
              <a:t>HIỂN THỊ ẢNH (DEVELOPMENT)</a:t>
            </a:r>
          </a:p>
          <a:p>
            <a:pPr algn="l">
              <a:lnSpc>
                <a:spcPts val="3807"/>
              </a:lnSpc>
            </a:pPr>
          </a:p>
        </p:txBody>
      </p:sp>
      <p:sp>
        <p:nvSpPr>
          <p:cNvPr name="TextBox 13" id="13"/>
          <p:cNvSpPr txBox="true"/>
          <p:nvPr/>
        </p:nvSpPr>
        <p:spPr>
          <a:xfrm rot="0">
            <a:off x="371051" y="3165745"/>
            <a:ext cx="9719138" cy="4532696"/>
          </a:xfrm>
          <a:prstGeom prst="rect">
            <a:avLst/>
          </a:prstGeom>
        </p:spPr>
        <p:txBody>
          <a:bodyPr anchor="t" rtlCol="false" tIns="0" lIns="0" bIns="0" rIns="0">
            <a:spAutoFit/>
          </a:bodyPr>
          <a:lstStyle/>
          <a:p>
            <a:pPr algn="l">
              <a:lnSpc>
                <a:spcPts val="4564"/>
              </a:lnSpc>
            </a:pPr>
            <a:r>
              <a:rPr lang="en-US" sz="2608" b="true">
                <a:solidFill>
                  <a:srgbClr val="FFFFFF"/>
                </a:solidFill>
                <a:latin typeface="Lato Bold"/>
                <a:ea typeface="Lato Bold"/>
                <a:cs typeface="Lato Bold"/>
                <a:sym typeface="Lato Bold"/>
              </a:rPr>
              <a:t>WAFER ĐƯỢC NHÚNG VÀO DUNG DỊCH DEVELOPER: </a:t>
            </a:r>
          </a:p>
          <a:p>
            <a:pPr algn="l" marL="563099" indent="-281550" lvl="1">
              <a:lnSpc>
                <a:spcPts val="4564"/>
              </a:lnSpc>
              <a:buFont typeface="Arial"/>
              <a:buChar char="•"/>
            </a:pPr>
            <a:r>
              <a:rPr lang="en-US" b="true" sz="2608">
                <a:solidFill>
                  <a:srgbClr val="FFFFFF"/>
                </a:solidFill>
                <a:latin typeface="Lato Bold"/>
                <a:ea typeface="Lato Bold"/>
                <a:cs typeface="Lato Bold"/>
                <a:sym typeface="Lato Bold"/>
              </a:rPr>
              <a:t>Thường là dung dịch kiềm (ví dụ: TMAH) </a:t>
            </a:r>
          </a:p>
          <a:p>
            <a:pPr algn="l">
              <a:lnSpc>
                <a:spcPts val="4564"/>
              </a:lnSpc>
            </a:pPr>
            <a:r>
              <a:rPr lang="en-US" sz="2608" b="true">
                <a:solidFill>
                  <a:srgbClr val="FFFFFF"/>
                </a:solidFill>
                <a:latin typeface="Lato Bold"/>
                <a:ea typeface="Lato Bold"/>
                <a:cs typeface="Lato Bold"/>
                <a:sym typeface="Lato Bold"/>
              </a:rPr>
              <a:t>Cơ chế: </a:t>
            </a:r>
          </a:p>
          <a:p>
            <a:pPr algn="l" marL="563099" indent="-281550" lvl="1">
              <a:lnSpc>
                <a:spcPts val="4564"/>
              </a:lnSpc>
              <a:buFont typeface="Arial"/>
              <a:buChar char="•"/>
            </a:pPr>
            <a:r>
              <a:rPr lang="en-US" b="true" sz="2608">
                <a:solidFill>
                  <a:srgbClr val="FFFFFF"/>
                </a:solidFill>
                <a:latin typeface="Lato Bold"/>
                <a:ea typeface="Lato Bold"/>
                <a:cs typeface="Lato Bold"/>
                <a:sym typeface="Lato Bold"/>
              </a:rPr>
              <a:t>Positive PR: vùng chiếu sáng bị hòa tan </a:t>
            </a:r>
          </a:p>
          <a:p>
            <a:pPr algn="l" marL="563099" indent="-281550" lvl="1">
              <a:lnSpc>
                <a:spcPts val="4564"/>
              </a:lnSpc>
              <a:buFont typeface="Arial"/>
              <a:buChar char="•"/>
            </a:pPr>
            <a:r>
              <a:rPr lang="en-US" b="true" sz="2608">
                <a:solidFill>
                  <a:srgbClr val="FFFFFF"/>
                </a:solidFill>
                <a:latin typeface="Lato Bold"/>
                <a:ea typeface="Lato Bold"/>
                <a:cs typeface="Lato Bold"/>
                <a:sym typeface="Lato Bold"/>
              </a:rPr>
              <a:t>Negative PR: vùng không chiếu bị hòa tan </a:t>
            </a:r>
          </a:p>
          <a:p>
            <a:pPr algn="l">
              <a:lnSpc>
                <a:spcPts val="4564"/>
              </a:lnSpc>
            </a:pPr>
            <a:r>
              <a:rPr lang="en-US" sz="2608" b="true">
                <a:solidFill>
                  <a:srgbClr val="FFFFFF"/>
                </a:solidFill>
                <a:latin typeface="Lato Bold"/>
                <a:ea typeface="Lato Bold"/>
                <a:cs typeface="Lato Bold"/>
                <a:sym typeface="Lato Bold"/>
              </a:rPr>
              <a:t>Kết quả: </a:t>
            </a:r>
          </a:p>
          <a:p>
            <a:pPr algn="l" marL="563099" indent="-281550" lvl="1">
              <a:lnSpc>
                <a:spcPts val="4564"/>
              </a:lnSpc>
              <a:buFont typeface="Arial"/>
              <a:buChar char="•"/>
            </a:pPr>
            <a:r>
              <a:rPr lang="en-US" b="true" sz="2608">
                <a:solidFill>
                  <a:srgbClr val="FFFFFF"/>
                </a:solidFill>
                <a:latin typeface="Lato Bold"/>
                <a:ea typeface="Lato Bold"/>
                <a:cs typeface="Lato Bold"/>
                <a:sym typeface="Lato Bold"/>
              </a:rPr>
              <a:t>Hình thành mẫu hoa văn PR trên wafer </a:t>
            </a:r>
          </a:p>
          <a:p>
            <a:pPr algn="l">
              <a:lnSpc>
                <a:spcPts val="4564"/>
              </a:lnSpc>
            </a:pPr>
          </a:p>
        </p:txBody>
      </p:sp>
      <p:sp>
        <p:nvSpPr>
          <p:cNvPr name="AutoShape 14" id="14"/>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TextBox 15" id="15"/>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Quy trình quang khắc chi tiết</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95493" y="583405"/>
            <a:ext cx="6122813" cy="890591"/>
          </a:xfrm>
          <a:custGeom>
            <a:avLst/>
            <a:gdLst/>
            <a:ahLst/>
            <a:cxnLst/>
            <a:rect r="r" b="b" t="t" l="l"/>
            <a:pathLst>
              <a:path h="890591" w="6122813">
                <a:moveTo>
                  <a:pt x="0" y="0"/>
                </a:moveTo>
                <a:lnTo>
                  <a:pt x="6122813" y="0"/>
                </a:lnTo>
                <a:lnTo>
                  <a:pt x="6122813"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0" y="9133570"/>
            <a:ext cx="1176400" cy="1135760"/>
          </a:xfrm>
          <a:custGeom>
            <a:avLst/>
            <a:gdLst/>
            <a:ahLst/>
            <a:cxnLst/>
            <a:rect r="r" b="b" t="t" l="l"/>
            <a:pathLst>
              <a:path h="1135760" w="1176400">
                <a:moveTo>
                  <a:pt x="0" y="0"/>
                </a:moveTo>
                <a:lnTo>
                  <a:pt x="1176400" y="0"/>
                </a:lnTo>
                <a:lnTo>
                  <a:pt x="1176400" y="1135761"/>
                </a:lnTo>
                <a:lnTo>
                  <a:pt x="0" y="11357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902890" y="8243751"/>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7" id="7"/>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8" id="8"/>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1542361">
            <a:off x="6499421" y="22763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0346541" y="459446"/>
            <a:ext cx="1148953" cy="1138508"/>
          </a:xfrm>
          <a:custGeom>
            <a:avLst/>
            <a:gdLst/>
            <a:ahLst/>
            <a:cxnLst/>
            <a:rect r="r" b="b" t="t" l="l"/>
            <a:pathLst>
              <a:path h="1138508" w="1148953">
                <a:moveTo>
                  <a:pt x="0" y="0"/>
                </a:moveTo>
                <a:lnTo>
                  <a:pt x="1148952" y="0"/>
                </a:lnTo>
                <a:lnTo>
                  <a:pt x="1148952" y="1138508"/>
                </a:lnTo>
                <a:lnTo>
                  <a:pt x="0" y="11385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10235888" y="2602247"/>
            <a:ext cx="7588660" cy="4553196"/>
          </a:xfrm>
          <a:custGeom>
            <a:avLst/>
            <a:gdLst/>
            <a:ahLst/>
            <a:cxnLst/>
            <a:rect r="r" b="b" t="t" l="l"/>
            <a:pathLst>
              <a:path h="4553196" w="7588660">
                <a:moveTo>
                  <a:pt x="0" y="0"/>
                </a:moveTo>
                <a:lnTo>
                  <a:pt x="7588660" y="0"/>
                </a:lnTo>
                <a:lnTo>
                  <a:pt x="7588660" y="4553196"/>
                </a:lnTo>
                <a:lnTo>
                  <a:pt x="0" y="4553196"/>
                </a:lnTo>
                <a:lnTo>
                  <a:pt x="0" y="0"/>
                </a:lnTo>
                <a:close/>
              </a:path>
            </a:pathLst>
          </a:custGeom>
          <a:blipFill>
            <a:blip r:embed="rId13"/>
            <a:stretch>
              <a:fillRect l="0" t="0" r="0" b="0"/>
            </a:stretch>
          </a:blipFill>
        </p:spPr>
      </p:sp>
      <p:sp>
        <p:nvSpPr>
          <p:cNvPr name="TextBox 12" id="12"/>
          <p:cNvSpPr txBox="true"/>
          <p:nvPr/>
        </p:nvSpPr>
        <p:spPr>
          <a:xfrm rot="0">
            <a:off x="556864" y="1893229"/>
            <a:ext cx="17174271" cy="520839"/>
          </a:xfrm>
          <a:prstGeom prst="rect">
            <a:avLst/>
          </a:prstGeom>
        </p:spPr>
        <p:txBody>
          <a:bodyPr anchor="t" rtlCol="false" tIns="0" lIns="0" bIns="0" rIns="0">
            <a:spAutoFit/>
          </a:bodyPr>
          <a:lstStyle/>
          <a:p>
            <a:pPr algn="l">
              <a:lnSpc>
                <a:spcPts val="3807"/>
              </a:lnSpc>
            </a:pPr>
            <a:r>
              <a:rPr lang="en-US" b="true" sz="4277">
                <a:solidFill>
                  <a:srgbClr val="FFFFFF"/>
                </a:solidFill>
                <a:latin typeface="Lato Bold"/>
                <a:ea typeface="Lato Bold"/>
                <a:cs typeface="Lato Bold"/>
                <a:sym typeface="Lato Bold"/>
              </a:rPr>
              <a:t>KHẮC (ETCHING)</a:t>
            </a:r>
          </a:p>
        </p:txBody>
      </p:sp>
      <p:sp>
        <p:nvSpPr>
          <p:cNvPr name="TextBox 13" id="13"/>
          <p:cNvSpPr txBox="true"/>
          <p:nvPr/>
        </p:nvSpPr>
        <p:spPr>
          <a:xfrm rot="0">
            <a:off x="516750" y="2439199"/>
            <a:ext cx="9719138" cy="5767634"/>
          </a:xfrm>
          <a:prstGeom prst="rect">
            <a:avLst/>
          </a:prstGeom>
        </p:spPr>
        <p:txBody>
          <a:bodyPr anchor="t" rtlCol="false" tIns="0" lIns="0" bIns="0" rIns="0">
            <a:spAutoFit/>
          </a:bodyPr>
          <a:lstStyle/>
          <a:p>
            <a:pPr algn="l">
              <a:lnSpc>
                <a:spcPts val="4590"/>
              </a:lnSpc>
            </a:pPr>
            <a:r>
              <a:rPr lang="en-US" sz="2608" b="true">
                <a:solidFill>
                  <a:srgbClr val="FFFFFF"/>
                </a:solidFill>
                <a:latin typeface="Lato Bold"/>
                <a:ea typeface="Lato Bold"/>
                <a:cs typeface="Lato Bold"/>
                <a:sym typeface="Lato Bold"/>
              </a:rPr>
              <a:t>LỚP VẬT LIỆU BÊN DƯỚI (OXIDE, KIM LOẠI, POLYSILICON…) ĐƯỢC KHẮC THEO MẪU PR. </a:t>
            </a:r>
          </a:p>
          <a:p>
            <a:pPr algn="l">
              <a:lnSpc>
                <a:spcPts val="4590"/>
              </a:lnSpc>
            </a:pPr>
            <a:r>
              <a:rPr lang="en-US" sz="2608" b="true">
                <a:solidFill>
                  <a:srgbClr val="FFFFFF"/>
                </a:solidFill>
                <a:latin typeface="Lato Bold"/>
                <a:ea typeface="Lato Bold"/>
                <a:cs typeface="Lato Bold"/>
                <a:sym typeface="Lato Bold"/>
              </a:rPr>
              <a:t>CÁC PHƯƠNG PHÁP: </a:t>
            </a:r>
          </a:p>
          <a:p>
            <a:pPr algn="l" marL="563099" indent="-281550" lvl="1">
              <a:lnSpc>
                <a:spcPts val="4590"/>
              </a:lnSpc>
              <a:buFont typeface="Arial"/>
              <a:buChar char="•"/>
            </a:pPr>
            <a:r>
              <a:rPr lang="en-US" b="true" sz="2608">
                <a:solidFill>
                  <a:srgbClr val="FFFFFF"/>
                </a:solidFill>
                <a:latin typeface="Lato Bold"/>
                <a:ea typeface="Lato Bold"/>
                <a:cs typeface="Lato Bold"/>
                <a:sym typeface="Lato Bold"/>
              </a:rPr>
              <a:t>WET ETC</a:t>
            </a:r>
            <a:r>
              <a:rPr lang="en-US" b="true" sz="2608">
                <a:solidFill>
                  <a:srgbClr val="FFFFFF"/>
                </a:solidFill>
                <a:latin typeface="Lato Bold"/>
                <a:ea typeface="Lato Bold"/>
                <a:cs typeface="Lato Bold"/>
                <a:sym typeface="Lato Bold"/>
              </a:rPr>
              <a:t>hing: dùng dung dịch hóa học </a:t>
            </a:r>
          </a:p>
          <a:p>
            <a:pPr algn="l" marL="563099" indent="-281550" lvl="1">
              <a:lnSpc>
                <a:spcPts val="4590"/>
              </a:lnSpc>
              <a:buFont typeface="Arial"/>
              <a:buChar char="•"/>
            </a:pPr>
            <a:r>
              <a:rPr lang="en-US" b="true" sz="2608">
                <a:solidFill>
                  <a:srgbClr val="FFFFFF"/>
                </a:solidFill>
                <a:latin typeface="Lato Bold"/>
                <a:ea typeface="Lato Bold"/>
                <a:cs typeface="Lato Bold"/>
                <a:sym typeface="Lato Bold"/>
              </a:rPr>
              <a:t>DRY</a:t>
            </a:r>
            <a:r>
              <a:rPr lang="en-US" b="true" sz="2608">
                <a:solidFill>
                  <a:srgbClr val="FFFFFF"/>
                </a:solidFill>
                <a:latin typeface="Lato Bold"/>
                <a:ea typeface="Lato Bold"/>
                <a:cs typeface="Lato Bold"/>
                <a:sym typeface="Lato Bold"/>
              </a:rPr>
              <a:t> etching: plasma (RIE – Reactive Ion Etching) </a:t>
            </a:r>
          </a:p>
          <a:p>
            <a:pPr algn="l">
              <a:lnSpc>
                <a:spcPts val="4590"/>
              </a:lnSpc>
            </a:pPr>
            <a:r>
              <a:rPr lang="en-US" sz="2608" b="true">
                <a:solidFill>
                  <a:srgbClr val="FFFFFF"/>
                </a:solidFill>
                <a:latin typeface="Lato Bold"/>
                <a:ea typeface="Lato Bold"/>
                <a:cs typeface="Lato Bold"/>
                <a:sym typeface="Lato Bold"/>
              </a:rPr>
              <a:t>Đặc điểm: </a:t>
            </a:r>
          </a:p>
          <a:p>
            <a:pPr algn="l" marL="563099" indent="-281550" lvl="1">
              <a:lnSpc>
                <a:spcPts val="4590"/>
              </a:lnSpc>
              <a:buFont typeface="Arial"/>
              <a:buChar char="•"/>
            </a:pPr>
            <a:r>
              <a:rPr lang="en-US" b="true" sz="2608">
                <a:solidFill>
                  <a:srgbClr val="FFFFFF"/>
                </a:solidFill>
                <a:latin typeface="Lato Bold"/>
                <a:ea typeface="Lato Bold"/>
                <a:cs typeface="Lato Bold"/>
                <a:sym typeface="Lato Bold"/>
              </a:rPr>
              <a:t>DRY </a:t>
            </a:r>
            <a:r>
              <a:rPr lang="en-US" b="true" sz="2608">
                <a:solidFill>
                  <a:srgbClr val="FFFFFF"/>
                </a:solidFill>
                <a:latin typeface="Lato Bold"/>
                <a:ea typeface="Lato Bold"/>
                <a:cs typeface="Lato Bold"/>
                <a:sym typeface="Lato Bold"/>
              </a:rPr>
              <a:t>etching cho độ chính xác cao, hướng tính tốt (anisotropic) </a:t>
            </a:r>
          </a:p>
          <a:p>
            <a:pPr algn="l">
              <a:lnSpc>
                <a:spcPts val="4590"/>
              </a:lnSpc>
            </a:pPr>
            <a:r>
              <a:rPr lang="en-US" sz="2608" b="true">
                <a:solidFill>
                  <a:srgbClr val="FFFFFF"/>
                </a:solidFill>
                <a:latin typeface="Lato Bold"/>
                <a:ea typeface="Lato Bold"/>
                <a:cs typeface="Lato Bold"/>
                <a:sym typeface="Lato Bold"/>
              </a:rPr>
              <a:t>PR ĐÓ</a:t>
            </a:r>
            <a:r>
              <a:rPr lang="en-US" sz="2608" b="true">
                <a:solidFill>
                  <a:srgbClr val="FFFFFF"/>
                </a:solidFill>
                <a:latin typeface="Lato Bold"/>
                <a:ea typeface="Lato Bold"/>
                <a:cs typeface="Lato Bold"/>
                <a:sym typeface="Lato Bold"/>
              </a:rPr>
              <a:t>ng vai trò lớp bảo vệ (mask tạm thời) </a:t>
            </a:r>
          </a:p>
          <a:p>
            <a:pPr algn="l">
              <a:lnSpc>
                <a:spcPts val="4590"/>
              </a:lnSpc>
            </a:pPr>
          </a:p>
        </p:txBody>
      </p:sp>
      <p:sp>
        <p:nvSpPr>
          <p:cNvPr name="AutoShape 14" id="14"/>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TextBox 15" id="15"/>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Quy trình quang khắc chi tiết</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597317" y="460194"/>
            <a:ext cx="6122813" cy="890591"/>
          </a:xfrm>
          <a:custGeom>
            <a:avLst/>
            <a:gdLst/>
            <a:ahLst/>
            <a:cxnLst/>
            <a:rect r="r" b="b" t="t" l="l"/>
            <a:pathLst>
              <a:path h="890591" w="6122813">
                <a:moveTo>
                  <a:pt x="0" y="0"/>
                </a:moveTo>
                <a:lnTo>
                  <a:pt x="6122812" y="0"/>
                </a:lnTo>
                <a:lnTo>
                  <a:pt x="6122812"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89447" y="9042459"/>
            <a:ext cx="1176400" cy="1135760"/>
          </a:xfrm>
          <a:custGeom>
            <a:avLst/>
            <a:gdLst/>
            <a:ahLst/>
            <a:cxnLst/>
            <a:rect r="r" b="b" t="t" l="l"/>
            <a:pathLst>
              <a:path h="1135760" w="1176400">
                <a:moveTo>
                  <a:pt x="0" y="0"/>
                </a:moveTo>
                <a:lnTo>
                  <a:pt x="1176400" y="0"/>
                </a:lnTo>
                <a:lnTo>
                  <a:pt x="1176400" y="1135760"/>
                </a:lnTo>
                <a:lnTo>
                  <a:pt x="0" y="11357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7259300" y="9165430"/>
            <a:ext cx="921659" cy="889819"/>
          </a:xfrm>
          <a:custGeom>
            <a:avLst/>
            <a:gdLst/>
            <a:ahLst/>
            <a:cxnLst/>
            <a:rect r="r" b="b" t="t" l="l"/>
            <a:pathLst>
              <a:path h="889819" w="921659">
                <a:moveTo>
                  <a:pt x="0" y="0"/>
                </a:moveTo>
                <a:lnTo>
                  <a:pt x="921659" y="0"/>
                </a:lnTo>
                <a:lnTo>
                  <a:pt x="921659"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7" id="7"/>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8" id="8"/>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1542361">
            <a:off x="6499421" y="22763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0346541" y="183530"/>
            <a:ext cx="1148953" cy="1138508"/>
          </a:xfrm>
          <a:custGeom>
            <a:avLst/>
            <a:gdLst/>
            <a:ahLst/>
            <a:cxnLst/>
            <a:rect r="r" b="b" t="t" l="l"/>
            <a:pathLst>
              <a:path h="1138508" w="1148953">
                <a:moveTo>
                  <a:pt x="0" y="0"/>
                </a:moveTo>
                <a:lnTo>
                  <a:pt x="1148952" y="0"/>
                </a:lnTo>
                <a:lnTo>
                  <a:pt x="1148952" y="1138508"/>
                </a:lnTo>
                <a:lnTo>
                  <a:pt x="0" y="11385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9778351" y="2763673"/>
            <a:ext cx="7585368" cy="6049331"/>
          </a:xfrm>
          <a:custGeom>
            <a:avLst/>
            <a:gdLst/>
            <a:ahLst/>
            <a:cxnLst/>
            <a:rect r="r" b="b" t="t" l="l"/>
            <a:pathLst>
              <a:path h="6049331" w="7585368">
                <a:moveTo>
                  <a:pt x="0" y="0"/>
                </a:moveTo>
                <a:lnTo>
                  <a:pt x="7585368" y="0"/>
                </a:lnTo>
                <a:lnTo>
                  <a:pt x="7585368" y="6049332"/>
                </a:lnTo>
                <a:lnTo>
                  <a:pt x="0" y="6049332"/>
                </a:lnTo>
                <a:lnTo>
                  <a:pt x="0" y="0"/>
                </a:lnTo>
                <a:close/>
              </a:path>
            </a:pathLst>
          </a:custGeom>
          <a:blipFill>
            <a:blip r:embed="rId13"/>
            <a:stretch>
              <a:fillRect l="0" t="0" r="0" b="0"/>
            </a:stretch>
          </a:blipFill>
        </p:spPr>
      </p:sp>
      <p:sp>
        <p:nvSpPr>
          <p:cNvPr name="TextBox 12" id="12"/>
          <p:cNvSpPr txBox="true"/>
          <p:nvPr/>
        </p:nvSpPr>
        <p:spPr>
          <a:xfrm rot="0">
            <a:off x="521593" y="1935074"/>
            <a:ext cx="17174271" cy="520839"/>
          </a:xfrm>
          <a:prstGeom prst="rect">
            <a:avLst/>
          </a:prstGeom>
        </p:spPr>
        <p:txBody>
          <a:bodyPr anchor="t" rtlCol="false" tIns="0" lIns="0" bIns="0" rIns="0">
            <a:spAutoFit/>
          </a:bodyPr>
          <a:lstStyle/>
          <a:p>
            <a:pPr algn="l">
              <a:lnSpc>
                <a:spcPts val="3807"/>
              </a:lnSpc>
            </a:pPr>
            <a:r>
              <a:rPr lang="en-US" b="true" sz="4277">
                <a:solidFill>
                  <a:srgbClr val="FFFFFF"/>
                </a:solidFill>
                <a:latin typeface="Lato Bold"/>
                <a:ea typeface="Lato Bold"/>
                <a:cs typeface="Lato Bold"/>
                <a:sym typeface="Lato Bold"/>
              </a:rPr>
              <a:t>TẨY LỚP PHOTORESIST (PHOTORESIST STRIPPING)</a:t>
            </a:r>
          </a:p>
        </p:txBody>
      </p:sp>
      <p:sp>
        <p:nvSpPr>
          <p:cNvPr name="TextBox 13" id="13"/>
          <p:cNvSpPr txBox="true"/>
          <p:nvPr/>
        </p:nvSpPr>
        <p:spPr>
          <a:xfrm rot="0">
            <a:off x="521593" y="2620798"/>
            <a:ext cx="8405532" cy="3443534"/>
          </a:xfrm>
          <a:prstGeom prst="rect">
            <a:avLst/>
          </a:prstGeom>
        </p:spPr>
        <p:txBody>
          <a:bodyPr anchor="t" rtlCol="false" tIns="0" lIns="0" bIns="0" rIns="0">
            <a:spAutoFit/>
          </a:bodyPr>
          <a:lstStyle/>
          <a:p>
            <a:pPr algn="l">
              <a:lnSpc>
                <a:spcPts val="4590"/>
              </a:lnSpc>
            </a:pPr>
            <a:r>
              <a:rPr lang="en-US" sz="2608" b="true">
                <a:solidFill>
                  <a:srgbClr val="FFFFFF"/>
                </a:solidFill>
                <a:latin typeface="Lato Bold"/>
                <a:ea typeface="Lato Bold"/>
                <a:cs typeface="Lato Bold"/>
                <a:sym typeface="Lato Bold"/>
              </a:rPr>
              <a:t>SAU KHI KHẮC, LỚP PR CÒN LẠI ĐƯỢC LOẠI BỎ: </a:t>
            </a:r>
          </a:p>
          <a:p>
            <a:pPr algn="l" marL="563099" indent="-281550" lvl="1">
              <a:lnSpc>
                <a:spcPts val="4590"/>
              </a:lnSpc>
              <a:buFont typeface="Arial"/>
              <a:buChar char="•"/>
            </a:pPr>
            <a:r>
              <a:rPr lang="en-US" b="true" sz="2608">
                <a:solidFill>
                  <a:srgbClr val="FFFFFF"/>
                </a:solidFill>
                <a:latin typeface="Lato Bold"/>
                <a:ea typeface="Lato Bold"/>
                <a:cs typeface="Lato Bold"/>
                <a:sym typeface="Lato Bold"/>
              </a:rPr>
              <a:t>BẰNG PLASMA (AS</a:t>
            </a:r>
            <a:r>
              <a:rPr lang="en-US" b="true" sz="2608">
                <a:solidFill>
                  <a:srgbClr val="FFFFFF"/>
                </a:solidFill>
                <a:latin typeface="Lato Bold"/>
                <a:ea typeface="Lato Bold"/>
                <a:cs typeface="Lato Bold"/>
                <a:sym typeface="Lato Bold"/>
              </a:rPr>
              <a:t>hing) </a:t>
            </a:r>
          </a:p>
          <a:p>
            <a:pPr algn="l" marL="563099" indent="-281550" lvl="1">
              <a:lnSpc>
                <a:spcPts val="4590"/>
              </a:lnSpc>
              <a:buFont typeface="Arial"/>
              <a:buChar char="•"/>
            </a:pPr>
            <a:r>
              <a:rPr lang="en-US" b="true" sz="2608">
                <a:solidFill>
                  <a:srgbClr val="FFFFFF"/>
                </a:solidFill>
                <a:latin typeface="Lato Bold"/>
                <a:ea typeface="Lato Bold"/>
                <a:cs typeface="Lato Bold"/>
                <a:sym typeface="Lato Bold"/>
              </a:rPr>
              <a:t>Hoặc dung môi hóa học </a:t>
            </a:r>
          </a:p>
          <a:p>
            <a:pPr algn="l">
              <a:lnSpc>
                <a:spcPts val="4590"/>
              </a:lnSpc>
            </a:pPr>
            <a:r>
              <a:rPr lang="en-US" sz="2608" b="true">
                <a:solidFill>
                  <a:srgbClr val="FFFFFF"/>
                </a:solidFill>
                <a:latin typeface="Lato Bold"/>
                <a:ea typeface="Lato Bold"/>
                <a:cs typeface="Lato Bold"/>
                <a:sym typeface="Lato Bold"/>
              </a:rPr>
              <a:t>MỤC</a:t>
            </a:r>
            <a:r>
              <a:rPr lang="en-US" sz="2608" b="true">
                <a:solidFill>
                  <a:srgbClr val="FFFFFF"/>
                </a:solidFill>
                <a:latin typeface="Lato Bold"/>
                <a:ea typeface="Lato Bold"/>
                <a:cs typeface="Lato Bold"/>
                <a:sym typeface="Lato Bold"/>
              </a:rPr>
              <a:t> đích: </a:t>
            </a:r>
          </a:p>
          <a:p>
            <a:pPr algn="l" marL="563099" indent="-281550" lvl="1">
              <a:lnSpc>
                <a:spcPts val="4590"/>
              </a:lnSpc>
              <a:buFont typeface="Arial"/>
              <a:buChar char="•"/>
            </a:pPr>
            <a:r>
              <a:rPr lang="en-US" b="true" sz="2608">
                <a:solidFill>
                  <a:srgbClr val="FFFFFF"/>
                </a:solidFill>
                <a:latin typeface="Lato Bold"/>
                <a:ea typeface="Lato Bold"/>
                <a:cs typeface="Lato Bold"/>
                <a:sym typeface="Lato Bold"/>
              </a:rPr>
              <a:t>Chuẩn bị bề</a:t>
            </a:r>
            <a:r>
              <a:rPr lang="en-US" b="true" sz="2608">
                <a:solidFill>
                  <a:srgbClr val="FFFFFF"/>
                </a:solidFill>
                <a:latin typeface="Lato Bold"/>
                <a:ea typeface="Lato Bold"/>
                <a:cs typeface="Lato Bold"/>
                <a:sym typeface="Lato Bold"/>
              </a:rPr>
              <a:t> MẶ</a:t>
            </a:r>
            <a:r>
              <a:rPr lang="en-US" b="true" sz="2608">
                <a:solidFill>
                  <a:srgbClr val="FFFFFF"/>
                </a:solidFill>
                <a:latin typeface="Lato Bold"/>
                <a:ea typeface="Lato Bold"/>
                <a:cs typeface="Lato Bold"/>
                <a:sym typeface="Lato Bold"/>
              </a:rPr>
              <a:t>t cho các bước tiếp theo </a:t>
            </a:r>
          </a:p>
          <a:p>
            <a:pPr algn="l">
              <a:lnSpc>
                <a:spcPts val="4590"/>
              </a:lnSpc>
            </a:pPr>
          </a:p>
        </p:txBody>
      </p:sp>
      <p:sp>
        <p:nvSpPr>
          <p:cNvPr name="AutoShape 14" id="14"/>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TextBox 15" id="15"/>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Quy trình quang khắc chi tiết</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06608" y="583405"/>
            <a:ext cx="6122813" cy="890591"/>
          </a:xfrm>
          <a:custGeom>
            <a:avLst/>
            <a:gdLst/>
            <a:ahLst/>
            <a:cxnLst/>
            <a:rect r="r" b="b" t="t" l="l"/>
            <a:pathLst>
              <a:path h="890591" w="6122813">
                <a:moveTo>
                  <a:pt x="0" y="0"/>
                </a:moveTo>
                <a:lnTo>
                  <a:pt x="6122812" y="0"/>
                </a:lnTo>
                <a:lnTo>
                  <a:pt x="6122812" y="890590"/>
                </a:lnTo>
                <a:lnTo>
                  <a:pt x="0" y="8905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04695" y="8984455"/>
            <a:ext cx="1176400" cy="1135760"/>
          </a:xfrm>
          <a:custGeom>
            <a:avLst/>
            <a:gdLst/>
            <a:ahLst/>
            <a:cxnLst/>
            <a:rect r="r" b="b" t="t" l="l"/>
            <a:pathLst>
              <a:path h="1135760" w="1176400">
                <a:moveTo>
                  <a:pt x="0" y="0"/>
                </a:moveTo>
                <a:lnTo>
                  <a:pt x="1176399" y="0"/>
                </a:lnTo>
                <a:lnTo>
                  <a:pt x="1176399" y="1135760"/>
                </a:lnTo>
                <a:lnTo>
                  <a:pt x="0" y="11357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902890" y="8243751"/>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7" id="7"/>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8" id="8"/>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1542361">
            <a:off x="6499421" y="22763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0257655" y="352600"/>
            <a:ext cx="1148953" cy="1138508"/>
          </a:xfrm>
          <a:custGeom>
            <a:avLst/>
            <a:gdLst/>
            <a:ahLst/>
            <a:cxnLst/>
            <a:rect r="r" b="b" t="t" l="l"/>
            <a:pathLst>
              <a:path h="1138508" w="1148953">
                <a:moveTo>
                  <a:pt x="0" y="0"/>
                </a:moveTo>
                <a:lnTo>
                  <a:pt x="1148953" y="0"/>
                </a:lnTo>
                <a:lnTo>
                  <a:pt x="1148953" y="1138508"/>
                </a:lnTo>
                <a:lnTo>
                  <a:pt x="0" y="11385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10257655" y="2625788"/>
            <a:ext cx="7566893" cy="5035423"/>
          </a:xfrm>
          <a:custGeom>
            <a:avLst/>
            <a:gdLst/>
            <a:ahLst/>
            <a:cxnLst/>
            <a:rect r="r" b="b" t="t" l="l"/>
            <a:pathLst>
              <a:path h="5035423" w="7566893">
                <a:moveTo>
                  <a:pt x="0" y="0"/>
                </a:moveTo>
                <a:lnTo>
                  <a:pt x="7566893" y="0"/>
                </a:lnTo>
                <a:lnTo>
                  <a:pt x="7566893" y="5035424"/>
                </a:lnTo>
                <a:lnTo>
                  <a:pt x="0" y="5035424"/>
                </a:lnTo>
                <a:lnTo>
                  <a:pt x="0" y="0"/>
                </a:lnTo>
                <a:close/>
              </a:path>
            </a:pathLst>
          </a:custGeom>
          <a:blipFill>
            <a:blip r:embed="rId13"/>
            <a:stretch>
              <a:fillRect l="0" t="0" r="0" b="0"/>
            </a:stretch>
          </a:blipFill>
        </p:spPr>
      </p:sp>
      <p:sp>
        <p:nvSpPr>
          <p:cNvPr name="TextBox 12" id="12"/>
          <p:cNvSpPr txBox="true"/>
          <p:nvPr/>
        </p:nvSpPr>
        <p:spPr>
          <a:xfrm rot="0">
            <a:off x="459941" y="2749613"/>
            <a:ext cx="9797715" cy="997089"/>
          </a:xfrm>
          <a:prstGeom prst="rect">
            <a:avLst/>
          </a:prstGeom>
        </p:spPr>
        <p:txBody>
          <a:bodyPr anchor="t" rtlCol="false" tIns="0" lIns="0" bIns="0" rIns="0">
            <a:spAutoFit/>
          </a:bodyPr>
          <a:lstStyle/>
          <a:p>
            <a:pPr algn="l">
              <a:lnSpc>
                <a:spcPts val="3807"/>
              </a:lnSpc>
            </a:pPr>
            <a:r>
              <a:rPr lang="en-US" sz="4277" b="true">
                <a:solidFill>
                  <a:srgbClr val="FFFFFF"/>
                </a:solidFill>
                <a:latin typeface="Lato Bold"/>
                <a:ea typeface="Lato Bold"/>
                <a:cs typeface="Lato Bold"/>
                <a:sym typeface="Lato Bold"/>
              </a:rPr>
              <a:t>LẶP LẠI QUY TRÌNH</a:t>
            </a:r>
          </a:p>
          <a:p>
            <a:pPr algn="l">
              <a:lnSpc>
                <a:spcPts val="3807"/>
              </a:lnSpc>
            </a:pPr>
          </a:p>
        </p:txBody>
      </p:sp>
      <p:sp>
        <p:nvSpPr>
          <p:cNvPr name="TextBox 13" id="13"/>
          <p:cNvSpPr txBox="true"/>
          <p:nvPr/>
        </p:nvSpPr>
        <p:spPr>
          <a:xfrm rot="0">
            <a:off x="459941" y="3624373"/>
            <a:ext cx="9292603" cy="3961196"/>
          </a:xfrm>
          <a:prstGeom prst="rect">
            <a:avLst/>
          </a:prstGeom>
        </p:spPr>
        <p:txBody>
          <a:bodyPr anchor="t" rtlCol="false" tIns="0" lIns="0" bIns="0" rIns="0">
            <a:spAutoFit/>
          </a:bodyPr>
          <a:lstStyle/>
          <a:p>
            <a:pPr algn="l">
              <a:lnSpc>
                <a:spcPts val="4564"/>
              </a:lnSpc>
            </a:pPr>
            <a:r>
              <a:rPr lang="en-US" sz="2608" b="true">
                <a:solidFill>
                  <a:srgbClr val="FFFFFF"/>
                </a:solidFill>
                <a:latin typeface="Lato Bold"/>
                <a:ea typeface="Lato Bold"/>
                <a:cs typeface="Lato Bold"/>
                <a:sym typeface="Lato Bold"/>
              </a:rPr>
              <a:t>QUY TRÌNH QUANG KHẮC ĐƯỢC LẶP LẠI NHIỀU LẦN (TỪ VÀI CHỤC ĐẾN HÀNG TRĂM LẦN) </a:t>
            </a:r>
          </a:p>
          <a:p>
            <a:pPr algn="l">
              <a:lnSpc>
                <a:spcPts val="4564"/>
              </a:lnSpc>
            </a:pPr>
            <a:r>
              <a:rPr lang="en-US" sz="2608" b="true">
                <a:solidFill>
                  <a:srgbClr val="FFFFFF"/>
                </a:solidFill>
                <a:latin typeface="Lato Bold"/>
                <a:ea typeface="Lato Bold"/>
                <a:cs typeface="Lato Bold"/>
                <a:sym typeface="Lato Bold"/>
              </a:rPr>
              <a:t>Mỗi lần tạo một lớp khác nhau: </a:t>
            </a:r>
          </a:p>
          <a:p>
            <a:pPr algn="l" marL="563099" indent="-281550" lvl="1">
              <a:lnSpc>
                <a:spcPts val="4564"/>
              </a:lnSpc>
              <a:buFont typeface="Arial"/>
              <a:buChar char="•"/>
            </a:pPr>
            <a:r>
              <a:rPr lang="en-US" b="true" sz="2608">
                <a:solidFill>
                  <a:srgbClr val="FFFFFF"/>
                </a:solidFill>
                <a:latin typeface="Lato Bold"/>
                <a:ea typeface="Lato Bold"/>
                <a:cs typeface="Lato Bold"/>
                <a:sym typeface="Lato Bold"/>
              </a:rPr>
              <a:t>Lớp dẫn (metal) </a:t>
            </a:r>
          </a:p>
          <a:p>
            <a:pPr algn="l" marL="563099" indent="-281550" lvl="1">
              <a:lnSpc>
                <a:spcPts val="4564"/>
              </a:lnSpc>
              <a:buFont typeface="Arial"/>
              <a:buChar char="•"/>
            </a:pPr>
            <a:r>
              <a:rPr lang="en-US" b="true" sz="2608">
                <a:solidFill>
                  <a:srgbClr val="FFFFFF"/>
                </a:solidFill>
                <a:latin typeface="Lato Bold"/>
                <a:ea typeface="Lato Bold"/>
                <a:cs typeface="Lato Bold"/>
                <a:sym typeface="Lato Bold"/>
              </a:rPr>
              <a:t>Lớp cách điện (oxide) </a:t>
            </a:r>
          </a:p>
          <a:p>
            <a:pPr algn="l" marL="563099" indent="-281550" lvl="1">
              <a:lnSpc>
                <a:spcPts val="4564"/>
              </a:lnSpc>
              <a:buFont typeface="Arial"/>
              <a:buChar char="•"/>
            </a:pPr>
            <a:r>
              <a:rPr lang="en-US" b="true" sz="2608">
                <a:solidFill>
                  <a:srgbClr val="FFFFFF"/>
                </a:solidFill>
                <a:latin typeface="Lato Bold"/>
                <a:ea typeface="Lato Bold"/>
                <a:cs typeface="Lato Bold"/>
                <a:sym typeface="Lato Bold"/>
              </a:rPr>
              <a:t>Lớp bán dẫn (doping, polysilicon) </a:t>
            </a:r>
          </a:p>
          <a:p>
            <a:pPr algn="l">
              <a:lnSpc>
                <a:spcPts val="4564"/>
              </a:lnSpc>
            </a:pPr>
          </a:p>
        </p:txBody>
      </p:sp>
      <p:sp>
        <p:nvSpPr>
          <p:cNvPr name="AutoShape 14" id="14"/>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TextBox 15" id="15"/>
          <p:cNvSpPr txBox="true"/>
          <p:nvPr/>
        </p:nvSpPr>
        <p:spPr>
          <a:xfrm rot="0">
            <a:off x="371051" y="438325"/>
            <a:ext cx="14953748" cy="590375"/>
          </a:xfrm>
          <a:prstGeom prst="rect">
            <a:avLst/>
          </a:prstGeom>
        </p:spPr>
        <p:txBody>
          <a:bodyPr anchor="t" rtlCol="false" tIns="0" lIns="0" bIns="0" rIns="0">
            <a:spAutoFit/>
          </a:bodyPr>
          <a:lstStyle/>
          <a:p>
            <a:pPr algn="l" marL="970059" indent="-485029" lvl="1">
              <a:lnSpc>
                <a:spcPts val="4493"/>
              </a:lnSpc>
              <a:buAutoNum type="arabicPeriod" startAt="1"/>
            </a:pPr>
            <a:r>
              <a:rPr lang="en-US" sz="4493">
                <a:solidFill>
                  <a:srgbClr val="FFFFFF"/>
                </a:solidFill>
                <a:latin typeface="Lato"/>
                <a:ea typeface="Lato"/>
                <a:cs typeface="Lato"/>
                <a:sym typeface="Lato"/>
              </a:rPr>
              <a:t> Quy trình quang khắc chi tiết</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95493" y="460194"/>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90971" y="8945215"/>
            <a:ext cx="1176400" cy="1135760"/>
          </a:xfrm>
          <a:custGeom>
            <a:avLst/>
            <a:gdLst/>
            <a:ahLst/>
            <a:cxnLst/>
            <a:rect r="r" b="b" t="t" l="l"/>
            <a:pathLst>
              <a:path h="1135760" w="1176400">
                <a:moveTo>
                  <a:pt x="0" y="0"/>
                </a:moveTo>
                <a:lnTo>
                  <a:pt x="1176400" y="0"/>
                </a:lnTo>
                <a:lnTo>
                  <a:pt x="1176400" y="1135761"/>
                </a:lnTo>
                <a:lnTo>
                  <a:pt x="0" y="11357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7157477" y="9068186"/>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7" id="7"/>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8" id="8"/>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0346541" y="212277"/>
            <a:ext cx="1148953" cy="1138508"/>
          </a:xfrm>
          <a:custGeom>
            <a:avLst/>
            <a:gdLst/>
            <a:ahLst/>
            <a:cxnLst/>
            <a:rect r="r" b="b" t="t" l="l"/>
            <a:pathLst>
              <a:path h="1138508" w="1148953">
                <a:moveTo>
                  <a:pt x="0" y="0"/>
                </a:moveTo>
                <a:lnTo>
                  <a:pt x="1148952" y="0"/>
                </a:lnTo>
                <a:lnTo>
                  <a:pt x="1148952" y="1138508"/>
                </a:lnTo>
                <a:lnTo>
                  <a:pt x="0" y="11385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1" id="11"/>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12" id="12"/>
          <p:cNvSpPr/>
          <p:nvPr/>
        </p:nvSpPr>
        <p:spPr>
          <a:xfrm flipH="false" flipV="false" rot="0">
            <a:off x="7856743" y="2071370"/>
            <a:ext cx="9506976" cy="5704186"/>
          </a:xfrm>
          <a:custGeom>
            <a:avLst/>
            <a:gdLst/>
            <a:ahLst/>
            <a:cxnLst/>
            <a:rect r="r" b="b" t="t" l="l"/>
            <a:pathLst>
              <a:path h="5704186" w="9506976">
                <a:moveTo>
                  <a:pt x="0" y="0"/>
                </a:moveTo>
                <a:lnTo>
                  <a:pt x="9506976" y="0"/>
                </a:lnTo>
                <a:lnTo>
                  <a:pt x="9506976" y="5704185"/>
                </a:lnTo>
                <a:lnTo>
                  <a:pt x="0" y="5704185"/>
                </a:lnTo>
                <a:lnTo>
                  <a:pt x="0" y="0"/>
                </a:lnTo>
                <a:close/>
              </a:path>
            </a:pathLst>
          </a:custGeom>
          <a:blipFill>
            <a:blip r:embed="rId13"/>
            <a:stretch>
              <a:fillRect l="0" t="0" r="0" b="0"/>
            </a:stretch>
          </a:blipFill>
        </p:spPr>
      </p:sp>
      <p:sp>
        <p:nvSpPr>
          <p:cNvPr name="TextBox 13" id="13"/>
          <p:cNvSpPr txBox="true"/>
          <p:nvPr/>
        </p:nvSpPr>
        <p:spPr>
          <a:xfrm rot="0">
            <a:off x="792894" y="463530"/>
            <a:ext cx="14519859" cy="611964"/>
          </a:xfrm>
          <a:prstGeom prst="rect">
            <a:avLst/>
          </a:prstGeom>
        </p:spPr>
        <p:txBody>
          <a:bodyPr anchor="t" rtlCol="false" tIns="0" lIns="0" bIns="0" rIns="0">
            <a:spAutoFit/>
          </a:bodyPr>
          <a:lstStyle/>
          <a:p>
            <a:pPr algn="l">
              <a:lnSpc>
                <a:spcPts val="4593"/>
              </a:lnSpc>
            </a:pPr>
            <a:r>
              <a:rPr lang="en-US" sz="4593">
                <a:solidFill>
                  <a:srgbClr val="FFFFFF"/>
                </a:solidFill>
                <a:latin typeface="Lato"/>
                <a:ea typeface="Lato"/>
                <a:cs typeface="Lato"/>
                <a:sym typeface="Lato"/>
              </a:rPr>
              <a:t>4. Thiết bị và công nghệ quang khắc</a:t>
            </a:r>
          </a:p>
        </p:txBody>
      </p:sp>
      <p:sp>
        <p:nvSpPr>
          <p:cNvPr name="TextBox 14" id="14"/>
          <p:cNvSpPr txBox="true"/>
          <p:nvPr/>
        </p:nvSpPr>
        <p:spPr>
          <a:xfrm rot="0">
            <a:off x="548826" y="2139879"/>
            <a:ext cx="9797715" cy="520839"/>
          </a:xfrm>
          <a:prstGeom prst="rect">
            <a:avLst/>
          </a:prstGeom>
        </p:spPr>
        <p:txBody>
          <a:bodyPr anchor="t" rtlCol="false" tIns="0" lIns="0" bIns="0" rIns="0">
            <a:spAutoFit/>
          </a:bodyPr>
          <a:lstStyle/>
          <a:p>
            <a:pPr algn="l">
              <a:lnSpc>
                <a:spcPts val="3807"/>
              </a:lnSpc>
            </a:pPr>
            <a:r>
              <a:rPr lang="en-US" b="true" sz="4277">
                <a:solidFill>
                  <a:srgbClr val="FFFFFF"/>
                </a:solidFill>
                <a:latin typeface="Lato Bold"/>
                <a:ea typeface="Lato Bold"/>
                <a:cs typeface="Lato Bold"/>
                <a:sym typeface="Lato Bold"/>
              </a:rPr>
              <a:t>MÁY QUANG KHẮC </a:t>
            </a:r>
          </a:p>
        </p:txBody>
      </p:sp>
      <p:sp>
        <p:nvSpPr>
          <p:cNvPr name="TextBox 15" id="15"/>
          <p:cNvSpPr txBox="true"/>
          <p:nvPr/>
        </p:nvSpPr>
        <p:spPr>
          <a:xfrm rot="0">
            <a:off x="548826" y="2994094"/>
            <a:ext cx="6783570" cy="4532696"/>
          </a:xfrm>
          <a:prstGeom prst="rect">
            <a:avLst/>
          </a:prstGeom>
        </p:spPr>
        <p:txBody>
          <a:bodyPr anchor="t" rtlCol="false" tIns="0" lIns="0" bIns="0" rIns="0">
            <a:spAutoFit/>
          </a:bodyPr>
          <a:lstStyle/>
          <a:p>
            <a:pPr algn="just">
              <a:lnSpc>
                <a:spcPts val="4564"/>
              </a:lnSpc>
            </a:pPr>
            <a:r>
              <a:rPr lang="en-US" b="true" sz="2608">
                <a:solidFill>
                  <a:srgbClr val="FFFFFF"/>
                </a:solidFill>
                <a:latin typeface="Lato Bold"/>
                <a:ea typeface="Lato Bold"/>
                <a:cs typeface="Lato Bold"/>
                <a:sym typeface="Lato Bold"/>
              </a:rPr>
              <a:t>MÁY QUANG KHẮC (LITHOGRAPHY MACHINE) LÀ MỘT THIẾT BỊ SỬ DỤNG ÁNH SÁNG (THƯỜNG LÀ TIA CỰC TÍM) ĐỂ CHUYỂN MẪU TỪ MỘT MẶT NẠ (PHOTOMASK)</a:t>
            </a:r>
            <a:r>
              <a:rPr lang="en-US" sz="2608" b="true">
                <a:solidFill>
                  <a:srgbClr val="FFFFFF"/>
                </a:solidFill>
                <a:latin typeface="Lato Bold"/>
                <a:ea typeface="Lato Bold"/>
                <a:cs typeface="Lato Bold"/>
                <a:sym typeface="Lato Bold"/>
              </a:rPr>
              <a:t> lên một vật liệu nhạy sáng (photoresist) được phủ trên một bề mặt (thường là tấm silicon).</a:t>
            </a:r>
          </a:p>
          <a:p>
            <a:pPr algn="just">
              <a:lnSpc>
                <a:spcPts val="4564"/>
              </a:lnSpc>
            </a:pP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95493" y="460194"/>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90971" y="8945215"/>
            <a:ext cx="1176400" cy="1135760"/>
          </a:xfrm>
          <a:custGeom>
            <a:avLst/>
            <a:gdLst/>
            <a:ahLst/>
            <a:cxnLst/>
            <a:rect r="r" b="b" t="t" l="l"/>
            <a:pathLst>
              <a:path h="1135760" w="1176400">
                <a:moveTo>
                  <a:pt x="0" y="0"/>
                </a:moveTo>
                <a:lnTo>
                  <a:pt x="1176400" y="0"/>
                </a:lnTo>
                <a:lnTo>
                  <a:pt x="1176400" y="1135761"/>
                </a:lnTo>
                <a:lnTo>
                  <a:pt x="0" y="11357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7157477" y="9068186"/>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7" id="7"/>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8" id="8"/>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0346541" y="212277"/>
            <a:ext cx="1148953" cy="1138508"/>
          </a:xfrm>
          <a:custGeom>
            <a:avLst/>
            <a:gdLst/>
            <a:ahLst/>
            <a:cxnLst/>
            <a:rect r="r" b="b" t="t" l="l"/>
            <a:pathLst>
              <a:path h="1138508" w="1148953">
                <a:moveTo>
                  <a:pt x="0" y="0"/>
                </a:moveTo>
                <a:lnTo>
                  <a:pt x="1148952" y="0"/>
                </a:lnTo>
                <a:lnTo>
                  <a:pt x="1148952" y="1138508"/>
                </a:lnTo>
                <a:lnTo>
                  <a:pt x="0" y="11385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1" id="11"/>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12" id="12"/>
          <p:cNvSpPr/>
          <p:nvPr/>
        </p:nvSpPr>
        <p:spPr>
          <a:xfrm flipH="false" flipV="false" rot="0">
            <a:off x="7332396" y="3136969"/>
            <a:ext cx="9506976" cy="5704186"/>
          </a:xfrm>
          <a:custGeom>
            <a:avLst/>
            <a:gdLst/>
            <a:ahLst/>
            <a:cxnLst/>
            <a:rect r="r" b="b" t="t" l="l"/>
            <a:pathLst>
              <a:path h="5704186" w="9506976">
                <a:moveTo>
                  <a:pt x="0" y="0"/>
                </a:moveTo>
                <a:lnTo>
                  <a:pt x="9506976" y="0"/>
                </a:lnTo>
                <a:lnTo>
                  <a:pt x="9506976" y="5704185"/>
                </a:lnTo>
                <a:lnTo>
                  <a:pt x="0" y="5704185"/>
                </a:lnTo>
                <a:lnTo>
                  <a:pt x="0" y="0"/>
                </a:lnTo>
                <a:close/>
              </a:path>
            </a:pathLst>
          </a:custGeom>
          <a:blipFill>
            <a:blip r:embed="rId13"/>
            <a:stretch>
              <a:fillRect l="0" t="0" r="0" b="0"/>
            </a:stretch>
          </a:blipFill>
        </p:spPr>
      </p:sp>
      <p:sp>
        <p:nvSpPr>
          <p:cNvPr name="TextBox 13" id="13"/>
          <p:cNvSpPr txBox="true"/>
          <p:nvPr/>
        </p:nvSpPr>
        <p:spPr>
          <a:xfrm rot="0">
            <a:off x="792894" y="463530"/>
            <a:ext cx="14519859" cy="611964"/>
          </a:xfrm>
          <a:prstGeom prst="rect">
            <a:avLst/>
          </a:prstGeom>
        </p:spPr>
        <p:txBody>
          <a:bodyPr anchor="t" rtlCol="false" tIns="0" lIns="0" bIns="0" rIns="0">
            <a:spAutoFit/>
          </a:bodyPr>
          <a:lstStyle/>
          <a:p>
            <a:pPr algn="l">
              <a:lnSpc>
                <a:spcPts val="4593"/>
              </a:lnSpc>
            </a:pPr>
            <a:r>
              <a:rPr lang="en-US" sz="4593">
                <a:solidFill>
                  <a:srgbClr val="FFFFFF"/>
                </a:solidFill>
                <a:latin typeface="Lato"/>
                <a:ea typeface="Lato"/>
                <a:cs typeface="Lato"/>
                <a:sym typeface="Lato"/>
              </a:rPr>
              <a:t>4. Thiết bị và công nghệ quang khắc</a:t>
            </a:r>
          </a:p>
        </p:txBody>
      </p:sp>
      <p:sp>
        <p:nvSpPr>
          <p:cNvPr name="TextBox 14" id="14"/>
          <p:cNvSpPr txBox="true"/>
          <p:nvPr/>
        </p:nvSpPr>
        <p:spPr>
          <a:xfrm rot="0">
            <a:off x="548826" y="2139879"/>
            <a:ext cx="9797715" cy="520839"/>
          </a:xfrm>
          <a:prstGeom prst="rect">
            <a:avLst/>
          </a:prstGeom>
        </p:spPr>
        <p:txBody>
          <a:bodyPr anchor="t" rtlCol="false" tIns="0" lIns="0" bIns="0" rIns="0">
            <a:spAutoFit/>
          </a:bodyPr>
          <a:lstStyle/>
          <a:p>
            <a:pPr algn="l">
              <a:lnSpc>
                <a:spcPts val="3807"/>
              </a:lnSpc>
            </a:pPr>
            <a:r>
              <a:rPr lang="en-US" sz="4277">
                <a:solidFill>
                  <a:srgbClr val="FFFFFF"/>
                </a:solidFill>
                <a:latin typeface="Lato"/>
                <a:ea typeface="Lato"/>
                <a:cs typeface="Lato"/>
                <a:sym typeface="Lato"/>
              </a:rPr>
              <a:t>CÁC LOẠI MÁY QUANG KHẮC</a:t>
            </a:r>
          </a:p>
        </p:txBody>
      </p:sp>
      <p:sp>
        <p:nvSpPr>
          <p:cNvPr name="TextBox 15" id="15"/>
          <p:cNvSpPr txBox="true"/>
          <p:nvPr/>
        </p:nvSpPr>
        <p:spPr>
          <a:xfrm rot="0">
            <a:off x="548826" y="2994094"/>
            <a:ext cx="6783570" cy="5104196"/>
          </a:xfrm>
          <a:prstGeom prst="rect">
            <a:avLst/>
          </a:prstGeom>
        </p:spPr>
        <p:txBody>
          <a:bodyPr anchor="t" rtlCol="false" tIns="0" lIns="0" bIns="0" rIns="0">
            <a:spAutoFit/>
          </a:bodyPr>
          <a:lstStyle/>
          <a:p>
            <a:pPr algn="l" marL="563099" indent="-281550" lvl="1">
              <a:lnSpc>
                <a:spcPts val="4564"/>
              </a:lnSpc>
              <a:buAutoNum type="arabicPeriod" startAt="1"/>
            </a:pPr>
            <a:r>
              <a:rPr lang="en-US" b="true" sz="2608">
                <a:solidFill>
                  <a:srgbClr val="FFFFFF"/>
                </a:solidFill>
                <a:latin typeface="Lato Bold"/>
                <a:ea typeface="Lato Bold"/>
                <a:cs typeface="Lato Bold"/>
                <a:sym typeface="Lato Bold"/>
              </a:rPr>
              <a:t>MÁY QUANG KHẮC I-LINE (365 NM)</a:t>
            </a:r>
          </a:p>
          <a:p>
            <a:pPr algn="l" marL="563099" indent="-281550" lvl="1">
              <a:lnSpc>
                <a:spcPts val="4564"/>
              </a:lnSpc>
              <a:buAutoNum type="arabicPeriod" startAt="1"/>
            </a:pPr>
            <a:r>
              <a:rPr lang="en-US" b="true" sz="2608">
                <a:solidFill>
                  <a:srgbClr val="FFFFFF"/>
                </a:solidFill>
                <a:latin typeface="Lato Bold"/>
                <a:ea typeface="Lato Bold"/>
                <a:cs typeface="Lato Bold"/>
                <a:sym typeface="Lato Bold"/>
              </a:rPr>
              <a:t>MÁY QUANG KHẮC KRF (248 NM)</a:t>
            </a:r>
          </a:p>
          <a:p>
            <a:pPr algn="l" marL="563099" indent="-281550" lvl="1">
              <a:lnSpc>
                <a:spcPts val="4564"/>
              </a:lnSpc>
              <a:buAutoNum type="arabicPeriod" startAt="1"/>
            </a:pPr>
            <a:r>
              <a:rPr lang="en-US" b="true" sz="2608">
                <a:solidFill>
                  <a:srgbClr val="FFFFFF"/>
                </a:solidFill>
                <a:latin typeface="Lato Bold"/>
                <a:ea typeface="Lato Bold"/>
                <a:cs typeface="Lato Bold"/>
                <a:sym typeface="Lato Bold"/>
              </a:rPr>
              <a:t>MÁY QUANG KHẮC ARF (193 NM - DUV): ARF KHÔ VÀ ARF DÙNG CHẤT LỎNG </a:t>
            </a:r>
          </a:p>
          <a:p>
            <a:pPr algn="l" marL="563099" indent="-281550" lvl="1">
              <a:lnSpc>
                <a:spcPts val="4564"/>
              </a:lnSpc>
              <a:buAutoNum type="arabicPeriod" startAt="1"/>
            </a:pPr>
            <a:r>
              <a:rPr lang="en-US" b="true" sz="2608">
                <a:solidFill>
                  <a:srgbClr val="FFFFFF"/>
                </a:solidFill>
                <a:latin typeface="Lato Bold"/>
                <a:ea typeface="Lato Bold"/>
                <a:cs typeface="Lato Bold"/>
                <a:sym typeface="Lato Bold"/>
              </a:rPr>
              <a:t>MÁY QUANG KHẮC EUV (13.5 NM)</a:t>
            </a:r>
          </a:p>
          <a:p>
            <a:pPr algn="l" marL="563099" indent="-281550" lvl="1">
              <a:lnSpc>
                <a:spcPts val="4564"/>
              </a:lnSpc>
              <a:buAutoNum type="arabicPeriod" startAt="1"/>
            </a:pPr>
            <a:r>
              <a:rPr lang="en-US" b="true" sz="2608">
                <a:solidFill>
                  <a:srgbClr val="FFFFFF"/>
                </a:solidFill>
                <a:latin typeface="Lato Bold"/>
                <a:ea typeface="Lato Bold"/>
                <a:cs typeface="Lato Bold"/>
                <a:sym typeface="Lato Bold"/>
              </a:rPr>
              <a:t>MÁY QUANG KHẮC HIGH – NA EUV (TƯƠNG LAI GẦN) </a:t>
            </a:r>
            <a:r>
              <a:rPr lang="en-US" b="true" sz="2608">
                <a:solidFill>
                  <a:srgbClr val="FFFFFF"/>
                </a:solidFill>
                <a:latin typeface="Lato Bold"/>
                <a:ea typeface="Lato Bold"/>
                <a:cs typeface="Lato Bold"/>
                <a:sym typeface="Lato Bold"/>
              </a:rPr>
              <a:t> </a:t>
            </a:r>
          </a:p>
          <a:p>
            <a:pPr algn="just">
              <a:lnSpc>
                <a:spcPts val="4564"/>
              </a:lnSpc>
            </a:pP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95493" y="460194"/>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9190385"/>
            <a:ext cx="6122813" cy="890591"/>
          </a:xfrm>
          <a:custGeom>
            <a:avLst/>
            <a:gdLst/>
            <a:ahLst/>
            <a:cxnLst/>
            <a:rect r="r" b="b" t="t" l="l"/>
            <a:pathLst>
              <a:path h="890591" w="6122813">
                <a:moveTo>
                  <a:pt x="6122813" y="0"/>
                </a:moveTo>
                <a:lnTo>
                  <a:pt x="0" y="0"/>
                </a:lnTo>
                <a:lnTo>
                  <a:pt x="0" y="890591"/>
                </a:lnTo>
                <a:lnTo>
                  <a:pt x="6122813" y="890591"/>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90971" y="9365447"/>
            <a:ext cx="741132" cy="715529"/>
          </a:xfrm>
          <a:custGeom>
            <a:avLst/>
            <a:gdLst/>
            <a:ahLst/>
            <a:cxnLst/>
            <a:rect r="r" b="b" t="t" l="l"/>
            <a:pathLst>
              <a:path h="715529" w="741132">
                <a:moveTo>
                  <a:pt x="0" y="0"/>
                </a:moveTo>
                <a:lnTo>
                  <a:pt x="741132" y="0"/>
                </a:lnTo>
                <a:lnTo>
                  <a:pt x="741132" y="715529"/>
                </a:lnTo>
                <a:lnTo>
                  <a:pt x="0" y="7155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7259300" y="9397181"/>
            <a:ext cx="921659" cy="889819"/>
          </a:xfrm>
          <a:custGeom>
            <a:avLst/>
            <a:gdLst/>
            <a:ahLst/>
            <a:cxnLst/>
            <a:rect r="r" b="b" t="t" l="l"/>
            <a:pathLst>
              <a:path h="889819" w="921659">
                <a:moveTo>
                  <a:pt x="0" y="0"/>
                </a:moveTo>
                <a:lnTo>
                  <a:pt x="921659" y="0"/>
                </a:lnTo>
                <a:lnTo>
                  <a:pt x="921659"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7" id="7"/>
          <p:cNvSpPr/>
          <p:nvPr/>
        </p:nvSpPr>
        <p:spPr>
          <a:xfrm>
            <a:off x="7705654" y="9870272"/>
            <a:ext cx="9553646" cy="0"/>
          </a:xfrm>
          <a:prstGeom prst="line">
            <a:avLst/>
          </a:prstGeom>
          <a:ln cap="flat" w="19050">
            <a:solidFill>
              <a:srgbClr val="D9D9D9"/>
            </a:solidFill>
            <a:prstDash val="solid"/>
            <a:headEnd type="none" len="sm" w="sm"/>
            <a:tailEnd type="none" len="sm" w="sm"/>
          </a:ln>
        </p:spPr>
      </p:sp>
      <p:sp>
        <p:nvSpPr>
          <p:cNvPr name="Freeform 8" id="8"/>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0346541" y="212277"/>
            <a:ext cx="1148953" cy="1138508"/>
          </a:xfrm>
          <a:custGeom>
            <a:avLst/>
            <a:gdLst/>
            <a:ahLst/>
            <a:cxnLst/>
            <a:rect r="r" b="b" t="t" l="l"/>
            <a:pathLst>
              <a:path h="1138508" w="1148953">
                <a:moveTo>
                  <a:pt x="0" y="0"/>
                </a:moveTo>
                <a:lnTo>
                  <a:pt x="1148952" y="0"/>
                </a:lnTo>
                <a:lnTo>
                  <a:pt x="1148952" y="1138508"/>
                </a:lnTo>
                <a:lnTo>
                  <a:pt x="0" y="11385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1" id="11"/>
          <p:cNvSpPr/>
          <p:nvPr/>
        </p:nvSpPr>
        <p:spPr>
          <a:xfrm>
            <a:off x="792894" y="1207604"/>
            <a:ext cx="9553646" cy="0"/>
          </a:xfrm>
          <a:prstGeom prst="line">
            <a:avLst/>
          </a:prstGeom>
          <a:ln cap="flat" w="19050">
            <a:solidFill>
              <a:srgbClr val="D9D9D9"/>
            </a:solidFill>
            <a:prstDash val="solid"/>
            <a:headEnd type="none" len="sm" w="sm"/>
            <a:tailEnd type="none" len="sm" w="sm"/>
          </a:ln>
        </p:spPr>
      </p:sp>
      <p:graphicFrame>
        <p:nvGraphicFramePr>
          <p:cNvPr name="Table 12" id="12"/>
          <p:cNvGraphicFramePr>
            <a:graphicFrameLocks noGrp="true"/>
          </p:cNvGraphicFramePr>
          <p:nvPr/>
        </p:nvGraphicFramePr>
        <p:xfrm>
          <a:off x="288381" y="2195195"/>
          <a:ext cx="17501874" cy="6817827"/>
        </p:xfrm>
        <a:graphic>
          <a:graphicData uri="http://schemas.openxmlformats.org/drawingml/2006/table">
            <a:tbl>
              <a:tblPr/>
              <a:tblGrid>
                <a:gridCol w="3500375"/>
                <a:gridCol w="3500375"/>
                <a:gridCol w="3500375"/>
                <a:gridCol w="3500375"/>
                <a:gridCol w="3500375"/>
              </a:tblGrid>
              <a:tr h="957853">
                <a:tc>
                  <a:txBody>
                    <a:bodyPr anchor="t" rtlCol="false"/>
                    <a:lstStyle/>
                    <a:p>
                      <a:pPr algn="ctr">
                        <a:lnSpc>
                          <a:spcPts val="3639"/>
                        </a:lnSpc>
                        <a:defRPr/>
                      </a:pPr>
                      <a:r>
                        <a:rPr lang="en-US" sz="2599" b="true">
                          <a:solidFill>
                            <a:srgbClr val="FFFFFF"/>
                          </a:solidFill>
                          <a:latin typeface="Lato Bold"/>
                          <a:ea typeface="Lato Bold"/>
                          <a:cs typeface="Lato Bold"/>
                          <a:sym typeface="Lato Bold"/>
                        </a:rPr>
                        <a:t>Loại máy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b="true">
                          <a:solidFill>
                            <a:srgbClr val="FFFFFF"/>
                          </a:solidFill>
                          <a:latin typeface="Lato Bold"/>
                          <a:ea typeface="Lato Bold"/>
                          <a:cs typeface="Lato Bold"/>
                          <a:sym typeface="Lato Bold"/>
                        </a:rPr>
                        <a:t>Node chip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b="true">
                          <a:solidFill>
                            <a:srgbClr val="FFFFFF"/>
                          </a:solidFill>
                          <a:latin typeface="Lato Bold"/>
                          <a:ea typeface="Lato Bold"/>
                          <a:cs typeface="Lato Bold"/>
                          <a:sym typeface="Lato Bold"/>
                        </a:rPr>
                        <a:t>Nhà sản xuất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b="true">
                          <a:solidFill>
                            <a:srgbClr val="FFFFFF"/>
                          </a:solidFill>
                          <a:latin typeface="Lato Bold"/>
                          <a:ea typeface="Lato Bold"/>
                          <a:cs typeface="Lato Bold"/>
                          <a:sym typeface="Lato Bold"/>
                        </a:rPr>
                        <a:t>Bước sóng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b="true">
                          <a:solidFill>
                            <a:srgbClr val="FFFFFF"/>
                          </a:solidFill>
                          <a:latin typeface="Lato Bold"/>
                          <a:ea typeface="Lato Bold"/>
                          <a:cs typeface="Lato Bold"/>
                          <a:sym typeface="Lato Bold"/>
                        </a:rPr>
                        <a:t>Độ phân giải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57853">
                <a:tc>
                  <a:txBody>
                    <a:bodyPr anchor="t" rtlCol="false"/>
                    <a:lstStyle/>
                    <a:p>
                      <a:pPr algn="ctr">
                        <a:lnSpc>
                          <a:spcPts val="3639"/>
                        </a:lnSpc>
                        <a:defRPr/>
                      </a:pPr>
                      <a:r>
                        <a:rPr lang="en-US" sz="2599">
                          <a:solidFill>
                            <a:srgbClr val="FFFFFF"/>
                          </a:solidFill>
                          <a:latin typeface="Lato"/>
                          <a:ea typeface="Lato"/>
                          <a:cs typeface="Lato"/>
                          <a:sym typeface="Lato"/>
                        </a:rPr>
                        <a:t>  i-line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≥130nm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Canon, Nikon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365nm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Thấp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314756">
                <a:tc>
                  <a:txBody>
                    <a:bodyPr anchor="t" rtlCol="false"/>
                    <a:lstStyle/>
                    <a:p>
                      <a:pPr algn="ctr">
                        <a:lnSpc>
                          <a:spcPts val="3639"/>
                        </a:lnSpc>
                        <a:defRPr/>
                      </a:pPr>
                      <a:r>
                        <a:rPr lang="en-US" sz="2599">
                          <a:solidFill>
                            <a:srgbClr val="FFFFFF"/>
                          </a:solidFill>
                          <a:latin typeface="Lato"/>
                          <a:ea typeface="Lato"/>
                          <a:cs typeface="Lato"/>
                          <a:sym typeface="Lato"/>
                        </a:rPr>
                        <a:t>  KrF</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90nm → 45nm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Canon, Nikon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248nm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Trung bình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314756">
                <a:tc>
                  <a:txBody>
                    <a:bodyPr anchor="t" rtlCol="false"/>
                    <a:lstStyle/>
                    <a:p>
                      <a:pPr algn="ctr">
                        <a:lnSpc>
                          <a:spcPts val="3639"/>
                        </a:lnSpc>
                        <a:defRPr/>
                      </a:pPr>
                      <a:r>
                        <a:rPr lang="en-US" sz="2599">
                          <a:solidFill>
                            <a:srgbClr val="FFFFFF"/>
                          </a:solidFill>
                          <a:latin typeface="Lato"/>
                          <a:ea typeface="Lato"/>
                          <a:cs typeface="Lato"/>
                          <a:sym typeface="Lato"/>
                        </a:rPr>
                        <a:t>  ArF DUV</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65nm → 7nm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ASML, Nikon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193nm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Cao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57853">
                <a:tc>
                  <a:txBody>
                    <a:bodyPr anchor="t" rtlCol="false"/>
                    <a:lstStyle/>
                    <a:p>
                      <a:pPr algn="ctr">
                        <a:lnSpc>
                          <a:spcPts val="3639"/>
                        </a:lnSpc>
                        <a:defRPr/>
                      </a:pPr>
                      <a:r>
                        <a:rPr lang="en-US" sz="2599">
                          <a:solidFill>
                            <a:srgbClr val="FFFFFF"/>
                          </a:solidFill>
                          <a:latin typeface="Lato"/>
                          <a:ea typeface="Lato"/>
                          <a:cs typeface="Lato"/>
                          <a:sym typeface="Lato"/>
                        </a:rPr>
                        <a:t>  EUV</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5nm → 2nm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ASML (độc quyền)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13.5nm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Rất cao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314756">
                <a:tc>
                  <a:txBody>
                    <a:bodyPr anchor="t" rtlCol="false"/>
                    <a:lstStyle/>
                    <a:p>
                      <a:pPr algn="ctr">
                        <a:lnSpc>
                          <a:spcPts val="3639"/>
                        </a:lnSpc>
                        <a:defRPr/>
                      </a:pPr>
                      <a:r>
                        <a:rPr lang="en-US" sz="2599">
                          <a:solidFill>
                            <a:srgbClr val="FFFFFF"/>
                          </a:solidFill>
                          <a:latin typeface="Lato"/>
                          <a:ea typeface="Lato"/>
                          <a:cs typeface="Lato"/>
                          <a:sym typeface="Lato"/>
                        </a:rPr>
                        <a:t>  High-NA EUV</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≤2nm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ASML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13.5nm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39"/>
                        </a:lnSpc>
                        <a:defRPr/>
                      </a:pPr>
                      <a:r>
                        <a:rPr lang="en-US" sz="2599">
                          <a:solidFill>
                            <a:srgbClr val="FFFFFF"/>
                          </a:solidFill>
                          <a:latin typeface="Lato"/>
                          <a:ea typeface="Lato"/>
                          <a:cs typeface="Lato"/>
                          <a:sym typeface="Lato"/>
                        </a:rPr>
                        <a:t>  Cực cao (tương lai)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13" id="13"/>
          <p:cNvSpPr txBox="true"/>
          <p:nvPr/>
        </p:nvSpPr>
        <p:spPr>
          <a:xfrm rot="0">
            <a:off x="792894" y="463530"/>
            <a:ext cx="14519859" cy="611964"/>
          </a:xfrm>
          <a:prstGeom prst="rect">
            <a:avLst/>
          </a:prstGeom>
        </p:spPr>
        <p:txBody>
          <a:bodyPr anchor="t" rtlCol="false" tIns="0" lIns="0" bIns="0" rIns="0">
            <a:spAutoFit/>
          </a:bodyPr>
          <a:lstStyle/>
          <a:p>
            <a:pPr algn="l">
              <a:lnSpc>
                <a:spcPts val="4593"/>
              </a:lnSpc>
            </a:pPr>
            <a:r>
              <a:rPr lang="en-US" sz="4593">
                <a:solidFill>
                  <a:srgbClr val="FFFFFF"/>
                </a:solidFill>
                <a:latin typeface="Lato"/>
                <a:ea typeface="Lato"/>
                <a:cs typeface="Lato"/>
                <a:sym typeface="Lato"/>
              </a:rPr>
              <a:t>4. Thiết bị và công nghệ quang khắc</a:t>
            </a:r>
          </a:p>
        </p:txBody>
      </p:sp>
      <p:sp>
        <p:nvSpPr>
          <p:cNvPr name="TextBox 14" id="14"/>
          <p:cNvSpPr txBox="true"/>
          <p:nvPr/>
        </p:nvSpPr>
        <p:spPr>
          <a:xfrm rot="0">
            <a:off x="548826" y="1550531"/>
            <a:ext cx="9797715" cy="520839"/>
          </a:xfrm>
          <a:prstGeom prst="rect">
            <a:avLst/>
          </a:prstGeom>
        </p:spPr>
        <p:txBody>
          <a:bodyPr anchor="t" rtlCol="false" tIns="0" lIns="0" bIns="0" rIns="0">
            <a:spAutoFit/>
          </a:bodyPr>
          <a:lstStyle/>
          <a:p>
            <a:pPr algn="l">
              <a:lnSpc>
                <a:spcPts val="3807"/>
              </a:lnSpc>
            </a:pPr>
            <a:r>
              <a:rPr lang="en-US" sz="4277">
                <a:solidFill>
                  <a:srgbClr val="FFFFFF"/>
                </a:solidFill>
                <a:latin typeface="Lato"/>
                <a:ea typeface="Lato"/>
                <a:cs typeface="Lato"/>
                <a:sym typeface="Lato"/>
              </a:rPr>
              <a:t>SO SÁNH MÁY QUANG KHẮC</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95493" y="460194"/>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90971" y="8945215"/>
            <a:ext cx="1176400" cy="1135760"/>
          </a:xfrm>
          <a:custGeom>
            <a:avLst/>
            <a:gdLst/>
            <a:ahLst/>
            <a:cxnLst/>
            <a:rect r="r" b="b" t="t" l="l"/>
            <a:pathLst>
              <a:path h="1135760" w="1176400">
                <a:moveTo>
                  <a:pt x="0" y="0"/>
                </a:moveTo>
                <a:lnTo>
                  <a:pt x="1176400" y="0"/>
                </a:lnTo>
                <a:lnTo>
                  <a:pt x="1176400" y="1135761"/>
                </a:lnTo>
                <a:lnTo>
                  <a:pt x="0" y="11357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7157477" y="9397181"/>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7" id="7"/>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8" id="8"/>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0346541" y="212277"/>
            <a:ext cx="1148953" cy="1138508"/>
          </a:xfrm>
          <a:custGeom>
            <a:avLst/>
            <a:gdLst/>
            <a:ahLst/>
            <a:cxnLst/>
            <a:rect r="r" b="b" t="t" l="l"/>
            <a:pathLst>
              <a:path h="1138508" w="1148953">
                <a:moveTo>
                  <a:pt x="0" y="0"/>
                </a:moveTo>
                <a:lnTo>
                  <a:pt x="1148952" y="0"/>
                </a:lnTo>
                <a:lnTo>
                  <a:pt x="1148952" y="1138508"/>
                </a:lnTo>
                <a:lnTo>
                  <a:pt x="0" y="11385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1" id="11"/>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12" id="12"/>
          <p:cNvSpPr/>
          <p:nvPr/>
        </p:nvSpPr>
        <p:spPr>
          <a:xfrm flipH="false" flipV="false" rot="0">
            <a:off x="8307981" y="2660719"/>
            <a:ext cx="9549301" cy="6481588"/>
          </a:xfrm>
          <a:custGeom>
            <a:avLst/>
            <a:gdLst/>
            <a:ahLst/>
            <a:cxnLst/>
            <a:rect r="r" b="b" t="t" l="l"/>
            <a:pathLst>
              <a:path h="6481588" w="9549301">
                <a:moveTo>
                  <a:pt x="0" y="0"/>
                </a:moveTo>
                <a:lnTo>
                  <a:pt x="9549301" y="0"/>
                </a:lnTo>
                <a:lnTo>
                  <a:pt x="9549301" y="6481588"/>
                </a:lnTo>
                <a:lnTo>
                  <a:pt x="0" y="6481588"/>
                </a:lnTo>
                <a:lnTo>
                  <a:pt x="0" y="0"/>
                </a:lnTo>
                <a:close/>
              </a:path>
            </a:pathLst>
          </a:custGeom>
          <a:blipFill>
            <a:blip r:embed="rId13"/>
            <a:stretch>
              <a:fillRect l="0" t="0" r="0" b="0"/>
            </a:stretch>
          </a:blipFill>
        </p:spPr>
      </p:sp>
      <p:sp>
        <p:nvSpPr>
          <p:cNvPr name="TextBox 13" id="13"/>
          <p:cNvSpPr txBox="true"/>
          <p:nvPr/>
        </p:nvSpPr>
        <p:spPr>
          <a:xfrm rot="0">
            <a:off x="792894" y="463530"/>
            <a:ext cx="14519859" cy="611964"/>
          </a:xfrm>
          <a:prstGeom prst="rect">
            <a:avLst/>
          </a:prstGeom>
        </p:spPr>
        <p:txBody>
          <a:bodyPr anchor="t" rtlCol="false" tIns="0" lIns="0" bIns="0" rIns="0">
            <a:spAutoFit/>
          </a:bodyPr>
          <a:lstStyle/>
          <a:p>
            <a:pPr algn="l">
              <a:lnSpc>
                <a:spcPts val="4593"/>
              </a:lnSpc>
            </a:pPr>
            <a:r>
              <a:rPr lang="en-US" sz="4593">
                <a:solidFill>
                  <a:srgbClr val="FFFFFF"/>
                </a:solidFill>
                <a:latin typeface="Lato"/>
                <a:ea typeface="Lato"/>
                <a:cs typeface="Lato"/>
                <a:sym typeface="Lato"/>
              </a:rPr>
              <a:t>4. Thiết bị và công nghệ quang khắc</a:t>
            </a:r>
          </a:p>
        </p:txBody>
      </p:sp>
      <p:sp>
        <p:nvSpPr>
          <p:cNvPr name="TextBox 14" id="14"/>
          <p:cNvSpPr txBox="true"/>
          <p:nvPr/>
        </p:nvSpPr>
        <p:spPr>
          <a:xfrm rot="0">
            <a:off x="548826" y="1807244"/>
            <a:ext cx="15518310" cy="520839"/>
          </a:xfrm>
          <a:prstGeom prst="rect">
            <a:avLst/>
          </a:prstGeom>
        </p:spPr>
        <p:txBody>
          <a:bodyPr anchor="t" rtlCol="false" tIns="0" lIns="0" bIns="0" rIns="0">
            <a:spAutoFit/>
          </a:bodyPr>
          <a:lstStyle/>
          <a:p>
            <a:pPr algn="l">
              <a:lnSpc>
                <a:spcPts val="3807"/>
              </a:lnSpc>
            </a:pPr>
            <a:r>
              <a:rPr lang="en-US" sz="4277">
                <a:solidFill>
                  <a:srgbClr val="FFFFFF"/>
                </a:solidFill>
                <a:latin typeface="Lato"/>
                <a:ea typeface="Lato"/>
                <a:cs typeface="Lato"/>
                <a:sym typeface="Lato"/>
              </a:rPr>
              <a:t>NGUYÊN LÝ HOẠT ĐỘNG MÁY QUANG KHẮC</a:t>
            </a:r>
          </a:p>
        </p:txBody>
      </p:sp>
      <p:sp>
        <p:nvSpPr>
          <p:cNvPr name="TextBox 15" id="15"/>
          <p:cNvSpPr txBox="true"/>
          <p:nvPr/>
        </p:nvSpPr>
        <p:spPr>
          <a:xfrm rot="0">
            <a:off x="548826" y="2641669"/>
            <a:ext cx="6783570" cy="3961196"/>
          </a:xfrm>
          <a:prstGeom prst="rect">
            <a:avLst/>
          </a:prstGeom>
        </p:spPr>
        <p:txBody>
          <a:bodyPr anchor="t" rtlCol="false" tIns="0" lIns="0" bIns="0" rIns="0">
            <a:spAutoFit/>
          </a:bodyPr>
          <a:lstStyle/>
          <a:p>
            <a:pPr algn="l">
              <a:lnSpc>
                <a:spcPts val="4564"/>
              </a:lnSpc>
            </a:pPr>
            <a:r>
              <a:rPr lang="en-US" sz="2608">
                <a:solidFill>
                  <a:srgbClr val="FFFFFF"/>
                </a:solidFill>
                <a:latin typeface="Lato"/>
                <a:ea typeface="Lato"/>
                <a:cs typeface="Lato"/>
                <a:sym typeface="Lato"/>
              </a:rPr>
              <a:t>GỒM 5 BƯỚC CHÍNH: </a:t>
            </a:r>
          </a:p>
          <a:p>
            <a:pPr algn="l" marL="563099" indent="-281550" lvl="1">
              <a:lnSpc>
                <a:spcPts val="4564"/>
              </a:lnSpc>
              <a:buAutoNum type="arabicPeriod" startAt="1"/>
            </a:pPr>
            <a:r>
              <a:rPr lang="en-US" sz="2608">
                <a:solidFill>
                  <a:srgbClr val="FFFFFF"/>
                </a:solidFill>
                <a:latin typeface="Lato"/>
                <a:ea typeface="Lato"/>
                <a:cs typeface="Lato"/>
                <a:sym typeface="Lato"/>
              </a:rPr>
              <a:t>PHỦ LỚP CẢM QUANG (PHOTORESIST)</a:t>
            </a:r>
          </a:p>
          <a:p>
            <a:pPr algn="l" marL="563099" indent="-281550" lvl="1">
              <a:lnSpc>
                <a:spcPts val="4564"/>
              </a:lnSpc>
              <a:buAutoNum type="arabicPeriod" startAt="1"/>
            </a:pPr>
            <a:r>
              <a:rPr lang="en-US" sz="2608">
                <a:solidFill>
                  <a:srgbClr val="FFFFFF"/>
                </a:solidFill>
                <a:latin typeface="Lato"/>
                <a:ea typeface="Lato"/>
                <a:cs typeface="Lato"/>
                <a:sym typeface="Lato"/>
              </a:rPr>
              <a:t>CHIẾU SÁNG QUA LỚP MẶT NẠ (MASK)</a:t>
            </a:r>
          </a:p>
          <a:p>
            <a:pPr algn="l" marL="563099" indent="-281550" lvl="1">
              <a:lnSpc>
                <a:spcPts val="4564"/>
              </a:lnSpc>
              <a:buAutoNum type="arabicPeriod" startAt="1"/>
            </a:pPr>
            <a:r>
              <a:rPr lang="en-US" sz="2608">
                <a:solidFill>
                  <a:srgbClr val="FFFFFF"/>
                </a:solidFill>
                <a:latin typeface="Lato"/>
                <a:ea typeface="Lato"/>
                <a:cs typeface="Lato"/>
                <a:sym typeface="Lato"/>
              </a:rPr>
              <a:t>RỬA TRÁNG</a:t>
            </a:r>
          </a:p>
          <a:p>
            <a:pPr algn="l" marL="563099" indent="-281550" lvl="1">
              <a:lnSpc>
                <a:spcPts val="4564"/>
              </a:lnSpc>
              <a:buAutoNum type="arabicPeriod" startAt="1"/>
            </a:pPr>
            <a:r>
              <a:rPr lang="en-US" sz="2608">
                <a:solidFill>
                  <a:srgbClr val="FFFFFF"/>
                </a:solidFill>
                <a:latin typeface="Lato"/>
                <a:ea typeface="Lato"/>
                <a:cs typeface="Lato"/>
                <a:sym typeface="Lato"/>
              </a:rPr>
              <a:t>KHẮC</a:t>
            </a:r>
          </a:p>
          <a:p>
            <a:pPr algn="l" marL="563099" indent="-281550" lvl="1">
              <a:lnSpc>
                <a:spcPts val="4564"/>
              </a:lnSpc>
              <a:buAutoNum type="arabicPeriod" startAt="1"/>
            </a:pPr>
            <a:r>
              <a:rPr lang="en-US" sz="2608">
                <a:solidFill>
                  <a:srgbClr val="FFFFFF"/>
                </a:solidFill>
                <a:latin typeface="Lato"/>
                <a:ea typeface="Lato"/>
                <a:cs typeface="Lato"/>
                <a:sym typeface="Lato"/>
              </a:rPr>
              <a:t>LOẠI BỎ PHẦN CẢM QUANG CÒN LẠI</a:t>
            </a:r>
          </a:p>
          <a:p>
            <a:pPr algn="just">
              <a:lnSpc>
                <a:spcPts val="4564"/>
              </a:lnSpc>
            </a:pP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95493" y="460194"/>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346541" y="212277"/>
            <a:ext cx="1148953" cy="1138508"/>
          </a:xfrm>
          <a:custGeom>
            <a:avLst/>
            <a:gdLst/>
            <a:ahLst/>
            <a:cxnLst/>
            <a:rect r="r" b="b" t="t" l="l"/>
            <a:pathLst>
              <a:path h="1138508" w="1148953">
                <a:moveTo>
                  <a:pt x="0" y="0"/>
                </a:moveTo>
                <a:lnTo>
                  <a:pt x="1148952" y="0"/>
                </a:lnTo>
                <a:lnTo>
                  <a:pt x="1148952" y="1138508"/>
                </a:lnTo>
                <a:lnTo>
                  <a:pt x="0" y="11385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6" id="6"/>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TextBox 7" id="7"/>
          <p:cNvSpPr txBox="true"/>
          <p:nvPr/>
        </p:nvSpPr>
        <p:spPr>
          <a:xfrm rot="0">
            <a:off x="792894" y="463530"/>
            <a:ext cx="14519859" cy="611964"/>
          </a:xfrm>
          <a:prstGeom prst="rect">
            <a:avLst/>
          </a:prstGeom>
        </p:spPr>
        <p:txBody>
          <a:bodyPr anchor="t" rtlCol="false" tIns="0" lIns="0" bIns="0" rIns="0">
            <a:spAutoFit/>
          </a:bodyPr>
          <a:lstStyle/>
          <a:p>
            <a:pPr algn="l">
              <a:lnSpc>
                <a:spcPts val="4593"/>
              </a:lnSpc>
            </a:pPr>
            <a:r>
              <a:rPr lang="en-US" sz="4593">
                <a:solidFill>
                  <a:srgbClr val="FFFFFF"/>
                </a:solidFill>
                <a:latin typeface="Lato"/>
                <a:ea typeface="Lato"/>
                <a:cs typeface="Lato"/>
                <a:sym typeface="Lato"/>
              </a:rPr>
              <a:t>4. Thiết bị và công nghệ quang khắc</a:t>
            </a:r>
          </a:p>
        </p:txBody>
      </p:sp>
      <p:sp>
        <p:nvSpPr>
          <p:cNvPr name="TextBox 8" id="8"/>
          <p:cNvSpPr txBox="true"/>
          <p:nvPr/>
        </p:nvSpPr>
        <p:spPr>
          <a:xfrm rot="0">
            <a:off x="548826" y="1807244"/>
            <a:ext cx="15518310" cy="520839"/>
          </a:xfrm>
          <a:prstGeom prst="rect">
            <a:avLst/>
          </a:prstGeom>
        </p:spPr>
        <p:txBody>
          <a:bodyPr anchor="t" rtlCol="false" tIns="0" lIns="0" bIns="0" rIns="0">
            <a:spAutoFit/>
          </a:bodyPr>
          <a:lstStyle/>
          <a:p>
            <a:pPr algn="l">
              <a:lnSpc>
                <a:spcPts val="3807"/>
              </a:lnSpc>
            </a:pPr>
            <a:r>
              <a:rPr lang="en-US" sz="4277">
                <a:solidFill>
                  <a:srgbClr val="FFFFFF"/>
                </a:solidFill>
                <a:latin typeface="Lato"/>
                <a:ea typeface="Lato"/>
                <a:cs typeface="Lato"/>
                <a:sym typeface="Lato"/>
              </a:rPr>
              <a:t>NGUỒN SÁNG</a:t>
            </a:r>
          </a:p>
        </p:txBody>
      </p:sp>
      <p:sp>
        <p:nvSpPr>
          <p:cNvPr name="TextBox 9" id="9"/>
          <p:cNvSpPr txBox="true"/>
          <p:nvPr/>
        </p:nvSpPr>
        <p:spPr>
          <a:xfrm rot="0">
            <a:off x="0" y="3031730"/>
            <a:ext cx="6231582" cy="6554536"/>
          </a:xfrm>
          <a:prstGeom prst="rect">
            <a:avLst/>
          </a:prstGeom>
        </p:spPr>
        <p:txBody>
          <a:bodyPr anchor="t" rtlCol="false" tIns="0" lIns="0" bIns="0" rIns="0">
            <a:spAutoFit/>
          </a:bodyPr>
          <a:lstStyle/>
          <a:p>
            <a:pPr algn="l" marL="584689" indent="-292344" lvl="1">
              <a:lnSpc>
                <a:spcPts val="4739"/>
              </a:lnSpc>
              <a:buAutoNum type="arabicPeriod" startAt="1"/>
            </a:pPr>
            <a:r>
              <a:rPr lang="en-US" b="true" sz="2708">
                <a:solidFill>
                  <a:srgbClr val="FFFFFF"/>
                </a:solidFill>
                <a:latin typeface="DM Sans Bold"/>
                <a:ea typeface="DM Sans Bold"/>
                <a:cs typeface="DM Sans Bold"/>
                <a:sym typeface="DM Sans Bold"/>
              </a:rPr>
              <a:t>UV (I -LINE)</a:t>
            </a:r>
            <a:r>
              <a:rPr lang="en-US" sz="2708">
                <a:solidFill>
                  <a:srgbClr val="FFFFFF"/>
                </a:solidFill>
                <a:latin typeface="DM Sans"/>
                <a:ea typeface="DM Sans"/>
                <a:cs typeface="DM Sans"/>
                <a:sym typeface="DM Sans"/>
              </a:rPr>
              <a:t>: </a:t>
            </a:r>
          </a:p>
          <a:p>
            <a:pPr algn="l" marL="584689" indent="-292344" lvl="1">
              <a:lnSpc>
                <a:spcPts val="4739"/>
              </a:lnSpc>
              <a:buFont typeface="Arial"/>
              <a:buChar char="•"/>
            </a:pPr>
            <a:r>
              <a:rPr lang="en-US" sz="2708">
                <a:solidFill>
                  <a:srgbClr val="FFFFFF"/>
                </a:solidFill>
                <a:latin typeface="DM Sans"/>
                <a:ea typeface="DM Sans"/>
                <a:cs typeface="DM Sans"/>
                <a:sym typeface="DM Sans"/>
              </a:rPr>
              <a:t>Bước sóng: ~365 nm</a:t>
            </a:r>
          </a:p>
          <a:p>
            <a:pPr algn="l" marL="584689" indent="-292344" lvl="1">
              <a:lnSpc>
                <a:spcPts val="4739"/>
              </a:lnSpc>
              <a:buFont typeface="Arial"/>
              <a:buChar char="•"/>
            </a:pPr>
            <a:r>
              <a:rPr lang="en-US" sz="2708">
                <a:solidFill>
                  <a:srgbClr val="FFFFFF"/>
                </a:solidFill>
                <a:latin typeface="Canva Sans"/>
                <a:ea typeface="Canva Sans"/>
                <a:cs typeface="Canva Sans"/>
                <a:sym typeface="Canva Sans"/>
              </a:rPr>
              <a:t>Sử dụng đèn hồ quang thủy ngân để tạo nguồn sáng, hoạt động trong môi trường không khí bình thường</a:t>
            </a:r>
          </a:p>
          <a:p>
            <a:pPr algn="l" marL="584689" indent="-292344" lvl="1">
              <a:lnSpc>
                <a:spcPts val="4739"/>
              </a:lnSpc>
              <a:buFont typeface="Arial"/>
              <a:buChar char="•"/>
            </a:pPr>
            <a:r>
              <a:rPr lang="en-US" sz="2708">
                <a:solidFill>
                  <a:srgbClr val="FFFFFF"/>
                </a:solidFill>
                <a:latin typeface="DM Sans"/>
                <a:ea typeface="DM Sans"/>
                <a:cs typeface="DM Sans"/>
                <a:sym typeface="DM Sans"/>
              </a:rPr>
              <a:t>Chi phí thấp, dễ vận hành và bảo hành</a:t>
            </a:r>
          </a:p>
          <a:p>
            <a:pPr algn="l" marL="584689" indent="-292344" lvl="1">
              <a:lnSpc>
                <a:spcPts val="4739"/>
              </a:lnSpc>
              <a:buFont typeface="Arial"/>
              <a:buChar char="•"/>
            </a:pPr>
            <a:r>
              <a:rPr lang="en-US" sz="2708">
                <a:solidFill>
                  <a:srgbClr val="FFFFFF"/>
                </a:solidFill>
                <a:latin typeface="DM Sans"/>
                <a:ea typeface="DM Sans"/>
                <a:cs typeface="DM Sans"/>
                <a:sym typeface="DM Sans"/>
              </a:rPr>
              <a:t>Ứng dụng: cảm biến mems, linh kiện công SUẤT, vi điều khiển cơ bản,...</a:t>
            </a:r>
          </a:p>
        </p:txBody>
      </p:sp>
      <p:sp>
        <p:nvSpPr>
          <p:cNvPr name="TextBox 10" id="10"/>
          <p:cNvSpPr txBox="true"/>
          <p:nvPr/>
        </p:nvSpPr>
        <p:spPr>
          <a:xfrm rot="0">
            <a:off x="6252757" y="3069830"/>
            <a:ext cx="5980679" cy="6564061"/>
          </a:xfrm>
          <a:prstGeom prst="rect">
            <a:avLst/>
          </a:prstGeom>
        </p:spPr>
        <p:txBody>
          <a:bodyPr anchor="t" rtlCol="false" tIns="0" lIns="0" bIns="0" rIns="0">
            <a:spAutoFit/>
          </a:bodyPr>
          <a:lstStyle/>
          <a:p>
            <a:pPr algn="l" marL="584689" indent="-292344" lvl="1">
              <a:lnSpc>
                <a:spcPts val="4739"/>
              </a:lnSpc>
              <a:buAutoNum type="arabicPeriod" startAt="1"/>
            </a:pPr>
            <a:r>
              <a:rPr lang="en-US" b="true" sz="2708">
                <a:solidFill>
                  <a:srgbClr val="FFFFFF"/>
                </a:solidFill>
                <a:latin typeface="Lato Bold"/>
                <a:ea typeface="Lato Bold"/>
                <a:cs typeface="Lato Bold"/>
                <a:sym typeface="Lato Bold"/>
              </a:rPr>
              <a:t>DUV</a:t>
            </a:r>
          </a:p>
          <a:p>
            <a:pPr algn="l" marL="584689" indent="-292344" lvl="1">
              <a:lnSpc>
                <a:spcPts val="4739"/>
              </a:lnSpc>
              <a:buFont typeface="Arial"/>
              <a:buChar char="•"/>
            </a:pPr>
            <a:r>
              <a:rPr lang="en-US" sz="2708">
                <a:solidFill>
                  <a:srgbClr val="FFFFFF"/>
                </a:solidFill>
                <a:latin typeface="Lato"/>
                <a:ea typeface="Lato"/>
                <a:cs typeface="Lato"/>
                <a:sym typeface="Lato"/>
              </a:rPr>
              <a:t>Bước sóng: 248 nm và 193 nm</a:t>
            </a:r>
          </a:p>
          <a:p>
            <a:pPr algn="l" marL="584689" indent="-292344" lvl="1">
              <a:lnSpc>
                <a:spcPts val="4739"/>
              </a:lnSpc>
              <a:buFont typeface="Arial"/>
              <a:buChar char="•"/>
            </a:pPr>
            <a:r>
              <a:rPr lang="en-US" sz="2708">
                <a:solidFill>
                  <a:srgbClr val="FFFFFF"/>
                </a:solidFill>
                <a:latin typeface="Lato"/>
                <a:ea typeface="Lato"/>
                <a:cs typeface="Lato"/>
                <a:sym typeface="Lato"/>
              </a:rPr>
              <a:t>Sử Dụng công nghệ Laser Excimer   để tạo nguồn sáng, họat động trong môi trường không khí tinh khiết</a:t>
            </a:r>
          </a:p>
          <a:p>
            <a:pPr algn="l">
              <a:lnSpc>
                <a:spcPts val="4739"/>
              </a:lnSpc>
            </a:pPr>
          </a:p>
          <a:p>
            <a:pPr algn="l" marL="584689" indent="-292344" lvl="1">
              <a:lnSpc>
                <a:spcPts val="4739"/>
              </a:lnSpc>
              <a:buFont typeface="Arial"/>
              <a:buChar char="•"/>
            </a:pPr>
            <a:r>
              <a:rPr lang="en-US" sz="2708">
                <a:solidFill>
                  <a:srgbClr val="FFFFFF"/>
                </a:solidFill>
                <a:latin typeface="Lato"/>
                <a:ea typeface="Lato"/>
                <a:cs typeface="Lato"/>
                <a:sym typeface="Lato"/>
              </a:rPr>
              <a:t>Chi phí cao</a:t>
            </a:r>
          </a:p>
          <a:p>
            <a:pPr algn="l">
              <a:lnSpc>
                <a:spcPts val="4739"/>
              </a:lnSpc>
            </a:pPr>
          </a:p>
          <a:p>
            <a:pPr algn="l" marL="584689" indent="-292344" lvl="1">
              <a:lnSpc>
                <a:spcPts val="4739"/>
              </a:lnSpc>
              <a:buFont typeface="Arial"/>
              <a:buChar char="•"/>
            </a:pPr>
            <a:r>
              <a:rPr lang="en-US" sz="2708">
                <a:solidFill>
                  <a:srgbClr val="FFFFFF"/>
                </a:solidFill>
                <a:latin typeface="Lato"/>
                <a:ea typeface="Lato"/>
                <a:cs typeface="Lato"/>
                <a:sym typeface="Lato"/>
              </a:rPr>
              <a:t>Ứ</a:t>
            </a:r>
            <a:r>
              <a:rPr lang="en-US" sz="2708">
                <a:solidFill>
                  <a:srgbClr val="FFFFFF"/>
                </a:solidFill>
                <a:latin typeface="Lato"/>
                <a:ea typeface="Lato"/>
                <a:cs typeface="Lato"/>
                <a:sym typeface="Lato"/>
              </a:rPr>
              <a:t>ng dụng: Bộ nhớ DRAM, NAND Flash, chip mạng, vi xử lý phổ thông,...</a:t>
            </a:r>
          </a:p>
        </p:txBody>
      </p:sp>
      <p:sp>
        <p:nvSpPr>
          <p:cNvPr name="TextBox 11" id="11"/>
          <p:cNvSpPr txBox="true"/>
          <p:nvPr/>
        </p:nvSpPr>
        <p:spPr>
          <a:xfrm rot="0">
            <a:off x="12382409" y="3069830"/>
            <a:ext cx="5729959" cy="6564061"/>
          </a:xfrm>
          <a:prstGeom prst="rect">
            <a:avLst/>
          </a:prstGeom>
        </p:spPr>
        <p:txBody>
          <a:bodyPr anchor="t" rtlCol="false" tIns="0" lIns="0" bIns="0" rIns="0">
            <a:spAutoFit/>
          </a:bodyPr>
          <a:lstStyle/>
          <a:p>
            <a:pPr algn="l" marL="584689" indent="-292344" lvl="1">
              <a:lnSpc>
                <a:spcPts val="4739"/>
              </a:lnSpc>
              <a:buAutoNum type="arabicPeriod" startAt="1"/>
            </a:pPr>
            <a:r>
              <a:rPr lang="en-US" b="true" sz="2708">
                <a:solidFill>
                  <a:srgbClr val="FFFFFF"/>
                </a:solidFill>
                <a:latin typeface="Lato Bold"/>
                <a:ea typeface="Lato Bold"/>
                <a:cs typeface="Lato Bold"/>
                <a:sym typeface="Lato Bold"/>
              </a:rPr>
              <a:t>EUV</a:t>
            </a:r>
          </a:p>
          <a:p>
            <a:pPr algn="l" marL="584689" indent="-292344" lvl="1">
              <a:lnSpc>
                <a:spcPts val="4739"/>
              </a:lnSpc>
              <a:buFont typeface="Arial"/>
              <a:buChar char="•"/>
            </a:pPr>
            <a:r>
              <a:rPr lang="en-US" sz="2708">
                <a:solidFill>
                  <a:srgbClr val="FFFFFF"/>
                </a:solidFill>
                <a:latin typeface="Lato"/>
                <a:ea typeface="Lato"/>
                <a:cs typeface="Lato"/>
                <a:sym typeface="Lato"/>
              </a:rPr>
              <a:t>Bước sóng: 13.5 nm</a:t>
            </a:r>
          </a:p>
          <a:p>
            <a:pPr algn="l" marL="584689" indent="-292344" lvl="1">
              <a:lnSpc>
                <a:spcPts val="4739"/>
              </a:lnSpc>
              <a:buFont typeface="Arial"/>
              <a:buChar char="•"/>
            </a:pPr>
            <a:r>
              <a:rPr lang="en-US" sz="2708">
                <a:solidFill>
                  <a:srgbClr val="FFFFFF"/>
                </a:solidFill>
                <a:latin typeface="Lato"/>
                <a:ea typeface="Lato"/>
                <a:cs typeface="Lato"/>
                <a:sym typeface="Lato"/>
              </a:rPr>
              <a:t>Sử dụng công nghệ laser - produced plasma tạo nguồn sáng, hoạt động trong môi trường chân không</a:t>
            </a:r>
          </a:p>
          <a:p>
            <a:pPr algn="l" marL="584689" indent="-292344" lvl="1">
              <a:lnSpc>
                <a:spcPts val="4739"/>
              </a:lnSpc>
              <a:buFont typeface="Arial"/>
              <a:buChar char="•"/>
            </a:pPr>
            <a:r>
              <a:rPr lang="en-US" sz="2708">
                <a:solidFill>
                  <a:srgbClr val="FFFFFF"/>
                </a:solidFill>
                <a:latin typeface="Lato"/>
                <a:ea typeface="Lato"/>
                <a:cs typeface="Lato"/>
                <a:sym typeface="Lato"/>
              </a:rPr>
              <a:t>Chi phí  cực cao, khó vận hành và bảo dưỡng</a:t>
            </a:r>
          </a:p>
          <a:p>
            <a:pPr algn="l" marL="584689" indent="-292344" lvl="1">
              <a:lnSpc>
                <a:spcPts val="4739"/>
              </a:lnSpc>
              <a:buFont typeface="Arial"/>
              <a:buChar char="•"/>
            </a:pPr>
            <a:r>
              <a:rPr lang="en-US" sz="2708">
                <a:solidFill>
                  <a:srgbClr val="FFFFFF"/>
                </a:solidFill>
                <a:latin typeface="Lato"/>
                <a:ea typeface="Lato"/>
                <a:cs typeface="Lato"/>
                <a:sym typeface="Lato"/>
              </a:rPr>
              <a:t>Ứng dụng: Vi xử lý tối tân nhất cho AI, trung tâm dữ liệu và smartphone cao cấp,....</a:t>
            </a:r>
          </a:p>
        </p:txBody>
      </p:sp>
      <p:sp>
        <p:nvSpPr>
          <p:cNvPr name="TextBox 12" id="12"/>
          <p:cNvSpPr txBox="true"/>
          <p:nvPr/>
        </p:nvSpPr>
        <p:spPr>
          <a:xfrm rot="0">
            <a:off x="548826" y="2309034"/>
            <a:ext cx="6231582" cy="532196"/>
          </a:xfrm>
          <a:prstGeom prst="rect">
            <a:avLst/>
          </a:prstGeom>
        </p:spPr>
        <p:txBody>
          <a:bodyPr anchor="t" rtlCol="false" tIns="0" lIns="0" bIns="0" rIns="0">
            <a:spAutoFit/>
          </a:bodyPr>
          <a:lstStyle/>
          <a:p>
            <a:pPr algn="l">
              <a:lnSpc>
                <a:spcPts val="4564"/>
              </a:lnSpc>
            </a:pPr>
            <a:r>
              <a:rPr lang="en-US" sz="2608">
                <a:solidFill>
                  <a:srgbClr val="FFFFFF"/>
                </a:solidFill>
                <a:latin typeface="Lato"/>
                <a:ea typeface="Lato"/>
                <a:cs typeface="Lato"/>
                <a:sym typeface="Lato"/>
              </a:rPr>
              <a:t>GỒM 3 LOẠI CHÍNH:</a:t>
            </a:r>
          </a:p>
        </p:txBody>
      </p:sp>
      <p:sp>
        <p:nvSpPr>
          <p:cNvPr name="AutoShape 13" id="13"/>
          <p:cNvSpPr/>
          <p:nvPr/>
        </p:nvSpPr>
        <p:spPr>
          <a:xfrm flipH="true">
            <a:off x="6222057" y="3138830"/>
            <a:ext cx="9525" cy="7045016"/>
          </a:xfrm>
          <a:prstGeom prst="line">
            <a:avLst/>
          </a:prstGeom>
          <a:ln cap="flat" w="19050">
            <a:solidFill>
              <a:srgbClr val="D9D9D9"/>
            </a:solidFill>
            <a:prstDash val="solid"/>
            <a:headEnd type="none" len="sm" w="sm"/>
            <a:tailEnd type="none" len="sm" w="sm"/>
          </a:ln>
        </p:spPr>
      </p:sp>
      <p:sp>
        <p:nvSpPr>
          <p:cNvPr name="AutoShape 14" id="14"/>
          <p:cNvSpPr/>
          <p:nvPr/>
        </p:nvSpPr>
        <p:spPr>
          <a:xfrm flipH="true">
            <a:off x="12262011" y="3174617"/>
            <a:ext cx="9525" cy="7045016"/>
          </a:xfrm>
          <a:prstGeom prst="line">
            <a:avLst/>
          </a:prstGeom>
          <a:ln cap="flat" w="19050">
            <a:solidFill>
              <a:srgbClr val="D9D9D9"/>
            </a:solidFill>
            <a:prstDash val="solid"/>
            <a:headEnd type="none" len="sm" w="sm"/>
            <a:tailEnd type="none" len="sm" w="sm"/>
          </a:ln>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95493" y="460194"/>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7157477" y="9397181"/>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5" id="5"/>
          <p:cNvSpPr/>
          <p:nvPr/>
        </p:nvSpPr>
        <p:spPr>
          <a:xfrm>
            <a:off x="7603830" y="9832565"/>
            <a:ext cx="9553646" cy="0"/>
          </a:xfrm>
          <a:prstGeom prst="line">
            <a:avLst/>
          </a:prstGeom>
          <a:ln cap="flat" w="19050">
            <a:solidFill>
              <a:srgbClr val="D9D9D9"/>
            </a:solidFill>
            <a:prstDash val="solid"/>
            <a:headEnd type="none" len="sm" w="sm"/>
            <a:tailEnd type="none" len="sm" w="sm"/>
          </a:ln>
        </p:spPr>
      </p:sp>
      <p:sp>
        <p:nvSpPr>
          <p:cNvPr name="Freeform 6" id="6"/>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0346541" y="212277"/>
            <a:ext cx="1148953" cy="1138508"/>
          </a:xfrm>
          <a:custGeom>
            <a:avLst/>
            <a:gdLst/>
            <a:ahLst/>
            <a:cxnLst/>
            <a:rect r="r" b="b" t="t" l="l"/>
            <a:pathLst>
              <a:path h="1138508" w="1148953">
                <a:moveTo>
                  <a:pt x="0" y="0"/>
                </a:moveTo>
                <a:lnTo>
                  <a:pt x="1148952" y="0"/>
                </a:lnTo>
                <a:lnTo>
                  <a:pt x="1148952" y="1138508"/>
                </a:lnTo>
                <a:lnTo>
                  <a:pt x="0" y="11385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9" id="9"/>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10" id="10"/>
          <p:cNvSpPr/>
          <p:nvPr/>
        </p:nvSpPr>
        <p:spPr>
          <a:xfrm flipH="false" flipV="false" rot="0">
            <a:off x="9714215" y="1848054"/>
            <a:ext cx="6987951" cy="7598228"/>
          </a:xfrm>
          <a:custGeom>
            <a:avLst/>
            <a:gdLst/>
            <a:ahLst/>
            <a:cxnLst/>
            <a:rect r="r" b="b" t="t" l="l"/>
            <a:pathLst>
              <a:path h="7598228" w="6987951">
                <a:moveTo>
                  <a:pt x="0" y="0"/>
                </a:moveTo>
                <a:lnTo>
                  <a:pt x="6987951" y="0"/>
                </a:lnTo>
                <a:lnTo>
                  <a:pt x="6987951" y="7598228"/>
                </a:lnTo>
                <a:lnTo>
                  <a:pt x="0" y="7598228"/>
                </a:lnTo>
                <a:lnTo>
                  <a:pt x="0" y="0"/>
                </a:lnTo>
                <a:close/>
              </a:path>
            </a:pathLst>
          </a:custGeom>
          <a:blipFill>
            <a:blip r:embed="rId13"/>
            <a:stretch>
              <a:fillRect l="0" t="0" r="0" b="-15501"/>
            </a:stretch>
          </a:blipFill>
        </p:spPr>
      </p:sp>
      <p:sp>
        <p:nvSpPr>
          <p:cNvPr name="TextBox 11" id="11"/>
          <p:cNvSpPr txBox="true"/>
          <p:nvPr/>
        </p:nvSpPr>
        <p:spPr>
          <a:xfrm rot="0">
            <a:off x="792894" y="463530"/>
            <a:ext cx="14519859" cy="611964"/>
          </a:xfrm>
          <a:prstGeom prst="rect">
            <a:avLst/>
          </a:prstGeom>
        </p:spPr>
        <p:txBody>
          <a:bodyPr anchor="t" rtlCol="false" tIns="0" lIns="0" bIns="0" rIns="0">
            <a:spAutoFit/>
          </a:bodyPr>
          <a:lstStyle/>
          <a:p>
            <a:pPr algn="l">
              <a:lnSpc>
                <a:spcPts val="4593"/>
              </a:lnSpc>
            </a:pPr>
            <a:r>
              <a:rPr lang="en-US" sz="4593">
                <a:solidFill>
                  <a:srgbClr val="FFFFFF"/>
                </a:solidFill>
                <a:latin typeface="Lato"/>
                <a:ea typeface="Lato"/>
                <a:cs typeface="Lato"/>
                <a:sym typeface="Lato"/>
              </a:rPr>
              <a:t>4. Thiết bị và công nghệ quang khắc</a:t>
            </a:r>
          </a:p>
        </p:txBody>
      </p:sp>
      <p:sp>
        <p:nvSpPr>
          <p:cNvPr name="TextBox 12" id="12"/>
          <p:cNvSpPr txBox="true"/>
          <p:nvPr/>
        </p:nvSpPr>
        <p:spPr>
          <a:xfrm rot="0">
            <a:off x="472509" y="1872863"/>
            <a:ext cx="15518310" cy="520839"/>
          </a:xfrm>
          <a:prstGeom prst="rect">
            <a:avLst/>
          </a:prstGeom>
        </p:spPr>
        <p:txBody>
          <a:bodyPr anchor="t" rtlCol="false" tIns="0" lIns="0" bIns="0" rIns="0">
            <a:spAutoFit/>
          </a:bodyPr>
          <a:lstStyle/>
          <a:p>
            <a:pPr algn="l">
              <a:lnSpc>
                <a:spcPts val="3807"/>
              </a:lnSpc>
            </a:pPr>
            <a:r>
              <a:rPr lang="en-US" sz="4277">
                <a:solidFill>
                  <a:srgbClr val="FFFFFF"/>
                </a:solidFill>
                <a:latin typeface="Lato"/>
                <a:ea typeface="Lato"/>
                <a:cs typeface="Lato"/>
                <a:sym typeface="Lato"/>
              </a:rPr>
              <a:t>HỆ THỐNG CĂN CHỈNH</a:t>
            </a:r>
          </a:p>
        </p:txBody>
      </p:sp>
      <p:sp>
        <p:nvSpPr>
          <p:cNvPr name="TextBox 13" id="13"/>
          <p:cNvSpPr txBox="true"/>
          <p:nvPr/>
        </p:nvSpPr>
        <p:spPr>
          <a:xfrm rot="0">
            <a:off x="792894" y="2627586"/>
            <a:ext cx="7853728" cy="6818696"/>
          </a:xfrm>
          <a:prstGeom prst="rect">
            <a:avLst/>
          </a:prstGeom>
        </p:spPr>
        <p:txBody>
          <a:bodyPr anchor="t" rtlCol="false" tIns="0" lIns="0" bIns="0" rIns="0">
            <a:spAutoFit/>
          </a:bodyPr>
          <a:lstStyle/>
          <a:p>
            <a:pPr algn="just">
              <a:lnSpc>
                <a:spcPts val="4564"/>
              </a:lnSpc>
            </a:pPr>
            <a:r>
              <a:rPr lang="en-US" sz="2608">
                <a:solidFill>
                  <a:srgbClr val="FFFFFF"/>
                </a:solidFill>
                <a:latin typeface="Lato"/>
                <a:ea typeface="Lato"/>
                <a:cs typeface="Lato"/>
                <a:sym typeface="Lato"/>
              </a:rPr>
              <a:t>GỒM 4 TIÊU CHÍ CHÍNH</a:t>
            </a:r>
          </a:p>
          <a:p>
            <a:pPr algn="just" marL="563099" indent="-281550" lvl="1">
              <a:lnSpc>
                <a:spcPts val="4564"/>
              </a:lnSpc>
              <a:buFont typeface="Arial"/>
              <a:buChar char="•"/>
            </a:pPr>
            <a:r>
              <a:rPr lang="en-US" sz="2608">
                <a:solidFill>
                  <a:srgbClr val="FFFFFF"/>
                </a:solidFill>
                <a:latin typeface="Canva Sans"/>
                <a:ea typeface="Canva Sans"/>
                <a:cs typeface="Canva Sans"/>
                <a:sym typeface="Canva Sans"/>
              </a:rPr>
              <a:t>Độ chính xác xếp chồng (Overlay Accuracy): sai số khoảng 1.5 - 2 nm</a:t>
            </a:r>
          </a:p>
          <a:p>
            <a:pPr algn="just" marL="563099" indent="-281550" lvl="1">
              <a:lnSpc>
                <a:spcPts val="4564"/>
              </a:lnSpc>
              <a:buFont typeface="Arial"/>
              <a:buChar char="•"/>
            </a:pPr>
            <a:r>
              <a:rPr lang="en-US" sz="2608">
                <a:solidFill>
                  <a:srgbClr val="FFFFFF"/>
                </a:solidFill>
                <a:latin typeface="Lato"/>
                <a:ea typeface="Lato"/>
                <a:cs typeface="Lato"/>
                <a:sym typeface="Lato"/>
              </a:rPr>
              <a:t>Điểm đánh dấu căn chỉnh (Alignment Marks):  Máy sẽ sử dụng tia laser quét qua các vạch này để xác định tọa độ (x,y) và góc xoay .</a:t>
            </a:r>
          </a:p>
          <a:p>
            <a:pPr algn="just" marL="563099" indent="-281550" lvl="1">
              <a:lnSpc>
                <a:spcPts val="4564"/>
              </a:lnSpc>
              <a:buFont typeface="Arial"/>
              <a:buChar char="•"/>
            </a:pPr>
            <a:r>
              <a:rPr lang="en-US" sz="2608">
                <a:solidFill>
                  <a:srgbClr val="FFFFFF"/>
                </a:solidFill>
                <a:latin typeface="Lato"/>
                <a:ea typeface="Lato"/>
                <a:cs typeface="Lato"/>
                <a:sym typeface="Lato"/>
              </a:rPr>
              <a:t>Hệ thống mâm kẹp (Wafer Stage): Wafer được đặt trên một bàn máy có khả năng di chuyển cực nhanh và chính xác.</a:t>
            </a:r>
          </a:p>
          <a:p>
            <a:pPr algn="just" marL="563099" indent="-281550" lvl="1">
              <a:lnSpc>
                <a:spcPts val="4564"/>
              </a:lnSpc>
              <a:buFont typeface="Arial"/>
              <a:buChar char="•"/>
            </a:pPr>
            <a:r>
              <a:rPr lang="en-US" sz="2608">
                <a:solidFill>
                  <a:srgbClr val="FFFFFF"/>
                </a:solidFill>
                <a:latin typeface="Lato"/>
                <a:ea typeface="Lato"/>
                <a:cs typeface="Lato"/>
                <a:sym typeface="Lato"/>
              </a:rPr>
              <a:t>Chiến lược đo lường:Máy thường thực hiện "căn chỉnh thô" (Coarse alignment) để tìm vị trí tổng quát, sau đó là "căn chỉnh tinh" (Fine alignment) </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495493" y="460194"/>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8471625" y="9837044"/>
            <a:ext cx="9553646" cy="0"/>
          </a:xfrm>
          <a:prstGeom prst="line">
            <a:avLst/>
          </a:prstGeom>
          <a:ln cap="flat" w="19050">
            <a:solidFill>
              <a:srgbClr val="D9D9D9"/>
            </a:solidFill>
            <a:prstDash val="solid"/>
            <a:headEnd type="none" len="sm" w="sm"/>
            <a:tailEnd type="none" len="sm" w="sm"/>
          </a:ln>
        </p:spPr>
      </p:sp>
      <p:sp>
        <p:nvSpPr>
          <p:cNvPr name="Freeform 5" id="5"/>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0346541" y="212277"/>
            <a:ext cx="1148953" cy="1138508"/>
          </a:xfrm>
          <a:custGeom>
            <a:avLst/>
            <a:gdLst/>
            <a:ahLst/>
            <a:cxnLst/>
            <a:rect r="r" b="b" t="t" l="l"/>
            <a:pathLst>
              <a:path h="1138508" w="1148953">
                <a:moveTo>
                  <a:pt x="0" y="0"/>
                </a:moveTo>
                <a:lnTo>
                  <a:pt x="1148952" y="0"/>
                </a:lnTo>
                <a:lnTo>
                  <a:pt x="1148952" y="1138508"/>
                </a:lnTo>
                <a:lnTo>
                  <a:pt x="0" y="113850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AutoShape 8" id="8"/>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9" id="9"/>
          <p:cNvSpPr/>
          <p:nvPr/>
        </p:nvSpPr>
        <p:spPr>
          <a:xfrm flipH="false" flipV="false" rot="0">
            <a:off x="10769087" y="2617823"/>
            <a:ext cx="7310048" cy="6981096"/>
          </a:xfrm>
          <a:custGeom>
            <a:avLst/>
            <a:gdLst/>
            <a:ahLst/>
            <a:cxnLst/>
            <a:rect r="r" b="b" t="t" l="l"/>
            <a:pathLst>
              <a:path h="6981096" w="7310048">
                <a:moveTo>
                  <a:pt x="0" y="0"/>
                </a:moveTo>
                <a:lnTo>
                  <a:pt x="7310048" y="0"/>
                </a:lnTo>
                <a:lnTo>
                  <a:pt x="7310048" y="6981096"/>
                </a:lnTo>
                <a:lnTo>
                  <a:pt x="0" y="6981096"/>
                </a:lnTo>
                <a:lnTo>
                  <a:pt x="0" y="0"/>
                </a:lnTo>
                <a:close/>
              </a:path>
            </a:pathLst>
          </a:custGeom>
          <a:blipFill>
            <a:blip r:embed="rId11"/>
            <a:stretch>
              <a:fillRect l="0" t="0" r="0" b="0"/>
            </a:stretch>
          </a:blipFill>
        </p:spPr>
      </p:sp>
      <p:sp>
        <p:nvSpPr>
          <p:cNvPr name="TextBox 10" id="10"/>
          <p:cNvSpPr txBox="true"/>
          <p:nvPr/>
        </p:nvSpPr>
        <p:spPr>
          <a:xfrm rot="0">
            <a:off x="792894" y="463530"/>
            <a:ext cx="14519859" cy="611964"/>
          </a:xfrm>
          <a:prstGeom prst="rect">
            <a:avLst/>
          </a:prstGeom>
        </p:spPr>
        <p:txBody>
          <a:bodyPr anchor="t" rtlCol="false" tIns="0" lIns="0" bIns="0" rIns="0">
            <a:spAutoFit/>
          </a:bodyPr>
          <a:lstStyle/>
          <a:p>
            <a:pPr algn="l">
              <a:lnSpc>
                <a:spcPts val="4593"/>
              </a:lnSpc>
            </a:pPr>
            <a:r>
              <a:rPr lang="en-US" sz="4593">
                <a:solidFill>
                  <a:srgbClr val="FFFFFF"/>
                </a:solidFill>
                <a:latin typeface="Lato"/>
                <a:ea typeface="Lato"/>
                <a:cs typeface="Lato"/>
                <a:sym typeface="Lato"/>
              </a:rPr>
              <a:t>4. Thiết bị và công nghệ quang khắc</a:t>
            </a:r>
          </a:p>
        </p:txBody>
      </p:sp>
      <p:sp>
        <p:nvSpPr>
          <p:cNvPr name="TextBox 11" id="11"/>
          <p:cNvSpPr txBox="true"/>
          <p:nvPr/>
        </p:nvSpPr>
        <p:spPr>
          <a:xfrm rot="0">
            <a:off x="472509" y="1872863"/>
            <a:ext cx="17606627" cy="520839"/>
          </a:xfrm>
          <a:prstGeom prst="rect">
            <a:avLst/>
          </a:prstGeom>
        </p:spPr>
        <p:txBody>
          <a:bodyPr anchor="t" rtlCol="false" tIns="0" lIns="0" bIns="0" rIns="0">
            <a:spAutoFit/>
          </a:bodyPr>
          <a:lstStyle/>
          <a:p>
            <a:pPr algn="l">
              <a:lnSpc>
                <a:spcPts val="3807"/>
              </a:lnSpc>
            </a:pPr>
            <a:r>
              <a:rPr lang="en-US" sz="4277">
                <a:solidFill>
                  <a:srgbClr val="FFFFFF"/>
                </a:solidFill>
                <a:latin typeface="Lato"/>
                <a:ea typeface="Lato"/>
                <a:cs typeface="Lato"/>
                <a:sym typeface="Lato"/>
              </a:rPr>
              <a:t>CÔNG NGHỆ IMMERSION LITHOGRAPHY (QUANG KHẮC NHÚNG)</a:t>
            </a:r>
          </a:p>
        </p:txBody>
      </p:sp>
      <p:sp>
        <p:nvSpPr>
          <p:cNvPr name="TextBox 12" id="12"/>
          <p:cNvSpPr txBox="true"/>
          <p:nvPr/>
        </p:nvSpPr>
        <p:spPr>
          <a:xfrm rot="0">
            <a:off x="620169" y="2465423"/>
            <a:ext cx="9874032" cy="5363911"/>
          </a:xfrm>
          <a:prstGeom prst="rect">
            <a:avLst/>
          </a:prstGeom>
        </p:spPr>
        <p:txBody>
          <a:bodyPr anchor="t" rtlCol="false" tIns="0" lIns="0" bIns="0" rIns="0">
            <a:spAutoFit/>
          </a:bodyPr>
          <a:lstStyle/>
          <a:p>
            <a:pPr algn="just">
              <a:lnSpc>
                <a:spcPts val="4739"/>
              </a:lnSpc>
            </a:pPr>
            <a:r>
              <a:rPr lang="en-US" sz="2708">
                <a:solidFill>
                  <a:srgbClr val="FFFFFF"/>
                </a:solidFill>
                <a:latin typeface="Lato"/>
                <a:ea typeface="Lato"/>
                <a:cs typeface="Lato"/>
                <a:sym typeface="Lato"/>
              </a:rPr>
              <a:t>Nguyê</a:t>
            </a:r>
            <a:r>
              <a:rPr lang="en-US" sz="2708">
                <a:solidFill>
                  <a:srgbClr val="FFFFFF"/>
                </a:solidFill>
                <a:latin typeface="Lato"/>
                <a:ea typeface="Lato"/>
                <a:cs typeface="Lato"/>
                <a:sym typeface="Lato"/>
              </a:rPr>
              <a:t>n lý chiết suất: Ánh sáng khi đi từ môi trường này sang môi trường khác sẽ bị bẻ cong. </a:t>
            </a:r>
          </a:p>
          <a:p>
            <a:pPr algn="just">
              <a:lnSpc>
                <a:spcPts val="4739"/>
              </a:lnSpc>
            </a:pPr>
            <a:r>
              <a:rPr lang="en-US" sz="2708">
                <a:solidFill>
                  <a:srgbClr val="FFFFFF"/>
                </a:solidFill>
                <a:latin typeface="Lato"/>
                <a:ea typeface="Lato"/>
                <a:cs typeface="Lato"/>
                <a:sym typeface="Lato"/>
              </a:rPr>
              <a:t>Trong quang khắc nhúng, người ta đưa nước siêu tinh khiết (UPW) (n ~ 1.44 tại bước sóng 193nm) vào giữa thấu kính cuối cùng và Wafer theo công thức có sẵn</a:t>
            </a:r>
          </a:p>
          <a:p>
            <a:pPr algn="just">
              <a:lnSpc>
                <a:spcPts val="4739"/>
              </a:lnSpc>
            </a:pPr>
            <a:r>
              <a:rPr lang="en-US" sz="2708">
                <a:solidFill>
                  <a:srgbClr val="FFFFFF"/>
                </a:solidFill>
                <a:latin typeface="Lato"/>
                <a:ea typeface="Lato"/>
                <a:cs typeface="Lato"/>
                <a:sym typeface="Lato"/>
              </a:rPr>
              <a:t>-Các thách thức kỹ thuật:</a:t>
            </a:r>
          </a:p>
          <a:p>
            <a:pPr algn="just">
              <a:lnSpc>
                <a:spcPts val="4739"/>
              </a:lnSpc>
            </a:pPr>
            <a:r>
              <a:rPr lang="en-US" sz="2708">
                <a:solidFill>
                  <a:srgbClr val="FFFFFF"/>
                </a:solidFill>
                <a:latin typeface="Lato"/>
                <a:ea typeface="Lato"/>
                <a:cs typeface="Lato"/>
                <a:sym typeface="Lato"/>
              </a:rPr>
              <a:t>Bong bóng khí</a:t>
            </a:r>
          </a:p>
          <a:p>
            <a:pPr algn="just">
              <a:lnSpc>
                <a:spcPts val="4739"/>
              </a:lnSpc>
            </a:pPr>
            <a:r>
              <a:rPr lang="en-US" sz="2708">
                <a:solidFill>
                  <a:srgbClr val="FFFFFF"/>
                </a:solidFill>
                <a:latin typeface="Lato"/>
                <a:ea typeface="Lato"/>
                <a:cs typeface="Lato"/>
                <a:sym typeface="Lato"/>
              </a:rPr>
              <a:t>Kiểm soát nhiệt độ</a:t>
            </a:r>
          </a:p>
          <a:p>
            <a:pPr algn="just">
              <a:lnSpc>
                <a:spcPts val="4739"/>
              </a:lnSpc>
            </a:pPr>
            <a:r>
              <a:rPr lang="en-US" sz="2708">
                <a:solidFill>
                  <a:srgbClr val="FFFFFF"/>
                </a:solidFill>
                <a:latin typeface="Lato"/>
                <a:ea typeface="Lato"/>
                <a:cs typeface="Lato"/>
                <a:sym typeface="Lato"/>
              </a:rPr>
              <a:t>Ngấm nước:</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136487" y="630199"/>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89453" y="630199"/>
            <a:ext cx="1176400" cy="1135760"/>
          </a:xfrm>
          <a:custGeom>
            <a:avLst/>
            <a:gdLst/>
            <a:ahLst/>
            <a:cxnLst/>
            <a:rect r="r" b="b" t="t" l="l"/>
            <a:pathLst>
              <a:path h="1135760" w="1176400">
                <a:moveTo>
                  <a:pt x="0" y="0"/>
                </a:moveTo>
                <a:lnTo>
                  <a:pt x="1176399" y="0"/>
                </a:lnTo>
                <a:lnTo>
                  <a:pt x="1176399" y="1135761"/>
                </a:lnTo>
                <a:lnTo>
                  <a:pt x="0" y="11357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673279" y="154719"/>
            <a:ext cx="14028797" cy="1120604"/>
          </a:xfrm>
          <a:prstGeom prst="rect">
            <a:avLst/>
          </a:prstGeom>
        </p:spPr>
        <p:txBody>
          <a:bodyPr anchor="t" rtlCol="false" tIns="0" lIns="0" bIns="0" rIns="0">
            <a:spAutoFit/>
          </a:bodyPr>
          <a:lstStyle/>
          <a:p>
            <a:pPr algn="l">
              <a:lnSpc>
                <a:spcPts val="4230"/>
              </a:lnSpc>
            </a:pPr>
            <a:r>
              <a:rPr lang="en-US" sz="4753">
                <a:solidFill>
                  <a:srgbClr val="FFFFFF"/>
                </a:solidFill>
                <a:latin typeface="Lato"/>
                <a:ea typeface="Lato"/>
                <a:cs typeface="Lato"/>
                <a:sym typeface="Lato"/>
              </a:rPr>
              <a:t>5.THÁCH THỨC VÀ PHÁT TRIỂN TRONG QUANG KHẮC</a:t>
            </a:r>
          </a:p>
        </p:txBody>
      </p:sp>
      <p:sp>
        <p:nvSpPr>
          <p:cNvPr name="AutoShape 8" id="8"/>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9" id="9"/>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2" id="12"/>
          <p:cNvSpPr/>
          <p:nvPr/>
        </p:nvSpPr>
        <p:spPr>
          <a:xfrm>
            <a:off x="2564732" y="1265799"/>
            <a:ext cx="14170162" cy="9525"/>
          </a:xfrm>
          <a:prstGeom prst="line">
            <a:avLst/>
          </a:prstGeom>
          <a:ln cap="flat" w="19050">
            <a:solidFill>
              <a:srgbClr val="D9D9D9"/>
            </a:solidFill>
            <a:prstDash val="solid"/>
            <a:headEnd type="none" len="sm" w="sm"/>
            <a:tailEnd type="none" len="sm" w="sm"/>
          </a:ln>
        </p:spPr>
      </p:sp>
      <p:sp>
        <p:nvSpPr>
          <p:cNvPr name="TextBox 13" id="13"/>
          <p:cNvSpPr txBox="true"/>
          <p:nvPr/>
        </p:nvSpPr>
        <p:spPr>
          <a:xfrm rot="0">
            <a:off x="1229514" y="2244629"/>
            <a:ext cx="15673375" cy="6782626"/>
          </a:xfrm>
          <a:prstGeom prst="rect">
            <a:avLst/>
          </a:prstGeom>
        </p:spPr>
        <p:txBody>
          <a:bodyPr anchor="t" rtlCol="false" tIns="0" lIns="0" bIns="0" rIns="0">
            <a:spAutoFit/>
          </a:bodyPr>
          <a:lstStyle/>
          <a:p>
            <a:pPr algn="l">
              <a:lnSpc>
                <a:spcPts val="3700"/>
              </a:lnSpc>
            </a:pPr>
            <a:r>
              <a:rPr lang="en-US" sz="3700">
                <a:solidFill>
                  <a:srgbClr val="FFFFFF"/>
                </a:solidFill>
                <a:latin typeface="Lato"/>
                <a:ea typeface="Lato"/>
                <a:cs typeface="Lato"/>
                <a:sym typeface="Lato"/>
              </a:rPr>
              <a:t>5.1. Độ phân giải (Resolution limit)</a:t>
            </a:r>
          </a:p>
          <a:p>
            <a:pPr algn="l">
              <a:lnSpc>
                <a:spcPts val="2827"/>
              </a:lnSpc>
            </a:pPr>
            <a:r>
              <a:rPr lang="en-US" sz="2827">
                <a:solidFill>
                  <a:srgbClr val="FFFFFF"/>
                </a:solidFill>
                <a:latin typeface="Lato"/>
                <a:ea typeface="Lato"/>
                <a:cs typeface="Lato"/>
                <a:sym typeface="Lato"/>
              </a:rPr>
              <a:t>  </a:t>
            </a:r>
          </a:p>
          <a:p>
            <a:pPr algn="l">
              <a:lnSpc>
                <a:spcPts val="3127"/>
              </a:lnSpc>
            </a:pPr>
            <a:r>
              <a:rPr lang="en-US" sz="3127">
                <a:solidFill>
                  <a:srgbClr val="FFFFFF"/>
                </a:solidFill>
                <a:latin typeface="Lato"/>
                <a:ea typeface="Lato"/>
                <a:cs typeface="Lato"/>
                <a:sym typeface="Lato"/>
              </a:rPr>
              <a:t> </a:t>
            </a:r>
            <a:r>
              <a:rPr lang="en-US" sz="3127">
                <a:solidFill>
                  <a:srgbClr val="FFFFFF"/>
                </a:solidFill>
                <a:latin typeface="Lato"/>
                <a:ea typeface="Lato"/>
                <a:cs typeface="Lato"/>
                <a:sym typeface="Lato"/>
              </a:rPr>
              <a:t>- Độ phân giải là khả năng hệ thống quang khắc in được các chi tiết nhỏ nhất trên wafer. Đây là yếu tố quan trọng nhất quyết định công nghệ bán dẫn (node công nghệ như 7nm, 5nm,...).</a:t>
            </a:r>
          </a:p>
          <a:p>
            <a:pPr algn="l">
              <a:lnSpc>
                <a:spcPts val="3414"/>
              </a:lnSpc>
            </a:pPr>
            <a:r>
              <a:rPr lang="en-US" sz="3414">
                <a:solidFill>
                  <a:srgbClr val="FFFFFF"/>
                </a:solidFill>
                <a:latin typeface="Lato"/>
                <a:ea typeface="Lato"/>
                <a:cs typeface="Lato"/>
                <a:sym typeface="Lato"/>
              </a:rPr>
              <a:t>5.1.1. Công thức Rayleigh</a:t>
            </a:r>
          </a:p>
          <a:p>
            <a:pPr algn="l">
              <a:lnSpc>
                <a:spcPts val="3414"/>
              </a:lnSpc>
            </a:pPr>
          </a:p>
          <a:p>
            <a:pPr algn="ctr">
              <a:lnSpc>
                <a:spcPts val="3127"/>
              </a:lnSpc>
            </a:pPr>
            <a:r>
              <a:rPr lang="en-US" sz="3127">
                <a:solidFill>
                  <a:srgbClr val="FFFFFF"/>
                </a:solidFill>
                <a:latin typeface="Arial"/>
                <a:ea typeface="Arial"/>
                <a:cs typeface="Arial"/>
                <a:sym typeface="Arial"/>
              </a:rPr>
              <a:t>R= K1×λ/NA</a:t>
            </a:r>
          </a:p>
          <a:p>
            <a:pPr algn="ctr">
              <a:lnSpc>
                <a:spcPts val="3127"/>
              </a:lnSpc>
            </a:pPr>
          </a:p>
          <a:p>
            <a:pPr algn="l" marL="675222" indent="-337611" lvl="1">
              <a:lnSpc>
                <a:spcPts val="3127"/>
              </a:lnSpc>
              <a:buFont typeface="Arial"/>
              <a:buChar char="•"/>
            </a:pPr>
            <a:r>
              <a:rPr lang="en-US" sz="3127">
                <a:solidFill>
                  <a:srgbClr val="FFFFFF"/>
                </a:solidFill>
                <a:latin typeface="Lato"/>
                <a:ea typeface="Lato"/>
                <a:cs typeface="Lato"/>
                <a:sym typeface="Lato"/>
              </a:rPr>
              <a:t>Trong đó:</a:t>
            </a:r>
          </a:p>
          <a:p>
            <a:pPr algn="l">
              <a:lnSpc>
                <a:spcPts val="3127"/>
              </a:lnSpc>
            </a:pPr>
            <a:r>
              <a:rPr lang="en-US" sz="3127">
                <a:solidFill>
                  <a:srgbClr val="FFFFFF"/>
                </a:solidFill>
                <a:latin typeface="Lato"/>
                <a:ea typeface="Lato"/>
                <a:cs typeface="Lato"/>
                <a:sym typeface="Lato"/>
              </a:rPr>
              <a:t>R</a:t>
            </a:r>
            <a:r>
              <a:rPr lang="en-US" sz="3127">
                <a:solidFill>
                  <a:srgbClr val="FFFFFF"/>
                </a:solidFill>
                <a:latin typeface="Lato"/>
                <a:ea typeface="Lato"/>
                <a:cs typeface="Lato"/>
                <a:sym typeface="Lato"/>
              </a:rPr>
              <a:t>: kích thước nhỏ nhất có thể in (resolution) </a:t>
            </a:r>
          </a:p>
          <a:p>
            <a:pPr algn="l">
              <a:lnSpc>
                <a:spcPts val="3127"/>
              </a:lnSpc>
            </a:pPr>
            <a:r>
              <a:rPr lang="en-US" sz="3127">
                <a:solidFill>
                  <a:srgbClr val="FFFFFF"/>
                </a:solidFill>
                <a:latin typeface="Lato"/>
                <a:ea typeface="Lato"/>
                <a:cs typeface="Lato"/>
                <a:sym typeface="Lato"/>
              </a:rPr>
              <a:t>K1</a:t>
            </a:r>
            <a:r>
              <a:rPr lang="en-US" sz="3127">
                <a:solidFill>
                  <a:srgbClr val="FFFFFF"/>
                </a:solidFill>
                <a:latin typeface="Lato"/>
                <a:ea typeface="Lato"/>
                <a:cs typeface="Lato"/>
                <a:sym typeface="Lato"/>
              </a:rPr>
              <a:t>: hệ số công nghệ (≈ 0.25 – 0.9) </a:t>
            </a:r>
          </a:p>
          <a:p>
            <a:pPr algn="l">
              <a:lnSpc>
                <a:spcPts val="3127"/>
              </a:lnSpc>
            </a:pPr>
            <a:r>
              <a:rPr lang="en-US" sz="3127">
                <a:solidFill>
                  <a:srgbClr val="FFFFFF"/>
                </a:solidFill>
                <a:latin typeface="Lato"/>
                <a:ea typeface="Lato"/>
                <a:cs typeface="Lato"/>
                <a:sym typeface="Lato"/>
              </a:rPr>
              <a:t>λ</a:t>
            </a:r>
            <a:r>
              <a:rPr lang="en-US" sz="3127">
                <a:solidFill>
                  <a:srgbClr val="FFFFFF"/>
                </a:solidFill>
                <a:latin typeface="Lato"/>
                <a:ea typeface="Lato"/>
                <a:cs typeface="Lato"/>
                <a:sym typeface="Lato"/>
              </a:rPr>
              <a:t>: bước sóng ánh sáng sử dụng </a:t>
            </a:r>
          </a:p>
          <a:p>
            <a:pPr algn="l">
              <a:lnSpc>
                <a:spcPts val="3127"/>
              </a:lnSpc>
            </a:pPr>
            <a:r>
              <a:rPr lang="en-US" sz="3127">
                <a:solidFill>
                  <a:srgbClr val="FFFFFF"/>
                </a:solidFill>
                <a:latin typeface="Lato"/>
                <a:ea typeface="Lato"/>
                <a:cs typeface="Lato"/>
                <a:sym typeface="Lato"/>
              </a:rPr>
              <a:t>NA</a:t>
            </a:r>
            <a:r>
              <a:rPr lang="en-US" sz="3127">
                <a:solidFill>
                  <a:srgbClr val="FFFFFF"/>
                </a:solidFill>
                <a:latin typeface="Lato"/>
                <a:ea typeface="Lato"/>
                <a:cs typeface="Lato"/>
                <a:sym typeface="Lato"/>
              </a:rPr>
              <a:t>: khẩu độ số (Numerical Aperture)</a:t>
            </a:r>
          </a:p>
          <a:p>
            <a:pPr algn="l">
              <a:lnSpc>
                <a:spcPts val="3127"/>
              </a:lnSpc>
            </a:pPr>
          </a:p>
          <a:p>
            <a:pPr algn="l">
              <a:lnSpc>
                <a:spcPts val="3127"/>
              </a:lnSpc>
            </a:pPr>
            <a:r>
              <a:rPr lang="en-US" sz="3127">
                <a:solidFill>
                  <a:srgbClr val="FFFFFF"/>
                </a:solidFill>
                <a:latin typeface="Lato"/>
                <a:ea typeface="Lato"/>
                <a:cs typeface="Lato"/>
                <a:sym typeface="Lato"/>
              </a:rPr>
              <a:t>- Khi đó muốn giảm kích thước R chỉ cần giảm  hoặc tăng NA</a:t>
            </a:r>
          </a:p>
          <a:p>
            <a:pPr algn="ctr">
              <a:lnSpc>
                <a:spcPts val="3114"/>
              </a:lnSpc>
              <a:spcBef>
                <a:spcPct val="0"/>
              </a:spcBef>
            </a:pP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136487" y="630199"/>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89453" y="630199"/>
            <a:ext cx="1176400" cy="1135760"/>
          </a:xfrm>
          <a:custGeom>
            <a:avLst/>
            <a:gdLst/>
            <a:ahLst/>
            <a:cxnLst/>
            <a:rect r="r" b="b" t="t" l="l"/>
            <a:pathLst>
              <a:path h="1135760" w="1176400">
                <a:moveTo>
                  <a:pt x="0" y="0"/>
                </a:moveTo>
                <a:lnTo>
                  <a:pt x="1176399" y="0"/>
                </a:lnTo>
                <a:lnTo>
                  <a:pt x="1176399" y="1135761"/>
                </a:lnTo>
                <a:lnTo>
                  <a:pt x="0" y="11357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673279" y="154719"/>
            <a:ext cx="14028797" cy="1120604"/>
          </a:xfrm>
          <a:prstGeom prst="rect">
            <a:avLst/>
          </a:prstGeom>
        </p:spPr>
        <p:txBody>
          <a:bodyPr anchor="t" rtlCol="false" tIns="0" lIns="0" bIns="0" rIns="0">
            <a:spAutoFit/>
          </a:bodyPr>
          <a:lstStyle/>
          <a:p>
            <a:pPr algn="l">
              <a:lnSpc>
                <a:spcPts val="4230"/>
              </a:lnSpc>
            </a:pPr>
            <a:r>
              <a:rPr lang="en-US" sz="4753">
                <a:solidFill>
                  <a:srgbClr val="FFFFFF"/>
                </a:solidFill>
                <a:latin typeface="Lato"/>
                <a:ea typeface="Lato"/>
                <a:cs typeface="Lato"/>
                <a:sym typeface="Lato"/>
              </a:rPr>
              <a:t>5.THÁCH THỨC VÀ PHÁT TRIỂN TRONG QUANG KHẮC</a:t>
            </a:r>
          </a:p>
        </p:txBody>
      </p:sp>
      <p:sp>
        <p:nvSpPr>
          <p:cNvPr name="AutoShape 8" id="8"/>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9" id="9"/>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2" id="12"/>
          <p:cNvSpPr/>
          <p:nvPr/>
        </p:nvSpPr>
        <p:spPr>
          <a:xfrm>
            <a:off x="2564732" y="1265799"/>
            <a:ext cx="14170162" cy="9525"/>
          </a:xfrm>
          <a:prstGeom prst="line">
            <a:avLst/>
          </a:prstGeom>
          <a:ln cap="flat" w="19050">
            <a:solidFill>
              <a:srgbClr val="D9D9D9"/>
            </a:solidFill>
            <a:prstDash val="solid"/>
            <a:headEnd type="none" len="sm" w="sm"/>
            <a:tailEnd type="none" len="sm" w="sm"/>
          </a:ln>
        </p:spPr>
      </p:sp>
      <p:sp>
        <p:nvSpPr>
          <p:cNvPr name="TextBox 13" id="13"/>
          <p:cNvSpPr txBox="true"/>
          <p:nvPr/>
        </p:nvSpPr>
        <p:spPr>
          <a:xfrm rot="0">
            <a:off x="572270" y="1692572"/>
            <a:ext cx="16230212" cy="3489171"/>
          </a:xfrm>
          <a:prstGeom prst="rect">
            <a:avLst/>
          </a:prstGeom>
        </p:spPr>
        <p:txBody>
          <a:bodyPr anchor="t" rtlCol="false" tIns="0" lIns="0" bIns="0" rIns="0">
            <a:spAutoFit/>
          </a:bodyPr>
          <a:lstStyle/>
          <a:p>
            <a:pPr algn="l">
              <a:lnSpc>
                <a:spcPts val="4383"/>
              </a:lnSpc>
              <a:spcBef>
                <a:spcPct val="0"/>
              </a:spcBef>
            </a:pPr>
            <a:r>
              <a:rPr lang="en-US" b="true" sz="3131">
                <a:solidFill>
                  <a:srgbClr val="FFFFFF"/>
                </a:solidFill>
                <a:latin typeface="Lato Bold"/>
                <a:ea typeface="Lato Bold"/>
                <a:cs typeface="Lato Bold"/>
                <a:sym typeface="Lato Bold"/>
              </a:rPr>
              <a:t>5.1.2. Ảnh hưởng của bước sóng λ và NA</a:t>
            </a:r>
          </a:p>
          <a:p>
            <a:pPr algn="l">
              <a:lnSpc>
                <a:spcPts val="3963"/>
              </a:lnSpc>
              <a:spcBef>
                <a:spcPct val="0"/>
              </a:spcBef>
            </a:pPr>
            <a:r>
              <a:rPr lang="en-US" b="true" sz="2831">
                <a:solidFill>
                  <a:srgbClr val="FFFFFF"/>
                </a:solidFill>
                <a:latin typeface="Lato Bold"/>
                <a:ea typeface="Lato Bold"/>
                <a:cs typeface="Lato Bold"/>
                <a:sym typeface="Lato Bold"/>
              </a:rPr>
              <a:t>- Để giảm R (tăng độ phân giải), ngành công nghiệp có hai hướng chính:</a:t>
            </a:r>
          </a:p>
          <a:p>
            <a:pPr algn="l">
              <a:lnSpc>
                <a:spcPts val="3963"/>
              </a:lnSpc>
              <a:spcBef>
                <a:spcPct val="0"/>
              </a:spcBef>
            </a:pPr>
            <a:r>
              <a:rPr lang="en-US" b="true" sz="2831">
                <a:solidFill>
                  <a:srgbClr val="FFFFFF"/>
                </a:solidFill>
                <a:latin typeface="Lato Bold"/>
                <a:ea typeface="Lato Bold"/>
                <a:cs typeface="Lato Bold"/>
                <a:sym typeface="Lato Bold"/>
              </a:rPr>
              <a:t> +Giảm </a:t>
            </a:r>
            <a:r>
              <a:rPr lang="en-US" sz="2831">
                <a:solidFill>
                  <a:srgbClr val="FFFFFF"/>
                </a:solidFill>
                <a:latin typeface="Lato"/>
                <a:ea typeface="Lato"/>
                <a:cs typeface="Lato"/>
                <a:sym typeface="Lato"/>
              </a:rPr>
              <a:t>λ</a:t>
            </a:r>
            <a:r>
              <a:rPr lang="en-US" b="true" sz="2831">
                <a:solidFill>
                  <a:srgbClr val="FFFFFF"/>
                </a:solidFill>
                <a:latin typeface="Lato Bold"/>
                <a:ea typeface="Lato Bold"/>
                <a:cs typeface="Lato Bold"/>
                <a:sym typeface="Lato Bold"/>
              </a:rPr>
              <a:t>: Chuyển từ ánh sáng tử ngoại gần (i-line 365nm) sang DUV (193nm) và hiện nay là EUV (13.5nm).</a:t>
            </a:r>
          </a:p>
          <a:p>
            <a:pPr algn="l">
              <a:lnSpc>
                <a:spcPts val="3963"/>
              </a:lnSpc>
              <a:spcBef>
                <a:spcPct val="0"/>
              </a:spcBef>
            </a:pPr>
            <a:r>
              <a:rPr lang="en-US" b="true" sz="2831">
                <a:solidFill>
                  <a:srgbClr val="FFFFFF"/>
                </a:solidFill>
                <a:latin typeface="Lato Bold"/>
                <a:ea typeface="Lato Bold"/>
                <a:cs typeface="Lato Bold"/>
                <a:sym typeface="Lato Bold"/>
              </a:rPr>
              <a:t> +Tăng NA: Sử dụng thấu kính lớn hơn hoặc kỹ thuật quang khắc nhúng  (Immersion Lithography) để tăng chiết suất môi trường.</a:t>
            </a:r>
          </a:p>
          <a:p>
            <a:pPr algn="l">
              <a:lnSpc>
                <a:spcPts val="3683"/>
              </a:lnSpc>
              <a:spcBef>
                <a:spcPct val="0"/>
              </a:spcBef>
            </a:pPr>
          </a:p>
        </p:txBody>
      </p:sp>
      <p:sp>
        <p:nvSpPr>
          <p:cNvPr name="TextBox 14" id="14"/>
          <p:cNvSpPr txBox="true"/>
          <p:nvPr/>
        </p:nvSpPr>
        <p:spPr>
          <a:xfrm rot="0">
            <a:off x="572270" y="4963394"/>
            <a:ext cx="16029398" cy="3904473"/>
          </a:xfrm>
          <a:prstGeom prst="rect">
            <a:avLst/>
          </a:prstGeom>
        </p:spPr>
        <p:txBody>
          <a:bodyPr anchor="t" rtlCol="false" tIns="0" lIns="0" bIns="0" rIns="0">
            <a:spAutoFit/>
          </a:bodyPr>
          <a:lstStyle/>
          <a:p>
            <a:pPr algn="l">
              <a:lnSpc>
                <a:spcPts val="3927"/>
              </a:lnSpc>
            </a:pPr>
            <a:r>
              <a:rPr lang="en-US" sz="2805" b="true">
                <a:solidFill>
                  <a:srgbClr val="FFFFFF"/>
                </a:solidFill>
                <a:latin typeface="Lato Bold"/>
                <a:ea typeface="Lato Bold"/>
                <a:cs typeface="Lato Bold"/>
                <a:sym typeface="Lato Bold"/>
              </a:rPr>
              <a:t>-Nhưng việc tăng hay giảm λ hay tăng NA (vốn rất tốn kém vì phải thay toàn bộ máy móc), các kỹ sư sử dụng các thủ thuật toán học và quang học:</a:t>
            </a:r>
          </a:p>
          <a:p>
            <a:pPr algn="l">
              <a:lnSpc>
                <a:spcPts val="3927"/>
              </a:lnSpc>
            </a:pPr>
            <a:r>
              <a:rPr lang="en-US" sz="2805" b="true">
                <a:solidFill>
                  <a:srgbClr val="FFFFFF"/>
                </a:solidFill>
                <a:latin typeface="Lato Bold"/>
                <a:ea typeface="Lato Bold"/>
                <a:cs typeface="Lato Bold"/>
                <a:sym typeface="Lato Bold"/>
              </a:rPr>
              <a:t> + Off-Axis Illumination (OAI): Thay đổi góc chiếu của nguồn sáng để triệt tiêu các bậc nhiễu xạ không mong muốn, giúp cải thiện độ tương phản.</a:t>
            </a:r>
          </a:p>
          <a:p>
            <a:pPr algn="l">
              <a:lnSpc>
                <a:spcPts val="3927"/>
              </a:lnSpc>
            </a:pPr>
            <a:r>
              <a:rPr lang="en-US" sz="2805" b="true">
                <a:solidFill>
                  <a:srgbClr val="FFFFFF"/>
                </a:solidFill>
                <a:latin typeface="Lato Bold"/>
                <a:ea typeface="Lato Bold"/>
                <a:cs typeface="Lato Bold"/>
                <a:sym typeface="Lato Bold"/>
              </a:rPr>
              <a:t> + Phase Shift Masks (PSM): Sử dụng mặt nạ có độ dày khác nhau để làm lệch pha ánh sáng 180 độ Khi hai luồng sáng lệch pha gặp nhau tại rìa chi tiết, chúng tự triệt tiêu nhau, tạo ra đường biên cực kỳ sắc nét.</a:t>
            </a:r>
          </a:p>
          <a:p>
            <a:pPr algn="ctr">
              <a:lnSpc>
                <a:spcPts val="3507"/>
              </a:lnSpc>
              <a:spcBef>
                <a:spcPct val="0"/>
              </a:spcBef>
            </a:pP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136487" y="630199"/>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89453" y="630199"/>
            <a:ext cx="1176400" cy="1135760"/>
          </a:xfrm>
          <a:custGeom>
            <a:avLst/>
            <a:gdLst/>
            <a:ahLst/>
            <a:cxnLst/>
            <a:rect r="r" b="b" t="t" l="l"/>
            <a:pathLst>
              <a:path h="1135760" w="1176400">
                <a:moveTo>
                  <a:pt x="0" y="0"/>
                </a:moveTo>
                <a:lnTo>
                  <a:pt x="1176399" y="0"/>
                </a:lnTo>
                <a:lnTo>
                  <a:pt x="1176399" y="1135761"/>
                </a:lnTo>
                <a:lnTo>
                  <a:pt x="0" y="11357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673279" y="154719"/>
            <a:ext cx="14028797" cy="1120604"/>
          </a:xfrm>
          <a:prstGeom prst="rect">
            <a:avLst/>
          </a:prstGeom>
        </p:spPr>
        <p:txBody>
          <a:bodyPr anchor="t" rtlCol="false" tIns="0" lIns="0" bIns="0" rIns="0">
            <a:spAutoFit/>
          </a:bodyPr>
          <a:lstStyle/>
          <a:p>
            <a:pPr algn="l">
              <a:lnSpc>
                <a:spcPts val="4230"/>
              </a:lnSpc>
            </a:pPr>
            <a:r>
              <a:rPr lang="en-US" sz="4753">
                <a:solidFill>
                  <a:srgbClr val="FFFFFF"/>
                </a:solidFill>
                <a:latin typeface="Lato"/>
                <a:ea typeface="Lato"/>
                <a:cs typeface="Lato"/>
                <a:sym typeface="Lato"/>
              </a:rPr>
              <a:t>5.THÁCH THỨC VÀ PHÁT TRIỂN TRONG QUANG KHẮC</a:t>
            </a:r>
          </a:p>
        </p:txBody>
      </p:sp>
      <p:sp>
        <p:nvSpPr>
          <p:cNvPr name="AutoShape 8" id="8"/>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9" id="9"/>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2" id="12"/>
          <p:cNvSpPr/>
          <p:nvPr/>
        </p:nvSpPr>
        <p:spPr>
          <a:xfrm>
            <a:off x="2564732" y="1265799"/>
            <a:ext cx="14170162" cy="9525"/>
          </a:xfrm>
          <a:prstGeom prst="line">
            <a:avLst/>
          </a:prstGeom>
          <a:ln cap="flat" w="19050">
            <a:solidFill>
              <a:srgbClr val="D9D9D9"/>
            </a:solidFill>
            <a:prstDash val="solid"/>
            <a:headEnd type="none" len="sm" w="sm"/>
            <a:tailEnd type="none" len="sm" w="sm"/>
          </a:ln>
        </p:spPr>
      </p:sp>
      <p:sp>
        <p:nvSpPr>
          <p:cNvPr name="Freeform 13" id="13"/>
          <p:cNvSpPr/>
          <p:nvPr/>
        </p:nvSpPr>
        <p:spPr>
          <a:xfrm flipH="false" flipV="false" rot="0">
            <a:off x="9645231" y="2865145"/>
            <a:ext cx="8179317" cy="4038050"/>
          </a:xfrm>
          <a:custGeom>
            <a:avLst/>
            <a:gdLst/>
            <a:ahLst/>
            <a:cxnLst/>
            <a:rect r="r" b="b" t="t" l="l"/>
            <a:pathLst>
              <a:path h="4038050" w="8179317">
                <a:moveTo>
                  <a:pt x="0" y="0"/>
                </a:moveTo>
                <a:lnTo>
                  <a:pt x="8179317" y="0"/>
                </a:lnTo>
                <a:lnTo>
                  <a:pt x="8179317" y="4038049"/>
                </a:lnTo>
                <a:lnTo>
                  <a:pt x="0" y="4038049"/>
                </a:lnTo>
                <a:lnTo>
                  <a:pt x="0" y="0"/>
                </a:lnTo>
                <a:close/>
              </a:path>
            </a:pathLst>
          </a:custGeom>
          <a:blipFill>
            <a:blip r:embed="rId13"/>
            <a:stretch>
              <a:fillRect l="0" t="-1292" r="0" b="-1504"/>
            </a:stretch>
          </a:blipFill>
        </p:spPr>
      </p:sp>
      <p:sp>
        <p:nvSpPr>
          <p:cNvPr name="TextBox 14" id="14"/>
          <p:cNvSpPr txBox="true"/>
          <p:nvPr/>
        </p:nvSpPr>
        <p:spPr>
          <a:xfrm rot="0">
            <a:off x="591182" y="1699285"/>
            <a:ext cx="8552818" cy="2308860"/>
          </a:xfrm>
          <a:prstGeom prst="rect">
            <a:avLst/>
          </a:prstGeom>
        </p:spPr>
        <p:txBody>
          <a:bodyPr anchor="t" rtlCol="false" tIns="0" lIns="0" bIns="0" rIns="0">
            <a:spAutoFit/>
          </a:bodyPr>
          <a:lstStyle/>
          <a:p>
            <a:pPr algn="l">
              <a:lnSpc>
                <a:spcPts val="4479"/>
              </a:lnSpc>
            </a:pPr>
            <a:r>
              <a:rPr lang="en-US" sz="3199">
                <a:solidFill>
                  <a:srgbClr val="FFFFFF"/>
                </a:solidFill>
                <a:latin typeface="Lato"/>
                <a:ea typeface="Lato"/>
                <a:cs typeface="Lato"/>
                <a:sym typeface="Lato"/>
              </a:rPr>
              <a:t>5.2. Độ sâu tiêu cự (Depth of Focus - DOF)</a:t>
            </a:r>
          </a:p>
          <a:p>
            <a:pPr algn="ctr">
              <a:lnSpc>
                <a:spcPts val="3499"/>
              </a:lnSpc>
            </a:pPr>
            <a:r>
              <a:rPr lang="en-US" sz="2499">
                <a:solidFill>
                  <a:srgbClr val="FFFFFF"/>
                </a:solidFill>
                <a:latin typeface="Lato"/>
                <a:ea typeface="Lato"/>
                <a:cs typeface="Lato"/>
                <a:sym typeface="Lato"/>
              </a:rPr>
              <a:t>- DOF là khoảng cách dọc theo trục quang học mà hình ảnh vẫn duy trì được độ sắc nét cần thiết. Công thức tính DOF:</a:t>
            </a:r>
          </a:p>
          <a:p>
            <a:pPr algn="ctr">
              <a:lnSpc>
                <a:spcPts val="3499"/>
              </a:lnSpc>
            </a:pPr>
            <a:r>
              <a:rPr lang="en-US" sz="2499">
                <a:solidFill>
                  <a:srgbClr val="FFFFFF"/>
                </a:solidFill>
                <a:latin typeface="Lato"/>
                <a:ea typeface="Lato"/>
                <a:cs typeface="Lato"/>
                <a:sym typeface="Lato"/>
              </a:rPr>
              <a:t>DOF=k2 × λ/NA</a:t>
            </a:r>
          </a:p>
          <a:p>
            <a:pPr algn="ctr">
              <a:lnSpc>
                <a:spcPts val="3499"/>
              </a:lnSpc>
              <a:spcBef>
                <a:spcPct val="0"/>
              </a:spcBef>
            </a:pPr>
          </a:p>
        </p:txBody>
      </p:sp>
      <p:sp>
        <p:nvSpPr>
          <p:cNvPr name="TextBox 15" id="15"/>
          <p:cNvSpPr txBox="true"/>
          <p:nvPr/>
        </p:nvSpPr>
        <p:spPr>
          <a:xfrm rot="0">
            <a:off x="792894" y="3710098"/>
            <a:ext cx="8443944" cy="4105910"/>
          </a:xfrm>
          <a:prstGeom prst="rect">
            <a:avLst/>
          </a:prstGeom>
        </p:spPr>
        <p:txBody>
          <a:bodyPr anchor="t" rtlCol="false" tIns="0" lIns="0" bIns="0" rIns="0">
            <a:spAutoFit/>
          </a:bodyPr>
          <a:lstStyle/>
          <a:p>
            <a:pPr algn="l">
              <a:lnSpc>
                <a:spcPts val="3639"/>
              </a:lnSpc>
            </a:pPr>
            <a:r>
              <a:rPr lang="en-US" sz="2599">
                <a:solidFill>
                  <a:srgbClr val="FFFFFF"/>
                </a:solidFill>
                <a:latin typeface="Lato"/>
                <a:ea typeface="Lato"/>
                <a:cs typeface="Lato"/>
                <a:sym typeface="Lato"/>
              </a:rPr>
              <a:t> - Nghịch lý của quang khắc: Khi ta tăng NA để có độ phân giải tốt hơn( tiến tới 7nm hay 5nm, DOF sẽ giảm rất nhanh (tỉ lệ nghịch với bình phương NA). Điều này đòi hỏi bề mặt wafer phải cực kỳ phẳng (thông qua quá trình CMP: Mài phẳng -wafer đến mức độ nguyên tử trước khi quang khắc.) bằng cách sử dụng máy quét (scanners) thay vì máy in bước (steppers) để điều chỉnh tiêu cự liên tục trong khi quét. </a:t>
            </a:r>
          </a:p>
          <a:p>
            <a:pPr algn="l">
              <a:lnSpc>
                <a:spcPts val="3639"/>
              </a:lnSpc>
              <a:spcBef>
                <a:spcPct val="0"/>
              </a:spcBef>
            </a:pPr>
          </a:p>
        </p:txBody>
      </p:sp>
      <p:sp>
        <p:nvSpPr>
          <p:cNvPr name="TextBox 16" id="16"/>
          <p:cNvSpPr txBox="true"/>
          <p:nvPr/>
        </p:nvSpPr>
        <p:spPr>
          <a:xfrm rot="0">
            <a:off x="11724960" y="7517891"/>
            <a:ext cx="3864650" cy="812705"/>
          </a:xfrm>
          <a:prstGeom prst="rect">
            <a:avLst/>
          </a:prstGeom>
        </p:spPr>
        <p:txBody>
          <a:bodyPr anchor="t" rtlCol="false" tIns="0" lIns="0" bIns="0" rIns="0">
            <a:spAutoFit/>
          </a:bodyPr>
          <a:lstStyle/>
          <a:p>
            <a:pPr algn="ctr">
              <a:lnSpc>
                <a:spcPts val="6655"/>
              </a:lnSpc>
              <a:spcBef>
                <a:spcPct val="0"/>
              </a:spcBef>
            </a:pPr>
            <a:r>
              <a:rPr lang="en-US" sz="4753">
                <a:solidFill>
                  <a:srgbClr val="FFFFFF"/>
                </a:solidFill>
                <a:latin typeface="Lato"/>
                <a:ea typeface="Lato"/>
                <a:cs typeface="Lato"/>
                <a:sym typeface="Lato"/>
              </a:rPr>
              <a:t>quá trình CMP</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136487" y="630199"/>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89453" y="630199"/>
            <a:ext cx="1176400" cy="1135760"/>
          </a:xfrm>
          <a:custGeom>
            <a:avLst/>
            <a:gdLst/>
            <a:ahLst/>
            <a:cxnLst/>
            <a:rect r="r" b="b" t="t" l="l"/>
            <a:pathLst>
              <a:path h="1135760" w="1176400">
                <a:moveTo>
                  <a:pt x="0" y="0"/>
                </a:moveTo>
                <a:lnTo>
                  <a:pt x="1176399" y="0"/>
                </a:lnTo>
                <a:lnTo>
                  <a:pt x="1176399" y="1135761"/>
                </a:lnTo>
                <a:lnTo>
                  <a:pt x="0" y="11357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673279" y="154719"/>
            <a:ext cx="14028797" cy="1120604"/>
          </a:xfrm>
          <a:prstGeom prst="rect">
            <a:avLst/>
          </a:prstGeom>
        </p:spPr>
        <p:txBody>
          <a:bodyPr anchor="t" rtlCol="false" tIns="0" lIns="0" bIns="0" rIns="0">
            <a:spAutoFit/>
          </a:bodyPr>
          <a:lstStyle/>
          <a:p>
            <a:pPr algn="l">
              <a:lnSpc>
                <a:spcPts val="4230"/>
              </a:lnSpc>
            </a:pPr>
            <a:r>
              <a:rPr lang="en-US" sz="4753">
                <a:solidFill>
                  <a:srgbClr val="FFFFFF"/>
                </a:solidFill>
                <a:latin typeface="Lato"/>
                <a:ea typeface="Lato"/>
                <a:cs typeface="Lato"/>
                <a:sym typeface="Lato"/>
              </a:rPr>
              <a:t>5.THÁCH THỨC VÀ PHÁT TRIỂN TRONG QUANG KHẮC</a:t>
            </a:r>
          </a:p>
        </p:txBody>
      </p:sp>
      <p:sp>
        <p:nvSpPr>
          <p:cNvPr name="AutoShape 8" id="8"/>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9" id="9"/>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2" id="12"/>
          <p:cNvSpPr/>
          <p:nvPr/>
        </p:nvSpPr>
        <p:spPr>
          <a:xfrm>
            <a:off x="2564732" y="1265799"/>
            <a:ext cx="14170162" cy="9525"/>
          </a:xfrm>
          <a:prstGeom prst="line">
            <a:avLst/>
          </a:prstGeom>
          <a:ln cap="flat" w="19050">
            <a:solidFill>
              <a:srgbClr val="D9D9D9"/>
            </a:solidFill>
            <a:prstDash val="solid"/>
            <a:headEnd type="none" len="sm" w="sm"/>
            <a:tailEnd type="none" len="sm" w="sm"/>
          </a:ln>
        </p:spPr>
      </p:sp>
      <p:sp>
        <p:nvSpPr>
          <p:cNvPr name="Freeform 13" id="13"/>
          <p:cNvSpPr/>
          <p:nvPr/>
        </p:nvSpPr>
        <p:spPr>
          <a:xfrm flipH="false" flipV="false" rot="0">
            <a:off x="8995324" y="1520790"/>
            <a:ext cx="5851639" cy="3911754"/>
          </a:xfrm>
          <a:custGeom>
            <a:avLst/>
            <a:gdLst/>
            <a:ahLst/>
            <a:cxnLst/>
            <a:rect r="r" b="b" t="t" l="l"/>
            <a:pathLst>
              <a:path h="3911754" w="5851639">
                <a:moveTo>
                  <a:pt x="0" y="0"/>
                </a:moveTo>
                <a:lnTo>
                  <a:pt x="5851639" y="0"/>
                </a:lnTo>
                <a:lnTo>
                  <a:pt x="5851639" y="3911754"/>
                </a:lnTo>
                <a:lnTo>
                  <a:pt x="0" y="3911754"/>
                </a:lnTo>
                <a:lnTo>
                  <a:pt x="0" y="0"/>
                </a:lnTo>
                <a:close/>
              </a:path>
            </a:pathLst>
          </a:custGeom>
          <a:blipFill>
            <a:blip r:embed="rId13"/>
            <a:stretch>
              <a:fillRect l="0" t="-128" r="0" b="-128"/>
            </a:stretch>
          </a:blipFill>
        </p:spPr>
      </p:sp>
      <p:sp>
        <p:nvSpPr>
          <p:cNvPr name="Freeform 14" id="14"/>
          <p:cNvSpPr/>
          <p:nvPr/>
        </p:nvSpPr>
        <p:spPr>
          <a:xfrm flipH="false" flipV="false" rot="0">
            <a:off x="8388773" y="5680194"/>
            <a:ext cx="8225263" cy="3402954"/>
          </a:xfrm>
          <a:custGeom>
            <a:avLst/>
            <a:gdLst/>
            <a:ahLst/>
            <a:cxnLst/>
            <a:rect r="r" b="b" t="t" l="l"/>
            <a:pathLst>
              <a:path h="3402954" w="8225263">
                <a:moveTo>
                  <a:pt x="0" y="0"/>
                </a:moveTo>
                <a:lnTo>
                  <a:pt x="8225263" y="0"/>
                </a:lnTo>
                <a:lnTo>
                  <a:pt x="8225263" y="3402954"/>
                </a:lnTo>
                <a:lnTo>
                  <a:pt x="0" y="3402954"/>
                </a:lnTo>
                <a:lnTo>
                  <a:pt x="0" y="0"/>
                </a:lnTo>
                <a:close/>
              </a:path>
            </a:pathLst>
          </a:custGeom>
          <a:blipFill>
            <a:blip r:embed="rId14"/>
            <a:stretch>
              <a:fillRect l="-1171" t="0" r="-1171" b="-3071"/>
            </a:stretch>
          </a:blipFill>
        </p:spPr>
      </p:sp>
      <p:sp>
        <p:nvSpPr>
          <p:cNvPr name="TextBox 15" id="15"/>
          <p:cNvSpPr txBox="true"/>
          <p:nvPr/>
        </p:nvSpPr>
        <p:spPr>
          <a:xfrm rot="0">
            <a:off x="1028700" y="1708810"/>
            <a:ext cx="7071219" cy="5193665"/>
          </a:xfrm>
          <a:prstGeom prst="rect">
            <a:avLst/>
          </a:prstGeom>
        </p:spPr>
        <p:txBody>
          <a:bodyPr anchor="t" rtlCol="false" tIns="0" lIns="0" bIns="0" rIns="0">
            <a:spAutoFit/>
          </a:bodyPr>
          <a:lstStyle/>
          <a:p>
            <a:pPr algn="l">
              <a:lnSpc>
                <a:spcPts val="4199"/>
              </a:lnSpc>
            </a:pPr>
            <a:r>
              <a:rPr lang="en-US" sz="2999">
                <a:solidFill>
                  <a:srgbClr val="FFFFFF"/>
                </a:solidFill>
                <a:latin typeface="Lato"/>
                <a:ea typeface="Lato"/>
                <a:cs typeface="Lato"/>
                <a:sym typeface="Lato"/>
              </a:rPr>
              <a:t>5.3. Sai lệch căn chỉnh (Overlay error)</a:t>
            </a:r>
          </a:p>
          <a:p>
            <a:pPr algn="l">
              <a:lnSpc>
                <a:spcPts val="4199"/>
              </a:lnSpc>
            </a:pPr>
            <a:r>
              <a:rPr lang="en-US" sz="2999">
                <a:solidFill>
                  <a:srgbClr val="FFFFFF"/>
                </a:solidFill>
                <a:latin typeface="Lato"/>
                <a:ea typeface="Lato"/>
                <a:cs typeface="Lato"/>
                <a:sym typeface="Lato"/>
              </a:rPr>
              <a:t> -</a:t>
            </a:r>
            <a:r>
              <a:rPr lang="en-US" sz="2999">
                <a:solidFill>
                  <a:srgbClr val="FFFFFF"/>
                </a:solidFill>
                <a:latin typeface="Lato"/>
                <a:ea typeface="Lato"/>
                <a:cs typeface="Lato"/>
                <a:sym typeface="Lato"/>
              </a:rPr>
              <a:t>Overlay error là sự lệch hàng giữa các lớp mặt nạ khác nhau trên cùng một tấm wafer.</a:t>
            </a:r>
          </a:p>
          <a:p>
            <a:pPr algn="l" marL="647697" indent="-323848" lvl="1">
              <a:lnSpc>
                <a:spcPts val="4199"/>
              </a:lnSpc>
              <a:buFont typeface="Arial"/>
              <a:buChar char="•"/>
            </a:pPr>
            <a:r>
              <a:rPr lang="en-US" sz="2999">
                <a:solidFill>
                  <a:srgbClr val="FFFFFF"/>
                </a:solidFill>
                <a:latin typeface="Lato"/>
                <a:ea typeface="Lato"/>
                <a:cs typeface="Lato"/>
                <a:sym typeface="Lato"/>
              </a:rPr>
              <a:t>Một con chip hiện đại có thể có 60-80 lớp chồng lên nhau.</a:t>
            </a:r>
          </a:p>
          <a:p>
            <a:pPr algn="l" marL="647697" indent="-323848" lvl="1">
              <a:lnSpc>
                <a:spcPts val="4199"/>
              </a:lnSpc>
              <a:buFont typeface="Arial"/>
              <a:buChar char="•"/>
            </a:pPr>
            <a:r>
              <a:rPr lang="en-US" sz="2999">
                <a:solidFill>
                  <a:srgbClr val="FFFFFF"/>
                </a:solidFill>
                <a:latin typeface="Lato"/>
                <a:ea typeface="Lato"/>
                <a:cs typeface="Lato"/>
                <a:sym typeface="Lato"/>
              </a:rPr>
              <a:t>Nếu lớp "cửa sổ" (via) không khớp với lớp "dây dẫn" bên dưới, mạch sẽ bị hở hoặc ngắn mạch.</a:t>
            </a:r>
          </a:p>
          <a:p>
            <a:pPr algn="l">
              <a:lnSpc>
                <a:spcPts val="3919"/>
              </a:lnSpc>
              <a:spcBef>
                <a:spcPct val="0"/>
              </a:spcBef>
            </a:pPr>
          </a:p>
        </p:txBody>
      </p:sp>
      <p:sp>
        <p:nvSpPr>
          <p:cNvPr name="TextBox 16" id="16"/>
          <p:cNvSpPr txBox="true"/>
          <p:nvPr/>
        </p:nvSpPr>
        <p:spPr>
          <a:xfrm rot="0">
            <a:off x="970645" y="6688546"/>
            <a:ext cx="6678937" cy="1969770"/>
          </a:xfrm>
          <a:prstGeom prst="rect">
            <a:avLst/>
          </a:prstGeom>
        </p:spPr>
        <p:txBody>
          <a:bodyPr anchor="t" rtlCol="false" tIns="0" lIns="0" bIns="0" rIns="0">
            <a:spAutoFit/>
          </a:bodyPr>
          <a:lstStyle/>
          <a:p>
            <a:pPr algn="l">
              <a:lnSpc>
                <a:spcPts val="4059"/>
              </a:lnSpc>
            </a:pPr>
            <a:r>
              <a:rPr lang="en-US" sz="2899">
                <a:solidFill>
                  <a:srgbClr val="FFFFFF"/>
                </a:solidFill>
                <a:latin typeface="Lato"/>
                <a:ea typeface="Lato"/>
                <a:cs typeface="Lato"/>
                <a:sym typeface="Lato"/>
              </a:rPr>
              <a:t>-Giới hạn: Sai số cho phép thường chỉ bằng 1/5 đến 1/10 kích thước tính năng nhỏ nhất.</a:t>
            </a:r>
          </a:p>
          <a:p>
            <a:pPr algn="ctr">
              <a:lnSpc>
                <a:spcPts val="3499"/>
              </a:lnSpc>
              <a:spcBef>
                <a:spcPct val="0"/>
              </a:spcBef>
            </a:pP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136487" y="630199"/>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89453" y="630199"/>
            <a:ext cx="1176400" cy="1135760"/>
          </a:xfrm>
          <a:custGeom>
            <a:avLst/>
            <a:gdLst/>
            <a:ahLst/>
            <a:cxnLst/>
            <a:rect r="r" b="b" t="t" l="l"/>
            <a:pathLst>
              <a:path h="1135760" w="1176400">
                <a:moveTo>
                  <a:pt x="0" y="0"/>
                </a:moveTo>
                <a:lnTo>
                  <a:pt x="1176399" y="0"/>
                </a:lnTo>
                <a:lnTo>
                  <a:pt x="1176399" y="1135761"/>
                </a:lnTo>
                <a:lnTo>
                  <a:pt x="0" y="11357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673279" y="154719"/>
            <a:ext cx="14028797" cy="1120604"/>
          </a:xfrm>
          <a:prstGeom prst="rect">
            <a:avLst/>
          </a:prstGeom>
        </p:spPr>
        <p:txBody>
          <a:bodyPr anchor="t" rtlCol="false" tIns="0" lIns="0" bIns="0" rIns="0">
            <a:spAutoFit/>
          </a:bodyPr>
          <a:lstStyle/>
          <a:p>
            <a:pPr algn="l">
              <a:lnSpc>
                <a:spcPts val="4230"/>
              </a:lnSpc>
            </a:pPr>
            <a:r>
              <a:rPr lang="en-US" sz="4753">
                <a:solidFill>
                  <a:srgbClr val="FFFFFF"/>
                </a:solidFill>
                <a:latin typeface="Lato"/>
                <a:ea typeface="Lato"/>
                <a:cs typeface="Lato"/>
                <a:sym typeface="Lato"/>
              </a:rPr>
              <a:t>5.THÁCH THỨC VÀ PHÁT TRIỂN TRONG QUANG KHẮC</a:t>
            </a:r>
          </a:p>
        </p:txBody>
      </p:sp>
      <p:sp>
        <p:nvSpPr>
          <p:cNvPr name="AutoShape 8" id="8"/>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9" id="9"/>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2" id="12"/>
          <p:cNvSpPr/>
          <p:nvPr/>
        </p:nvSpPr>
        <p:spPr>
          <a:xfrm>
            <a:off x="2564732" y="1265799"/>
            <a:ext cx="14170162" cy="9525"/>
          </a:xfrm>
          <a:prstGeom prst="line">
            <a:avLst/>
          </a:prstGeom>
          <a:ln cap="flat" w="19050">
            <a:solidFill>
              <a:srgbClr val="D9D9D9"/>
            </a:solidFill>
            <a:prstDash val="solid"/>
            <a:headEnd type="none" len="sm" w="sm"/>
            <a:tailEnd type="none" len="sm" w="sm"/>
          </a:ln>
        </p:spPr>
      </p:sp>
      <p:sp>
        <p:nvSpPr>
          <p:cNvPr name="Freeform 13" id="13"/>
          <p:cNvSpPr/>
          <p:nvPr/>
        </p:nvSpPr>
        <p:spPr>
          <a:xfrm flipH="false" flipV="false" rot="0">
            <a:off x="9278737" y="1643948"/>
            <a:ext cx="5794274" cy="4345706"/>
          </a:xfrm>
          <a:custGeom>
            <a:avLst/>
            <a:gdLst/>
            <a:ahLst/>
            <a:cxnLst/>
            <a:rect r="r" b="b" t="t" l="l"/>
            <a:pathLst>
              <a:path h="4345706" w="5794274">
                <a:moveTo>
                  <a:pt x="0" y="0"/>
                </a:moveTo>
                <a:lnTo>
                  <a:pt x="5794275" y="0"/>
                </a:lnTo>
                <a:lnTo>
                  <a:pt x="5794275" y="4345706"/>
                </a:lnTo>
                <a:lnTo>
                  <a:pt x="0" y="4345706"/>
                </a:lnTo>
                <a:lnTo>
                  <a:pt x="0" y="0"/>
                </a:lnTo>
                <a:close/>
              </a:path>
            </a:pathLst>
          </a:custGeom>
          <a:blipFill>
            <a:blip r:embed="rId13"/>
            <a:stretch>
              <a:fillRect l="0" t="0" r="0" b="0"/>
            </a:stretch>
          </a:blipFill>
        </p:spPr>
      </p:sp>
      <p:sp>
        <p:nvSpPr>
          <p:cNvPr name="Freeform 14" id="14"/>
          <p:cNvSpPr/>
          <p:nvPr/>
        </p:nvSpPr>
        <p:spPr>
          <a:xfrm flipH="false" flipV="false" rot="0">
            <a:off x="1006063" y="6114146"/>
            <a:ext cx="6699591" cy="3768520"/>
          </a:xfrm>
          <a:custGeom>
            <a:avLst/>
            <a:gdLst/>
            <a:ahLst/>
            <a:cxnLst/>
            <a:rect r="r" b="b" t="t" l="l"/>
            <a:pathLst>
              <a:path h="3768520" w="6699591">
                <a:moveTo>
                  <a:pt x="0" y="0"/>
                </a:moveTo>
                <a:lnTo>
                  <a:pt x="6699591" y="0"/>
                </a:lnTo>
                <a:lnTo>
                  <a:pt x="6699591" y="3768520"/>
                </a:lnTo>
                <a:lnTo>
                  <a:pt x="0" y="3768520"/>
                </a:lnTo>
                <a:lnTo>
                  <a:pt x="0" y="0"/>
                </a:lnTo>
                <a:close/>
              </a:path>
            </a:pathLst>
          </a:custGeom>
          <a:blipFill>
            <a:blip r:embed="rId14"/>
            <a:stretch>
              <a:fillRect l="0" t="0" r="0" b="0"/>
            </a:stretch>
          </a:blipFill>
        </p:spPr>
      </p:sp>
      <p:sp>
        <p:nvSpPr>
          <p:cNvPr name="TextBox 15" id="15"/>
          <p:cNvSpPr txBox="true"/>
          <p:nvPr/>
        </p:nvSpPr>
        <p:spPr>
          <a:xfrm rot="0">
            <a:off x="792894" y="1931402"/>
            <a:ext cx="8000961" cy="2170430"/>
          </a:xfrm>
          <a:prstGeom prst="rect">
            <a:avLst/>
          </a:prstGeom>
        </p:spPr>
        <p:txBody>
          <a:bodyPr anchor="t" rtlCol="false" tIns="0" lIns="0" bIns="0" rIns="0">
            <a:spAutoFit/>
          </a:bodyPr>
          <a:lstStyle/>
          <a:p>
            <a:pPr algn="just">
              <a:lnSpc>
                <a:spcPts val="3099"/>
              </a:lnSpc>
            </a:pPr>
            <a:r>
              <a:rPr lang="en-US" sz="3099">
                <a:solidFill>
                  <a:srgbClr val="FFFFFF"/>
                </a:solidFill>
                <a:latin typeface="Lato"/>
                <a:ea typeface="Lato"/>
                <a:cs typeface="Lato"/>
                <a:sym typeface="Lato"/>
              </a:rPr>
              <a:t>5.4. Hiệu ứng nhiễu xạ và quang học</a:t>
            </a:r>
          </a:p>
          <a:p>
            <a:pPr algn="just">
              <a:lnSpc>
                <a:spcPts val="2799"/>
              </a:lnSpc>
            </a:pPr>
            <a:r>
              <a:rPr lang="en-US" sz="2799">
                <a:solidFill>
                  <a:srgbClr val="FFFFFF"/>
                </a:solidFill>
                <a:latin typeface="Lato"/>
                <a:ea typeface="Lato"/>
                <a:cs typeface="Lato"/>
                <a:sym typeface="Lato"/>
              </a:rPr>
              <a:t> -</a:t>
            </a:r>
            <a:r>
              <a:rPr lang="en-US" sz="2799">
                <a:solidFill>
                  <a:srgbClr val="FFFFFF"/>
                </a:solidFill>
                <a:latin typeface="Lato"/>
                <a:ea typeface="Lato"/>
                <a:cs typeface="Lato"/>
                <a:sym typeface="Lato"/>
              </a:rPr>
              <a:t>Khi kích thước tính năng tiến gần đến bước sóng ánh sáng, hiện tượng nhiễu xạ làm biến dạng hình ảnh (ví dụ: các góc vuông bị bo tròn, các đường thẳng bị co ngắn).</a:t>
            </a:r>
          </a:p>
          <a:p>
            <a:pPr algn="just">
              <a:lnSpc>
                <a:spcPts val="2799"/>
              </a:lnSpc>
              <a:spcBef>
                <a:spcPct val="0"/>
              </a:spcBef>
            </a:pPr>
          </a:p>
        </p:txBody>
      </p:sp>
      <p:sp>
        <p:nvSpPr>
          <p:cNvPr name="TextBox 16" id="16"/>
          <p:cNvSpPr txBox="true"/>
          <p:nvPr/>
        </p:nvSpPr>
        <p:spPr>
          <a:xfrm rot="0">
            <a:off x="246101" y="3962132"/>
            <a:ext cx="8375136" cy="1754505"/>
          </a:xfrm>
          <a:prstGeom prst="rect">
            <a:avLst/>
          </a:prstGeom>
        </p:spPr>
        <p:txBody>
          <a:bodyPr anchor="t" rtlCol="false" tIns="0" lIns="0" bIns="0" rIns="0">
            <a:spAutoFit/>
          </a:bodyPr>
          <a:lstStyle/>
          <a:p>
            <a:pPr algn="ctr" marL="604518" indent="-302259" lvl="1">
              <a:lnSpc>
                <a:spcPts val="2799"/>
              </a:lnSpc>
              <a:buFont typeface="Arial"/>
              <a:buChar char="•"/>
            </a:pPr>
            <a:r>
              <a:rPr lang="en-US" sz="2799">
                <a:solidFill>
                  <a:srgbClr val="FFFFFF"/>
                </a:solidFill>
                <a:latin typeface="Lato"/>
                <a:ea typeface="Lato"/>
                <a:cs typeface="Lato"/>
                <a:sym typeface="Lato"/>
              </a:rPr>
              <a:t>Giải pháp: Sử dụng OPC (Optical Proximity Correction) — thay đổi hình dạng trên mặt nạ (thêm các chi tiết phụ) để hình ảnh cuối cùng trên wafer đạt đúng yêu cầu.</a:t>
            </a:r>
          </a:p>
          <a:p>
            <a:pPr algn="ctr">
              <a:lnSpc>
                <a:spcPts val="2599"/>
              </a:lnSpc>
              <a:spcBef>
                <a:spcPct val="0"/>
              </a:spcBef>
            </a:pPr>
          </a:p>
        </p:txBody>
      </p:sp>
      <p:sp>
        <p:nvSpPr>
          <p:cNvPr name="TextBox 17" id="17"/>
          <p:cNvSpPr txBox="true"/>
          <p:nvPr/>
        </p:nvSpPr>
        <p:spPr>
          <a:xfrm rot="0">
            <a:off x="8793856" y="6386853"/>
            <a:ext cx="6699591" cy="632460"/>
          </a:xfrm>
          <a:prstGeom prst="rect">
            <a:avLst/>
          </a:prstGeom>
        </p:spPr>
        <p:txBody>
          <a:bodyPr anchor="t" rtlCol="false" tIns="0" lIns="0" bIns="0" rIns="0">
            <a:spAutoFit/>
          </a:bodyPr>
          <a:lstStyle/>
          <a:p>
            <a:pPr algn="ctr">
              <a:lnSpc>
                <a:spcPts val="2400"/>
              </a:lnSpc>
              <a:spcBef>
                <a:spcPct val="0"/>
              </a:spcBef>
            </a:pPr>
            <a:r>
              <a:rPr lang="en-US" sz="2400">
                <a:solidFill>
                  <a:srgbClr val="FFFFFF"/>
                </a:solidFill>
                <a:latin typeface="Lato"/>
                <a:ea typeface="Lato"/>
                <a:cs typeface="Lato"/>
                <a:sym typeface="Lato"/>
              </a:rPr>
              <a:t>Không thể tạo cạnh sắc tuyệt đối do tính chất sóng ánh sáng</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136487" y="630199"/>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89453" y="630199"/>
            <a:ext cx="1176400" cy="1135760"/>
          </a:xfrm>
          <a:custGeom>
            <a:avLst/>
            <a:gdLst/>
            <a:ahLst/>
            <a:cxnLst/>
            <a:rect r="r" b="b" t="t" l="l"/>
            <a:pathLst>
              <a:path h="1135760" w="1176400">
                <a:moveTo>
                  <a:pt x="0" y="0"/>
                </a:moveTo>
                <a:lnTo>
                  <a:pt x="1176399" y="0"/>
                </a:lnTo>
                <a:lnTo>
                  <a:pt x="1176399" y="1135761"/>
                </a:lnTo>
                <a:lnTo>
                  <a:pt x="0" y="11357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673279" y="154719"/>
            <a:ext cx="14028797" cy="1120604"/>
          </a:xfrm>
          <a:prstGeom prst="rect">
            <a:avLst/>
          </a:prstGeom>
        </p:spPr>
        <p:txBody>
          <a:bodyPr anchor="t" rtlCol="false" tIns="0" lIns="0" bIns="0" rIns="0">
            <a:spAutoFit/>
          </a:bodyPr>
          <a:lstStyle/>
          <a:p>
            <a:pPr algn="l">
              <a:lnSpc>
                <a:spcPts val="4230"/>
              </a:lnSpc>
            </a:pPr>
            <a:r>
              <a:rPr lang="en-US" sz="4753">
                <a:solidFill>
                  <a:srgbClr val="FFFFFF"/>
                </a:solidFill>
                <a:latin typeface="Lato"/>
                <a:ea typeface="Lato"/>
                <a:cs typeface="Lato"/>
                <a:sym typeface="Lato"/>
              </a:rPr>
              <a:t>5.THÁCH THỨC VÀ PHÁT TRIỂN TRONG QUANG KHẮC</a:t>
            </a:r>
          </a:p>
        </p:txBody>
      </p:sp>
      <p:sp>
        <p:nvSpPr>
          <p:cNvPr name="AutoShape 8" id="8"/>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9" id="9"/>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2" id="12"/>
          <p:cNvSpPr/>
          <p:nvPr/>
        </p:nvSpPr>
        <p:spPr>
          <a:xfrm>
            <a:off x="2564732" y="1265799"/>
            <a:ext cx="14170162" cy="9525"/>
          </a:xfrm>
          <a:prstGeom prst="line">
            <a:avLst/>
          </a:prstGeom>
          <a:ln cap="flat" w="19050">
            <a:solidFill>
              <a:srgbClr val="D9D9D9"/>
            </a:solidFill>
            <a:prstDash val="solid"/>
            <a:headEnd type="none" len="sm" w="sm"/>
            <a:tailEnd type="none" len="sm" w="sm"/>
          </a:ln>
        </p:spPr>
      </p:sp>
      <p:sp>
        <p:nvSpPr>
          <p:cNvPr name="Freeform 13" id="13"/>
          <p:cNvSpPr/>
          <p:nvPr/>
        </p:nvSpPr>
        <p:spPr>
          <a:xfrm flipH="false" flipV="false" rot="0">
            <a:off x="10220068" y="1520790"/>
            <a:ext cx="5329346" cy="5044237"/>
          </a:xfrm>
          <a:custGeom>
            <a:avLst/>
            <a:gdLst/>
            <a:ahLst/>
            <a:cxnLst/>
            <a:rect r="r" b="b" t="t" l="l"/>
            <a:pathLst>
              <a:path h="5044237" w="5329346">
                <a:moveTo>
                  <a:pt x="0" y="0"/>
                </a:moveTo>
                <a:lnTo>
                  <a:pt x="5329346" y="0"/>
                </a:lnTo>
                <a:lnTo>
                  <a:pt x="5329346" y="5044237"/>
                </a:lnTo>
                <a:lnTo>
                  <a:pt x="0" y="5044237"/>
                </a:lnTo>
                <a:lnTo>
                  <a:pt x="0" y="0"/>
                </a:lnTo>
                <a:close/>
              </a:path>
            </a:pathLst>
          </a:custGeom>
          <a:blipFill>
            <a:blip r:embed="rId13"/>
            <a:stretch>
              <a:fillRect l="0" t="0" r="0" b="0"/>
            </a:stretch>
          </a:blipFill>
        </p:spPr>
      </p:sp>
      <p:sp>
        <p:nvSpPr>
          <p:cNvPr name="TextBox 14" id="14"/>
          <p:cNvSpPr txBox="true"/>
          <p:nvPr/>
        </p:nvSpPr>
        <p:spPr>
          <a:xfrm rot="0">
            <a:off x="792894" y="1931402"/>
            <a:ext cx="8624418" cy="1797685"/>
          </a:xfrm>
          <a:prstGeom prst="rect">
            <a:avLst/>
          </a:prstGeom>
        </p:spPr>
        <p:txBody>
          <a:bodyPr anchor="t" rtlCol="false" tIns="0" lIns="0" bIns="0" rIns="0">
            <a:spAutoFit/>
          </a:bodyPr>
          <a:lstStyle/>
          <a:p>
            <a:pPr algn="just">
              <a:lnSpc>
                <a:spcPts val="2999"/>
              </a:lnSpc>
            </a:pPr>
            <a:r>
              <a:rPr lang="en-US" sz="2999">
                <a:solidFill>
                  <a:srgbClr val="FFFFFF"/>
                </a:solidFill>
                <a:latin typeface="Lato"/>
                <a:ea typeface="Lato"/>
                <a:cs typeface="Lato"/>
                <a:sym typeface="Lato"/>
              </a:rPr>
              <a:t>5.5. Line edge roughness (LER)</a:t>
            </a:r>
          </a:p>
          <a:p>
            <a:pPr algn="l">
              <a:lnSpc>
                <a:spcPts val="2799"/>
              </a:lnSpc>
            </a:pPr>
            <a:r>
              <a:rPr lang="en-US" sz="2799">
                <a:solidFill>
                  <a:srgbClr val="FFFFFF"/>
                </a:solidFill>
                <a:latin typeface="Lato"/>
                <a:ea typeface="Lato"/>
                <a:cs typeface="Lato"/>
                <a:sym typeface="Lato"/>
              </a:rPr>
              <a:t>  -</a:t>
            </a:r>
            <a:r>
              <a:rPr lang="en-US" sz="2799">
                <a:solidFill>
                  <a:srgbClr val="FFFFFF"/>
                </a:solidFill>
                <a:latin typeface="Lato"/>
                <a:ea typeface="Lato"/>
                <a:cs typeface="Lato"/>
                <a:sym typeface="Lato"/>
              </a:rPr>
              <a:t>L</a:t>
            </a:r>
            <a:r>
              <a:rPr lang="en-US" sz="2799">
                <a:solidFill>
                  <a:srgbClr val="FFFFFF"/>
                </a:solidFill>
                <a:latin typeface="Lato"/>
                <a:ea typeface="Lato"/>
                <a:cs typeface="Lato"/>
                <a:sym typeface="Lato"/>
              </a:rPr>
              <a:t>ER là sự biến thiên ngẫu nhiên về độ rộng của đường kẻ (line) ở quy mô nguyên tử. LER không phải do máy móc không chính xác, mà do bản chất của vật chất:</a:t>
            </a:r>
          </a:p>
          <a:p>
            <a:pPr algn="just">
              <a:lnSpc>
                <a:spcPts val="2799"/>
              </a:lnSpc>
              <a:spcBef>
                <a:spcPct val="0"/>
              </a:spcBef>
            </a:pPr>
          </a:p>
        </p:txBody>
      </p:sp>
      <p:sp>
        <p:nvSpPr>
          <p:cNvPr name="TextBox 15" id="15"/>
          <p:cNvSpPr txBox="true"/>
          <p:nvPr/>
        </p:nvSpPr>
        <p:spPr>
          <a:xfrm rot="0">
            <a:off x="246101" y="3962132"/>
            <a:ext cx="9318872" cy="1961515"/>
          </a:xfrm>
          <a:prstGeom prst="rect">
            <a:avLst/>
          </a:prstGeom>
        </p:spPr>
        <p:txBody>
          <a:bodyPr anchor="t" rtlCol="false" tIns="0" lIns="0" bIns="0" rIns="0">
            <a:spAutoFit/>
          </a:bodyPr>
          <a:lstStyle/>
          <a:p>
            <a:pPr algn="ctr" marL="561339" indent="-280669" lvl="1">
              <a:lnSpc>
                <a:spcPts val="2599"/>
              </a:lnSpc>
              <a:buFont typeface="Arial"/>
              <a:buChar char="•"/>
            </a:pPr>
            <a:r>
              <a:rPr lang="en-US" sz="2599">
                <a:solidFill>
                  <a:srgbClr val="FFFFFF"/>
                </a:solidFill>
                <a:latin typeface="Lato"/>
                <a:ea typeface="Lato"/>
                <a:cs typeface="Lato"/>
                <a:sym typeface="Lato"/>
              </a:rPr>
              <a:t>Nguyên nhân: Do sự phân bố không đồng đều của các phân tử photon trong chùm sáng (Photon shot noise) hoặc cấu trúc phân tử của chất quang dẫn (photoresist).</a:t>
            </a:r>
          </a:p>
          <a:p>
            <a:pPr algn="l" marL="561339" indent="-280669" lvl="1">
              <a:lnSpc>
                <a:spcPts val="2599"/>
              </a:lnSpc>
              <a:spcBef>
                <a:spcPct val="0"/>
              </a:spcBef>
              <a:buFont typeface="Arial"/>
              <a:buChar char="•"/>
            </a:pPr>
            <a:r>
              <a:rPr lang="en-US" sz="2599">
                <a:solidFill>
                  <a:srgbClr val="FFFFFF"/>
                </a:solidFill>
                <a:latin typeface="Lato"/>
                <a:ea typeface="Lato"/>
                <a:cs typeface="Lato"/>
                <a:sym typeface="Lato"/>
              </a:rPr>
              <a:t>H</a:t>
            </a:r>
            <a:r>
              <a:rPr lang="en-US" sz="2599">
                <a:solidFill>
                  <a:srgbClr val="FFFFFF"/>
                </a:solidFill>
                <a:latin typeface="Lato"/>
                <a:ea typeface="Lato"/>
                <a:cs typeface="Lato"/>
                <a:sym typeface="Lato"/>
              </a:rPr>
              <a:t>ệ quả: LER gây ra sự rò rỉ dòng điện và làm sai lệch đặc tính điện từ của transistor khi kích thước thu nhỏ xuống mức vài nanomet</a:t>
            </a:r>
          </a:p>
        </p:txBody>
      </p:sp>
      <p:sp>
        <p:nvSpPr>
          <p:cNvPr name="TextBox 16" id="16"/>
          <p:cNvSpPr txBox="true"/>
          <p:nvPr/>
        </p:nvSpPr>
        <p:spPr>
          <a:xfrm rot="0">
            <a:off x="10220068" y="6850777"/>
            <a:ext cx="5936396" cy="632460"/>
          </a:xfrm>
          <a:prstGeom prst="rect">
            <a:avLst/>
          </a:prstGeom>
        </p:spPr>
        <p:txBody>
          <a:bodyPr anchor="t" rtlCol="false" tIns="0" lIns="0" bIns="0" rIns="0">
            <a:spAutoFit/>
          </a:bodyPr>
          <a:lstStyle/>
          <a:p>
            <a:pPr algn="ctr">
              <a:lnSpc>
                <a:spcPts val="2400"/>
              </a:lnSpc>
              <a:spcBef>
                <a:spcPct val="0"/>
              </a:spcBef>
            </a:pPr>
            <a:r>
              <a:rPr lang="en-US" sz="2400">
                <a:solidFill>
                  <a:srgbClr val="FFFFFF"/>
                </a:solidFill>
                <a:latin typeface="Lato"/>
                <a:ea typeface="Lato"/>
                <a:cs typeface="Lato"/>
                <a:sym typeface="Lato"/>
              </a:rPr>
              <a:t>LER là mép đường không mịn (do nhiễu photon + hóa học resist)</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136487" y="630199"/>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89453" y="630199"/>
            <a:ext cx="1176400" cy="1135760"/>
          </a:xfrm>
          <a:custGeom>
            <a:avLst/>
            <a:gdLst/>
            <a:ahLst/>
            <a:cxnLst/>
            <a:rect r="r" b="b" t="t" l="l"/>
            <a:pathLst>
              <a:path h="1135760" w="1176400">
                <a:moveTo>
                  <a:pt x="0" y="0"/>
                </a:moveTo>
                <a:lnTo>
                  <a:pt x="1176399" y="0"/>
                </a:lnTo>
                <a:lnTo>
                  <a:pt x="1176399" y="1135761"/>
                </a:lnTo>
                <a:lnTo>
                  <a:pt x="0" y="11357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673279" y="154719"/>
            <a:ext cx="14028797" cy="1120604"/>
          </a:xfrm>
          <a:prstGeom prst="rect">
            <a:avLst/>
          </a:prstGeom>
        </p:spPr>
        <p:txBody>
          <a:bodyPr anchor="t" rtlCol="false" tIns="0" lIns="0" bIns="0" rIns="0">
            <a:spAutoFit/>
          </a:bodyPr>
          <a:lstStyle/>
          <a:p>
            <a:pPr algn="l">
              <a:lnSpc>
                <a:spcPts val="4230"/>
              </a:lnSpc>
            </a:pPr>
            <a:r>
              <a:rPr lang="en-US" sz="4753">
                <a:solidFill>
                  <a:srgbClr val="FFFFFF"/>
                </a:solidFill>
                <a:latin typeface="Lato"/>
                <a:ea typeface="Lato"/>
                <a:cs typeface="Lato"/>
                <a:sym typeface="Lato"/>
              </a:rPr>
              <a:t>5.THÁCH THỨC VÀ PHÁT TRIỂN TRONG QUANG KHẮC</a:t>
            </a:r>
          </a:p>
        </p:txBody>
      </p:sp>
      <p:sp>
        <p:nvSpPr>
          <p:cNvPr name="AutoShape 8" id="8"/>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9" id="9"/>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2" id="12"/>
          <p:cNvSpPr/>
          <p:nvPr/>
        </p:nvSpPr>
        <p:spPr>
          <a:xfrm>
            <a:off x="2564732" y="1265799"/>
            <a:ext cx="14170162" cy="9525"/>
          </a:xfrm>
          <a:prstGeom prst="line">
            <a:avLst/>
          </a:prstGeom>
          <a:ln cap="flat" w="19050">
            <a:solidFill>
              <a:srgbClr val="D9D9D9"/>
            </a:solidFill>
            <a:prstDash val="solid"/>
            <a:headEnd type="none" len="sm" w="sm"/>
            <a:tailEnd type="none" len="sm" w="sm"/>
          </a:ln>
        </p:spPr>
      </p:sp>
      <p:sp>
        <p:nvSpPr>
          <p:cNvPr name="Freeform 13" id="13"/>
          <p:cNvSpPr/>
          <p:nvPr/>
        </p:nvSpPr>
        <p:spPr>
          <a:xfrm flipH="false" flipV="false" rot="0">
            <a:off x="8030470" y="1680145"/>
            <a:ext cx="3939066" cy="2581020"/>
          </a:xfrm>
          <a:custGeom>
            <a:avLst/>
            <a:gdLst/>
            <a:ahLst/>
            <a:cxnLst/>
            <a:rect r="r" b="b" t="t" l="l"/>
            <a:pathLst>
              <a:path h="2581020" w="3939066">
                <a:moveTo>
                  <a:pt x="0" y="0"/>
                </a:moveTo>
                <a:lnTo>
                  <a:pt x="3939066" y="0"/>
                </a:lnTo>
                <a:lnTo>
                  <a:pt x="3939066" y="2581020"/>
                </a:lnTo>
                <a:lnTo>
                  <a:pt x="0" y="2581020"/>
                </a:lnTo>
                <a:lnTo>
                  <a:pt x="0" y="0"/>
                </a:lnTo>
                <a:close/>
              </a:path>
            </a:pathLst>
          </a:custGeom>
          <a:blipFill>
            <a:blip r:embed="rId13"/>
            <a:stretch>
              <a:fillRect l="0" t="-779" r="0" b="-779"/>
            </a:stretch>
          </a:blipFill>
        </p:spPr>
      </p:sp>
      <p:sp>
        <p:nvSpPr>
          <p:cNvPr name="Freeform 14" id="14"/>
          <p:cNvSpPr/>
          <p:nvPr/>
        </p:nvSpPr>
        <p:spPr>
          <a:xfrm flipH="false" flipV="false" rot="0">
            <a:off x="12826424" y="1630587"/>
            <a:ext cx="4167078" cy="2766940"/>
          </a:xfrm>
          <a:custGeom>
            <a:avLst/>
            <a:gdLst/>
            <a:ahLst/>
            <a:cxnLst/>
            <a:rect r="r" b="b" t="t" l="l"/>
            <a:pathLst>
              <a:path h="2766940" w="4167078">
                <a:moveTo>
                  <a:pt x="0" y="0"/>
                </a:moveTo>
                <a:lnTo>
                  <a:pt x="4167078" y="0"/>
                </a:lnTo>
                <a:lnTo>
                  <a:pt x="4167078" y="2766940"/>
                </a:lnTo>
                <a:lnTo>
                  <a:pt x="0" y="2766940"/>
                </a:lnTo>
                <a:lnTo>
                  <a:pt x="0" y="0"/>
                </a:lnTo>
                <a:close/>
              </a:path>
            </a:pathLst>
          </a:custGeom>
          <a:blipFill>
            <a:blip r:embed="rId14"/>
            <a:stretch>
              <a:fillRect l="0" t="0" r="0" b="0"/>
            </a:stretch>
          </a:blipFill>
        </p:spPr>
      </p:sp>
      <p:sp>
        <p:nvSpPr>
          <p:cNvPr name="Freeform 15" id="15"/>
          <p:cNvSpPr/>
          <p:nvPr/>
        </p:nvSpPr>
        <p:spPr>
          <a:xfrm flipH="false" flipV="false" rot="0">
            <a:off x="8453064" y="5227760"/>
            <a:ext cx="2798270" cy="3060778"/>
          </a:xfrm>
          <a:custGeom>
            <a:avLst/>
            <a:gdLst/>
            <a:ahLst/>
            <a:cxnLst/>
            <a:rect r="r" b="b" t="t" l="l"/>
            <a:pathLst>
              <a:path h="3060778" w="2798270">
                <a:moveTo>
                  <a:pt x="0" y="0"/>
                </a:moveTo>
                <a:lnTo>
                  <a:pt x="2798271" y="0"/>
                </a:lnTo>
                <a:lnTo>
                  <a:pt x="2798271" y="3060779"/>
                </a:lnTo>
                <a:lnTo>
                  <a:pt x="0" y="3060779"/>
                </a:lnTo>
                <a:lnTo>
                  <a:pt x="0" y="0"/>
                </a:lnTo>
                <a:close/>
              </a:path>
            </a:pathLst>
          </a:custGeom>
          <a:blipFill>
            <a:blip r:embed="rId15"/>
            <a:stretch>
              <a:fillRect l="0" t="0" r="-9381" b="0"/>
            </a:stretch>
          </a:blipFill>
        </p:spPr>
      </p:sp>
      <p:sp>
        <p:nvSpPr>
          <p:cNvPr name="Freeform 16" id="16"/>
          <p:cNvSpPr/>
          <p:nvPr/>
        </p:nvSpPr>
        <p:spPr>
          <a:xfrm flipH="false" flipV="false" rot="0">
            <a:off x="12518160" y="5143500"/>
            <a:ext cx="4368109" cy="3145039"/>
          </a:xfrm>
          <a:custGeom>
            <a:avLst/>
            <a:gdLst/>
            <a:ahLst/>
            <a:cxnLst/>
            <a:rect r="r" b="b" t="t" l="l"/>
            <a:pathLst>
              <a:path h="3145039" w="4368109">
                <a:moveTo>
                  <a:pt x="0" y="0"/>
                </a:moveTo>
                <a:lnTo>
                  <a:pt x="4368109" y="0"/>
                </a:lnTo>
                <a:lnTo>
                  <a:pt x="4368109" y="3145039"/>
                </a:lnTo>
                <a:lnTo>
                  <a:pt x="0" y="3145039"/>
                </a:lnTo>
                <a:lnTo>
                  <a:pt x="0" y="0"/>
                </a:lnTo>
                <a:close/>
              </a:path>
            </a:pathLst>
          </a:custGeom>
          <a:blipFill>
            <a:blip r:embed="rId16"/>
            <a:stretch>
              <a:fillRect l="0" t="0" r="0" b="0"/>
            </a:stretch>
          </a:blipFill>
        </p:spPr>
      </p:sp>
      <p:sp>
        <p:nvSpPr>
          <p:cNvPr name="TextBox 17" id="17"/>
          <p:cNvSpPr txBox="true"/>
          <p:nvPr/>
        </p:nvSpPr>
        <p:spPr>
          <a:xfrm rot="0">
            <a:off x="33998" y="1884941"/>
            <a:ext cx="7671655" cy="7082934"/>
          </a:xfrm>
          <a:prstGeom prst="rect">
            <a:avLst/>
          </a:prstGeom>
        </p:spPr>
        <p:txBody>
          <a:bodyPr anchor="t" rtlCol="false" tIns="0" lIns="0" bIns="0" rIns="0">
            <a:spAutoFit/>
          </a:bodyPr>
          <a:lstStyle/>
          <a:p>
            <a:pPr algn="l">
              <a:lnSpc>
                <a:spcPts val="2905"/>
              </a:lnSpc>
            </a:pPr>
            <a:r>
              <a:rPr lang="en-US" sz="2905">
                <a:solidFill>
                  <a:srgbClr val="FFFFFF"/>
                </a:solidFill>
                <a:latin typeface="Lato"/>
                <a:ea typeface="Lato"/>
                <a:cs typeface="Lato"/>
                <a:sym typeface="Lato"/>
              </a:rPr>
              <a:t>5.6. Các lỗi phổ biến (defects)</a:t>
            </a:r>
          </a:p>
          <a:p>
            <a:pPr algn="l">
              <a:lnSpc>
                <a:spcPts val="2805"/>
              </a:lnSpc>
            </a:pPr>
            <a:r>
              <a:rPr lang="en-US" sz="2805">
                <a:solidFill>
                  <a:srgbClr val="FFFFFF"/>
                </a:solidFill>
                <a:latin typeface="Lato"/>
                <a:ea typeface="Lato"/>
                <a:cs typeface="Lato"/>
                <a:sym typeface="Lato"/>
              </a:rPr>
              <a:t> - </a:t>
            </a:r>
            <a:r>
              <a:rPr lang="en-US" sz="2805">
                <a:solidFill>
                  <a:srgbClr val="FFFFFF"/>
                </a:solidFill>
                <a:latin typeface="Lato"/>
                <a:ea typeface="Lato"/>
                <a:cs typeface="Lato"/>
                <a:sym typeface="Lato"/>
              </a:rPr>
              <a:t>Các khiếm khuyết trong quá trình quang khắc có thể làm hỏng toàn bộ tấm wafer:</a:t>
            </a:r>
          </a:p>
          <a:p>
            <a:pPr algn="l" marL="605697" indent="-302848" lvl="1">
              <a:lnSpc>
                <a:spcPts val="2805"/>
              </a:lnSpc>
              <a:buFont typeface="Arial"/>
              <a:buChar char="•"/>
            </a:pPr>
            <a:r>
              <a:rPr lang="en-US" sz="2805">
                <a:solidFill>
                  <a:srgbClr val="FFFFFF"/>
                </a:solidFill>
                <a:latin typeface="Lato"/>
                <a:ea typeface="Lato"/>
                <a:cs typeface="Lato"/>
                <a:sym typeface="Lato"/>
              </a:rPr>
              <a:t>Pinholes: Các lỗ nhỏ li ti trên lớp photoresist do bụi hoặc bong bóng khí.</a:t>
            </a:r>
          </a:p>
          <a:p>
            <a:pPr algn="l">
              <a:lnSpc>
                <a:spcPts val="2805"/>
              </a:lnSpc>
            </a:pPr>
          </a:p>
          <a:p>
            <a:pPr algn="l" marL="605697" indent="-302848" lvl="1">
              <a:lnSpc>
                <a:spcPts val="2805"/>
              </a:lnSpc>
              <a:buFont typeface="Arial"/>
              <a:buChar char="•"/>
            </a:pPr>
            <a:r>
              <a:rPr lang="en-US" sz="2805">
                <a:solidFill>
                  <a:srgbClr val="FFFFFF"/>
                </a:solidFill>
                <a:latin typeface="Lato"/>
                <a:ea typeface="Lato"/>
                <a:cs typeface="Lato"/>
                <a:sym typeface="Lato"/>
              </a:rPr>
              <a:t>Bridging: Hai đường kẻ lẽ ra tách rời nhưng lại dính vào nhau do phơi sáng quá mức hoặc lỗi nhiễu xạ.</a:t>
            </a:r>
          </a:p>
          <a:p>
            <a:pPr algn="l">
              <a:lnSpc>
                <a:spcPts val="2805"/>
              </a:lnSpc>
            </a:pPr>
          </a:p>
          <a:p>
            <a:pPr algn="l" marL="605697" indent="-302848" lvl="1">
              <a:lnSpc>
                <a:spcPts val="2805"/>
              </a:lnSpc>
              <a:buFont typeface="Arial"/>
              <a:buChar char="•"/>
            </a:pPr>
            <a:r>
              <a:rPr lang="en-US" sz="2805">
                <a:solidFill>
                  <a:srgbClr val="FFFFFF"/>
                </a:solidFill>
                <a:latin typeface="Lato"/>
                <a:ea typeface="Lato"/>
                <a:cs typeface="Lato"/>
                <a:sym typeface="Lato"/>
              </a:rPr>
              <a:t>Scumming: Chất quang dẫn còn sót lại ở những vùng lẽ ra phải được rửa sạch, ngăn cản quá trình khắc (etching) tiếp theo.</a:t>
            </a:r>
          </a:p>
          <a:p>
            <a:pPr algn="l">
              <a:lnSpc>
                <a:spcPts val="2805"/>
              </a:lnSpc>
            </a:pPr>
          </a:p>
          <a:p>
            <a:pPr algn="l" marL="605697" indent="-302848" lvl="1">
              <a:lnSpc>
                <a:spcPts val="2805"/>
              </a:lnSpc>
              <a:buFont typeface="Arial"/>
              <a:buChar char="•"/>
            </a:pPr>
            <a:r>
              <a:rPr lang="en-US" sz="2805">
                <a:solidFill>
                  <a:srgbClr val="FFFFFF"/>
                </a:solidFill>
                <a:latin typeface="Lato"/>
                <a:ea typeface="Lato"/>
                <a:cs typeface="Lato"/>
                <a:sym typeface="Lato"/>
              </a:rPr>
              <a:t>Peeling: Lớp photoresist bị bong tróc khỏi bề mặt wafer do độ bám dính kém.</a:t>
            </a:r>
          </a:p>
          <a:p>
            <a:pPr algn="l">
              <a:lnSpc>
                <a:spcPts val="2805"/>
              </a:lnSpc>
            </a:pPr>
          </a:p>
          <a:p>
            <a:pPr algn="l" marL="605697" indent="-302848" lvl="1">
              <a:lnSpc>
                <a:spcPts val="2805"/>
              </a:lnSpc>
              <a:spcBef>
                <a:spcPct val="0"/>
              </a:spcBef>
              <a:buFont typeface="Arial"/>
              <a:buChar char="•"/>
            </a:pPr>
            <a:r>
              <a:rPr lang="en-US" sz="2805">
                <a:solidFill>
                  <a:srgbClr val="FFFFFF"/>
                </a:solidFill>
                <a:latin typeface="Lato"/>
                <a:ea typeface="Lato"/>
                <a:cs typeface="Lato"/>
                <a:sym typeface="Lato"/>
              </a:rPr>
              <a:t>Lỗi hệ thống (Systematic): Do thiết kế hoặc giới hạn vật lý (như OPC chưa chuẩn), lỗi này sẽ xuất hiện trên mọi con chip.</a:t>
            </a:r>
          </a:p>
        </p:txBody>
      </p:sp>
      <p:sp>
        <p:nvSpPr>
          <p:cNvPr name="TextBox 18" id="18"/>
          <p:cNvSpPr txBox="true"/>
          <p:nvPr/>
        </p:nvSpPr>
        <p:spPr>
          <a:xfrm rot="0">
            <a:off x="9047860" y="4689790"/>
            <a:ext cx="1904286" cy="291465"/>
          </a:xfrm>
          <a:prstGeom prst="rect">
            <a:avLst/>
          </a:prstGeom>
        </p:spPr>
        <p:txBody>
          <a:bodyPr anchor="t" rtlCol="false" tIns="0" lIns="0" bIns="0" rIns="0">
            <a:spAutoFit/>
          </a:bodyPr>
          <a:lstStyle/>
          <a:p>
            <a:pPr algn="ctr">
              <a:lnSpc>
                <a:spcPts val="2100"/>
              </a:lnSpc>
              <a:spcBef>
                <a:spcPct val="0"/>
              </a:spcBef>
            </a:pPr>
            <a:r>
              <a:rPr lang="en-US" sz="2100">
                <a:solidFill>
                  <a:srgbClr val="FFFFFF"/>
                </a:solidFill>
                <a:latin typeface="Lato"/>
                <a:ea typeface="Lato"/>
                <a:cs typeface="Lato"/>
                <a:sym typeface="Lato"/>
              </a:rPr>
              <a:t>Pinholes( lỗ kim)</a:t>
            </a:r>
          </a:p>
        </p:txBody>
      </p:sp>
      <p:sp>
        <p:nvSpPr>
          <p:cNvPr name="TextBox 19" id="19"/>
          <p:cNvSpPr txBox="true"/>
          <p:nvPr/>
        </p:nvSpPr>
        <p:spPr>
          <a:xfrm rot="0">
            <a:off x="8558989" y="8479039"/>
            <a:ext cx="2586421" cy="558165"/>
          </a:xfrm>
          <a:prstGeom prst="rect">
            <a:avLst/>
          </a:prstGeom>
        </p:spPr>
        <p:txBody>
          <a:bodyPr anchor="t" rtlCol="false" tIns="0" lIns="0" bIns="0" rIns="0">
            <a:spAutoFit/>
          </a:bodyPr>
          <a:lstStyle/>
          <a:p>
            <a:pPr algn="ctr">
              <a:lnSpc>
                <a:spcPts val="2100"/>
              </a:lnSpc>
              <a:spcBef>
                <a:spcPct val="0"/>
              </a:spcBef>
            </a:pPr>
            <a:r>
              <a:rPr lang="en-US" sz="2100">
                <a:solidFill>
                  <a:srgbClr val="FFFFFF"/>
                </a:solidFill>
                <a:latin typeface="Lato"/>
                <a:ea typeface="Lato"/>
                <a:cs typeface="Lato"/>
                <a:sym typeface="Lato"/>
              </a:rPr>
              <a:t>Scumming(bị đốm trắng li ti)</a:t>
            </a:r>
          </a:p>
        </p:txBody>
      </p:sp>
      <p:sp>
        <p:nvSpPr>
          <p:cNvPr name="TextBox 20" id="20"/>
          <p:cNvSpPr txBox="true"/>
          <p:nvPr/>
        </p:nvSpPr>
        <p:spPr>
          <a:xfrm rot="0">
            <a:off x="11148778" y="8612389"/>
            <a:ext cx="7139222" cy="291465"/>
          </a:xfrm>
          <a:prstGeom prst="rect">
            <a:avLst/>
          </a:prstGeom>
        </p:spPr>
        <p:txBody>
          <a:bodyPr anchor="t" rtlCol="false" tIns="0" lIns="0" bIns="0" rIns="0">
            <a:spAutoFit/>
          </a:bodyPr>
          <a:lstStyle/>
          <a:p>
            <a:pPr algn="ctr">
              <a:lnSpc>
                <a:spcPts val="2100"/>
              </a:lnSpc>
              <a:spcBef>
                <a:spcPct val="0"/>
              </a:spcBef>
            </a:pPr>
            <a:r>
              <a:rPr lang="en-US" sz="2100">
                <a:solidFill>
                  <a:srgbClr val="FFFFFF"/>
                </a:solidFill>
                <a:latin typeface="Lato"/>
                <a:ea typeface="Lato"/>
                <a:cs typeface="Lato"/>
                <a:sym typeface="Lato"/>
              </a:rPr>
              <a:t>P</a:t>
            </a:r>
            <a:r>
              <a:rPr lang="en-US" sz="2100">
                <a:solidFill>
                  <a:srgbClr val="FFFFFF"/>
                </a:solidFill>
                <a:latin typeface="Lato"/>
                <a:ea typeface="Lato"/>
                <a:cs typeface="Lato"/>
                <a:sym typeface="Lato"/>
              </a:rPr>
              <a:t>eeling( bề mặt bị bong)</a:t>
            </a:r>
          </a:p>
        </p:txBody>
      </p:sp>
      <p:sp>
        <p:nvSpPr>
          <p:cNvPr name="TextBox 21" id="21"/>
          <p:cNvSpPr txBox="true"/>
          <p:nvPr/>
        </p:nvSpPr>
        <p:spPr>
          <a:xfrm rot="0">
            <a:off x="11251335" y="4639068"/>
            <a:ext cx="7139222" cy="291465"/>
          </a:xfrm>
          <a:prstGeom prst="rect">
            <a:avLst/>
          </a:prstGeom>
        </p:spPr>
        <p:txBody>
          <a:bodyPr anchor="t" rtlCol="false" tIns="0" lIns="0" bIns="0" rIns="0">
            <a:spAutoFit/>
          </a:bodyPr>
          <a:lstStyle/>
          <a:p>
            <a:pPr algn="ctr">
              <a:lnSpc>
                <a:spcPts val="2100"/>
              </a:lnSpc>
              <a:spcBef>
                <a:spcPct val="0"/>
              </a:spcBef>
            </a:pPr>
            <a:r>
              <a:rPr lang="en-US" sz="2100">
                <a:solidFill>
                  <a:srgbClr val="FFFFFF"/>
                </a:solidFill>
                <a:latin typeface="Lato"/>
                <a:ea typeface="Lato"/>
                <a:cs typeface="Lato"/>
                <a:sym typeface="Lato"/>
              </a:rPr>
              <a:t>B</a:t>
            </a:r>
            <a:r>
              <a:rPr lang="en-US" sz="2100">
                <a:solidFill>
                  <a:srgbClr val="FFFFFF"/>
                </a:solidFill>
                <a:latin typeface="Lato"/>
                <a:ea typeface="Lato"/>
                <a:cs typeface="Lato"/>
                <a:sym typeface="Lato"/>
              </a:rPr>
              <a:t>ridging</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136487" y="630199"/>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0" id="10"/>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TextBox 11" id="11"/>
          <p:cNvSpPr txBox="true"/>
          <p:nvPr/>
        </p:nvSpPr>
        <p:spPr>
          <a:xfrm rot="0">
            <a:off x="792894" y="463530"/>
            <a:ext cx="14519859" cy="1192989"/>
          </a:xfrm>
          <a:prstGeom prst="rect">
            <a:avLst/>
          </a:prstGeom>
        </p:spPr>
        <p:txBody>
          <a:bodyPr anchor="t" rtlCol="false" tIns="0" lIns="0" bIns="0" rIns="0">
            <a:spAutoFit/>
          </a:bodyPr>
          <a:lstStyle/>
          <a:p>
            <a:pPr algn="l">
              <a:lnSpc>
                <a:spcPts val="4593"/>
              </a:lnSpc>
            </a:pPr>
            <a:r>
              <a:rPr lang="en-US" sz="4593">
                <a:solidFill>
                  <a:srgbClr val="FFFFFF"/>
                </a:solidFill>
                <a:latin typeface="Lato"/>
                <a:ea typeface="Lato"/>
                <a:cs typeface="Lato"/>
                <a:sym typeface="Lato"/>
              </a:rPr>
              <a:t>6.Công Nghệ Tiên Tiến &amp; Xu Hướng Phát Triển</a:t>
            </a:r>
          </a:p>
          <a:p>
            <a:pPr algn="l">
              <a:lnSpc>
                <a:spcPts val="4593"/>
              </a:lnSpc>
            </a:pPr>
          </a:p>
        </p:txBody>
      </p:sp>
      <p:sp>
        <p:nvSpPr>
          <p:cNvPr name="TextBox 12" id="12"/>
          <p:cNvSpPr txBox="true"/>
          <p:nvPr/>
        </p:nvSpPr>
        <p:spPr>
          <a:xfrm rot="0">
            <a:off x="1028700" y="1606515"/>
            <a:ext cx="9753600" cy="611964"/>
          </a:xfrm>
          <a:prstGeom prst="rect">
            <a:avLst/>
          </a:prstGeom>
        </p:spPr>
        <p:txBody>
          <a:bodyPr anchor="t" rtlCol="false" tIns="0" lIns="0" bIns="0" rIns="0">
            <a:spAutoFit/>
          </a:bodyPr>
          <a:lstStyle/>
          <a:p>
            <a:pPr algn="ctr">
              <a:lnSpc>
                <a:spcPts val="4593"/>
              </a:lnSpc>
              <a:spcBef>
                <a:spcPct val="0"/>
              </a:spcBef>
            </a:pPr>
            <a:r>
              <a:rPr lang="en-US" sz="4593">
                <a:solidFill>
                  <a:srgbClr val="FFFFFF"/>
                </a:solidFill>
                <a:latin typeface="Lato"/>
                <a:ea typeface="Lato"/>
                <a:cs typeface="Lato"/>
                <a:sym typeface="Lato"/>
              </a:rPr>
              <a:t>EUV Lithography (Extreme Ultraviolet)</a:t>
            </a:r>
          </a:p>
        </p:txBody>
      </p:sp>
      <p:sp>
        <p:nvSpPr>
          <p:cNvPr name="TextBox 13" id="13"/>
          <p:cNvSpPr txBox="true"/>
          <p:nvPr/>
        </p:nvSpPr>
        <p:spPr>
          <a:xfrm rot="0">
            <a:off x="1028700" y="2921198"/>
            <a:ext cx="15673466" cy="1774014"/>
          </a:xfrm>
          <a:prstGeom prst="rect">
            <a:avLst/>
          </a:prstGeom>
        </p:spPr>
        <p:txBody>
          <a:bodyPr anchor="t" rtlCol="false" tIns="0" lIns="0" bIns="0" rIns="0">
            <a:spAutoFit/>
          </a:bodyPr>
          <a:lstStyle/>
          <a:p>
            <a:pPr algn="just">
              <a:lnSpc>
                <a:spcPts val="4593"/>
              </a:lnSpc>
              <a:spcBef>
                <a:spcPct val="0"/>
              </a:spcBef>
            </a:pPr>
            <a:r>
              <a:rPr lang="en-US" sz="4593">
                <a:solidFill>
                  <a:srgbClr val="FFFFFF"/>
                </a:solidFill>
                <a:latin typeface="Lato"/>
                <a:ea typeface="Lato"/>
                <a:cs typeface="Lato"/>
                <a:sym typeface="Lato"/>
              </a:rPr>
              <a:t>EUV sử dụng tia cực tím bước sóng 13.5 nm — ngắn hơn ~14 lần so với DUV 193 nm — cho phép in cấu trúc nhỏ hơn 12 nm, hỗ trợ các node 7 nm, 5 nm, 3 nm và hướng tới 2 nm.</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136487" y="630199"/>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0" id="10"/>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11" id="11"/>
          <p:cNvSpPr/>
          <p:nvPr/>
        </p:nvSpPr>
        <p:spPr>
          <a:xfrm flipH="false" flipV="false" rot="0">
            <a:off x="9507828" y="3063639"/>
            <a:ext cx="7395061" cy="4159722"/>
          </a:xfrm>
          <a:custGeom>
            <a:avLst/>
            <a:gdLst/>
            <a:ahLst/>
            <a:cxnLst/>
            <a:rect r="r" b="b" t="t" l="l"/>
            <a:pathLst>
              <a:path h="4159722" w="7395061">
                <a:moveTo>
                  <a:pt x="0" y="0"/>
                </a:moveTo>
                <a:lnTo>
                  <a:pt x="7395062" y="0"/>
                </a:lnTo>
                <a:lnTo>
                  <a:pt x="7395062" y="4159722"/>
                </a:lnTo>
                <a:lnTo>
                  <a:pt x="0" y="4159722"/>
                </a:lnTo>
                <a:lnTo>
                  <a:pt x="0" y="0"/>
                </a:lnTo>
                <a:close/>
              </a:path>
            </a:pathLst>
          </a:custGeom>
          <a:blipFill>
            <a:blip r:embed="rId13"/>
            <a:stretch>
              <a:fillRect l="0" t="0" r="0" b="0"/>
            </a:stretch>
          </a:blipFill>
        </p:spPr>
      </p:sp>
      <p:sp>
        <p:nvSpPr>
          <p:cNvPr name="TextBox 12" id="12"/>
          <p:cNvSpPr txBox="true"/>
          <p:nvPr/>
        </p:nvSpPr>
        <p:spPr>
          <a:xfrm rot="0">
            <a:off x="792894" y="463530"/>
            <a:ext cx="14519859" cy="1192989"/>
          </a:xfrm>
          <a:prstGeom prst="rect">
            <a:avLst/>
          </a:prstGeom>
        </p:spPr>
        <p:txBody>
          <a:bodyPr anchor="t" rtlCol="false" tIns="0" lIns="0" bIns="0" rIns="0">
            <a:spAutoFit/>
          </a:bodyPr>
          <a:lstStyle/>
          <a:p>
            <a:pPr algn="l">
              <a:lnSpc>
                <a:spcPts val="4593"/>
              </a:lnSpc>
            </a:pPr>
            <a:r>
              <a:rPr lang="en-US" sz="4593">
                <a:solidFill>
                  <a:srgbClr val="FFFFFF"/>
                </a:solidFill>
                <a:latin typeface="Lato"/>
                <a:ea typeface="Lato"/>
                <a:cs typeface="Lato"/>
                <a:sym typeface="Lato"/>
              </a:rPr>
              <a:t>6.Công Nghệ Tiên Tiến &amp; Xu Hướng Phát Triển</a:t>
            </a:r>
          </a:p>
          <a:p>
            <a:pPr algn="l">
              <a:lnSpc>
                <a:spcPts val="4593"/>
              </a:lnSpc>
            </a:pPr>
          </a:p>
        </p:txBody>
      </p:sp>
      <p:sp>
        <p:nvSpPr>
          <p:cNvPr name="TextBox 13" id="13"/>
          <p:cNvSpPr txBox="true"/>
          <p:nvPr/>
        </p:nvSpPr>
        <p:spPr>
          <a:xfrm rot="0">
            <a:off x="1028700" y="1606515"/>
            <a:ext cx="9753600" cy="611964"/>
          </a:xfrm>
          <a:prstGeom prst="rect">
            <a:avLst/>
          </a:prstGeom>
        </p:spPr>
        <p:txBody>
          <a:bodyPr anchor="t" rtlCol="false" tIns="0" lIns="0" bIns="0" rIns="0">
            <a:spAutoFit/>
          </a:bodyPr>
          <a:lstStyle/>
          <a:p>
            <a:pPr algn="ctr">
              <a:lnSpc>
                <a:spcPts val="4593"/>
              </a:lnSpc>
              <a:spcBef>
                <a:spcPct val="0"/>
              </a:spcBef>
            </a:pPr>
            <a:r>
              <a:rPr lang="en-US" sz="4593">
                <a:solidFill>
                  <a:srgbClr val="FFFFFF"/>
                </a:solidFill>
                <a:latin typeface="Lato"/>
                <a:ea typeface="Lato"/>
                <a:cs typeface="Lato"/>
                <a:sym typeface="Lato"/>
              </a:rPr>
              <a:t>EUV Lithography (Extreme Ultraviolet)</a:t>
            </a:r>
          </a:p>
        </p:txBody>
      </p:sp>
      <p:sp>
        <p:nvSpPr>
          <p:cNvPr name="TextBox 14" id="14"/>
          <p:cNvSpPr txBox="true"/>
          <p:nvPr/>
        </p:nvSpPr>
        <p:spPr>
          <a:xfrm rot="0">
            <a:off x="1028700" y="2513755"/>
            <a:ext cx="6620883" cy="5642492"/>
          </a:xfrm>
          <a:prstGeom prst="rect">
            <a:avLst/>
          </a:prstGeom>
        </p:spPr>
        <p:txBody>
          <a:bodyPr anchor="t" rtlCol="false" tIns="0" lIns="0" bIns="0" rIns="0">
            <a:spAutoFit/>
          </a:bodyPr>
          <a:lstStyle/>
          <a:p>
            <a:pPr algn="just">
              <a:lnSpc>
                <a:spcPts val="5557"/>
              </a:lnSpc>
            </a:pPr>
            <a:r>
              <a:rPr lang="en-US" sz="4593">
                <a:solidFill>
                  <a:srgbClr val="FFFFFF"/>
                </a:solidFill>
                <a:latin typeface="Lato"/>
                <a:ea typeface="Lato"/>
                <a:cs typeface="Lato"/>
                <a:sym typeface="Lato"/>
              </a:rPr>
              <a:t>-</a:t>
            </a:r>
            <a:r>
              <a:rPr lang="en-US" sz="4593">
                <a:solidFill>
                  <a:srgbClr val="FFFFFF"/>
                </a:solidFill>
                <a:latin typeface="Lato"/>
                <a:ea typeface="Lato"/>
                <a:cs typeface="Lato"/>
                <a:sym typeface="Lato"/>
              </a:rPr>
              <a:t>Nguyên lý hoạt động:</a:t>
            </a:r>
          </a:p>
          <a:p>
            <a:pPr algn="just">
              <a:lnSpc>
                <a:spcPts val="5557"/>
              </a:lnSpc>
            </a:pPr>
            <a:r>
              <a:rPr lang="en-US" sz="4593">
                <a:solidFill>
                  <a:srgbClr val="FFFFFF"/>
                </a:solidFill>
                <a:latin typeface="Lato"/>
                <a:ea typeface="Lato"/>
                <a:cs typeface="Lato"/>
                <a:sym typeface="Lato"/>
              </a:rPr>
              <a:t>Laser công suất cao bắn vào giọt thiếc (Sn) tạo plasma phát xạ EUV. Toàn hệ thống vận hành trong chân không, dùng gương phản xạ đa lớp thay thấu kính.</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136487" y="630199"/>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0" id="10"/>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TextBox 11" id="11"/>
          <p:cNvSpPr txBox="true"/>
          <p:nvPr/>
        </p:nvSpPr>
        <p:spPr>
          <a:xfrm rot="0">
            <a:off x="792894" y="463530"/>
            <a:ext cx="14519859" cy="1192989"/>
          </a:xfrm>
          <a:prstGeom prst="rect">
            <a:avLst/>
          </a:prstGeom>
        </p:spPr>
        <p:txBody>
          <a:bodyPr anchor="t" rtlCol="false" tIns="0" lIns="0" bIns="0" rIns="0">
            <a:spAutoFit/>
          </a:bodyPr>
          <a:lstStyle/>
          <a:p>
            <a:pPr algn="l">
              <a:lnSpc>
                <a:spcPts val="4593"/>
              </a:lnSpc>
            </a:pPr>
            <a:r>
              <a:rPr lang="en-US" sz="4593">
                <a:solidFill>
                  <a:srgbClr val="FFFFFF"/>
                </a:solidFill>
                <a:latin typeface="Lato"/>
                <a:ea typeface="Lato"/>
                <a:cs typeface="Lato"/>
                <a:sym typeface="Lato"/>
              </a:rPr>
              <a:t>6.Công Nghệ Tiên Tiến &amp; Xu Hướng Phát Triển</a:t>
            </a:r>
          </a:p>
          <a:p>
            <a:pPr algn="l">
              <a:lnSpc>
                <a:spcPts val="4593"/>
              </a:lnSpc>
            </a:pPr>
          </a:p>
        </p:txBody>
      </p:sp>
      <p:sp>
        <p:nvSpPr>
          <p:cNvPr name="TextBox 12" id="12"/>
          <p:cNvSpPr txBox="true"/>
          <p:nvPr/>
        </p:nvSpPr>
        <p:spPr>
          <a:xfrm rot="0">
            <a:off x="792894" y="1606515"/>
            <a:ext cx="10818139" cy="1774014"/>
          </a:xfrm>
          <a:prstGeom prst="rect">
            <a:avLst/>
          </a:prstGeom>
        </p:spPr>
        <p:txBody>
          <a:bodyPr anchor="t" rtlCol="false" tIns="0" lIns="0" bIns="0" rIns="0">
            <a:spAutoFit/>
          </a:bodyPr>
          <a:lstStyle/>
          <a:p>
            <a:pPr algn="ctr">
              <a:lnSpc>
                <a:spcPts val="4593"/>
              </a:lnSpc>
              <a:spcBef>
                <a:spcPct val="0"/>
              </a:spcBef>
            </a:pPr>
            <a:r>
              <a:rPr lang="en-US" sz="4593">
                <a:solidFill>
                  <a:srgbClr val="FFFFFF"/>
                </a:solidFill>
                <a:latin typeface="Lato"/>
                <a:ea typeface="Lato"/>
                <a:cs typeface="Lato"/>
                <a:sym typeface="Lato"/>
              </a:rPr>
              <a:t>Mult</a:t>
            </a:r>
            <a:r>
              <a:rPr lang="en-US" sz="4593">
                <a:solidFill>
                  <a:srgbClr val="FFFFFF"/>
                </a:solidFill>
                <a:latin typeface="Lato"/>
                <a:ea typeface="Lato"/>
                <a:cs typeface="Lato"/>
                <a:sym typeface="Lato"/>
              </a:rPr>
              <a:t>i-patterning (double, triple patterning)</a:t>
            </a:r>
          </a:p>
          <a:p>
            <a:pPr algn="ctr">
              <a:lnSpc>
                <a:spcPts val="4593"/>
              </a:lnSpc>
              <a:spcBef>
                <a:spcPct val="0"/>
              </a:spcBef>
            </a:pPr>
          </a:p>
          <a:p>
            <a:pPr algn="ctr">
              <a:lnSpc>
                <a:spcPts val="4593"/>
              </a:lnSpc>
              <a:spcBef>
                <a:spcPct val="0"/>
              </a:spcBef>
            </a:pPr>
          </a:p>
        </p:txBody>
      </p:sp>
      <p:sp>
        <p:nvSpPr>
          <p:cNvPr name="TextBox 13" id="13"/>
          <p:cNvSpPr txBox="true"/>
          <p:nvPr/>
        </p:nvSpPr>
        <p:spPr>
          <a:xfrm rot="0">
            <a:off x="792894" y="2499687"/>
            <a:ext cx="15930261" cy="2220284"/>
          </a:xfrm>
          <a:prstGeom prst="rect">
            <a:avLst/>
          </a:prstGeom>
        </p:spPr>
        <p:txBody>
          <a:bodyPr anchor="t" rtlCol="false" tIns="0" lIns="0" bIns="0" rIns="0">
            <a:spAutoFit/>
          </a:bodyPr>
          <a:lstStyle/>
          <a:p>
            <a:pPr algn="just">
              <a:lnSpc>
                <a:spcPts val="5879"/>
              </a:lnSpc>
            </a:pPr>
            <a:r>
              <a:rPr lang="en-US" sz="4593">
                <a:solidFill>
                  <a:srgbClr val="FFFFFF"/>
                </a:solidFill>
                <a:latin typeface="Lato"/>
                <a:ea typeface="Lato"/>
                <a:cs typeface="Lato"/>
                <a:sym typeface="Lato"/>
              </a:rPr>
              <a:t>-</a:t>
            </a:r>
            <a:r>
              <a:rPr lang="en-US" sz="4593">
                <a:solidFill>
                  <a:srgbClr val="FFFFFF"/>
                </a:solidFill>
                <a:latin typeface="Lato"/>
                <a:ea typeface="Lato"/>
                <a:cs typeface="Lato"/>
                <a:sym typeface="Lato"/>
              </a:rPr>
              <a:t>Khi kích thước transistor quá nhỏ so với khả năng phân giải của DUV (193 nm), multi-patterning chia pattern phức tạp thành nhiều lần in liên tiếp để đạt độ phân giải cao hơn.</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136487" y="630199"/>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0" id="10"/>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Freeform 11" id="11"/>
          <p:cNvSpPr/>
          <p:nvPr/>
        </p:nvSpPr>
        <p:spPr>
          <a:xfrm flipH="false" flipV="false" rot="0">
            <a:off x="9284101" y="2296939"/>
            <a:ext cx="8540447" cy="5860882"/>
          </a:xfrm>
          <a:custGeom>
            <a:avLst/>
            <a:gdLst/>
            <a:ahLst/>
            <a:cxnLst/>
            <a:rect r="r" b="b" t="t" l="l"/>
            <a:pathLst>
              <a:path h="5860882" w="8540447">
                <a:moveTo>
                  <a:pt x="0" y="0"/>
                </a:moveTo>
                <a:lnTo>
                  <a:pt x="8540447" y="0"/>
                </a:lnTo>
                <a:lnTo>
                  <a:pt x="8540447" y="5860881"/>
                </a:lnTo>
                <a:lnTo>
                  <a:pt x="0" y="5860881"/>
                </a:lnTo>
                <a:lnTo>
                  <a:pt x="0" y="0"/>
                </a:lnTo>
                <a:close/>
              </a:path>
            </a:pathLst>
          </a:custGeom>
          <a:blipFill>
            <a:blip r:embed="rId13"/>
            <a:stretch>
              <a:fillRect l="0" t="0" r="0" b="0"/>
            </a:stretch>
          </a:blipFill>
        </p:spPr>
      </p:sp>
      <p:sp>
        <p:nvSpPr>
          <p:cNvPr name="TextBox 12" id="12"/>
          <p:cNvSpPr txBox="true"/>
          <p:nvPr/>
        </p:nvSpPr>
        <p:spPr>
          <a:xfrm rot="0">
            <a:off x="792894" y="463530"/>
            <a:ext cx="14519859" cy="1192989"/>
          </a:xfrm>
          <a:prstGeom prst="rect">
            <a:avLst/>
          </a:prstGeom>
        </p:spPr>
        <p:txBody>
          <a:bodyPr anchor="t" rtlCol="false" tIns="0" lIns="0" bIns="0" rIns="0">
            <a:spAutoFit/>
          </a:bodyPr>
          <a:lstStyle/>
          <a:p>
            <a:pPr algn="l">
              <a:lnSpc>
                <a:spcPts val="4593"/>
              </a:lnSpc>
            </a:pPr>
            <a:r>
              <a:rPr lang="en-US" sz="4593">
                <a:solidFill>
                  <a:srgbClr val="FFFFFF"/>
                </a:solidFill>
                <a:latin typeface="Lato"/>
                <a:ea typeface="Lato"/>
                <a:cs typeface="Lato"/>
                <a:sym typeface="Lato"/>
              </a:rPr>
              <a:t>6.Công Nghệ Tiên Tiến &amp; Xu Hướng Phát Triển</a:t>
            </a:r>
          </a:p>
          <a:p>
            <a:pPr algn="l">
              <a:lnSpc>
                <a:spcPts val="4593"/>
              </a:lnSpc>
            </a:pPr>
          </a:p>
        </p:txBody>
      </p:sp>
      <p:sp>
        <p:nvSpPr>
          <p:cNvPr name="TextBox 13" id="13"/>
          <p:cNvSpPr txBox="true"/>
          <p:nvPr/>
        </p:nvSpPr>
        <p:spPr>
          <a:xfrm rot="0">
            <a:off x="792894" y="1606515"/>
            <a:ext cx="10818139" cy="1774014"/>
          </a:xfrm>
          <a:prstGeom prst="rect">
            <a:avLst/>
          </a:prstGeom>
        </p:spPr>
        <p:txBody>
          <a:bodyPr anchor="t" rtlCol="false" tIns="0" lIns="0" bIns="0" rIns="0">
            <a:spAutoFit/>
          </a:bodyPr>
          <a:lstStyle/>
          <a:p>
            <a:pPr algn="ctr">
              <a:lnSpc>
                <a:spcPts val="4593"/>
              </a:lnSpc>
              <a:spcBef>
                <a:spcPct val="0"/>
              </a:spcBef>
            </a:pPr>
            <a:r>
              <a:rPr lang="en-US" sz="4593">
                <a:solidFill>
                  <a:srgbClr val="FFFFFF"/>
                </a:solidFill>
                <a:latin typeface="Lato"/>
                <a:ea typeface="Lato"/>
                <a:cs typeface="Lato"/>
                <a:sym typeface="Lato"/>
              </a:rPr>
              <a:t>Mult</a:t>
            </a:r>
            <a:r>
              <a:rPr lang="en-US" sz="4593">
                <a:solidFill>
                  <a:srgbClr val="FFFFFF"/>
                </a:solidFill>
                <a:latin typeface="Lato"/>
                <a:ea typeface="Lato"/>
                <a:cs typeface="Lato"/>
                <a:sym typeface="Lato"/>
              </a:rPr>
              <a:t>i-patterning (double, triple patterning)</a:t>
            </a:r>
          </a:p>
          <a:p>
            <a:pPr algn="ctr">
              <a:lnSpc>
                <a:spcPts val="4593"/>
              </a:lnSpc>
              <a:spcBef>
                <a:spcPct val="0"/>
              </a:spcBef>
            </a:pPr>
          </a:p>
          <a:p>
            <a:pPr algn="ctr">
              <a:lnSpc>
                <a:spcPts val="4593"/>
              </a:lnSpc>
              <a:spcBef>
                <a:spcPct val="0"/>
              </a:spcBef>
            </a:pPr>
          </a:p>
        </p:txBody>
      </p:sp>
      <p:sp>
        <p:nvSpPr>
          <p:cNvPr name="TextBox 14" id="14"/>
          <p:cNvSpPr txBox="true"/>
          <p:nvPr/>
        </p:nvSpPr>
        <p:spPr>
          <a:xfrm rot="0">
            <a:off x="792894" y="2469710"/>
            <a:ext cx="8206811" cy="6589100"/>
          </a:xfrm>
          <a:prstGeom prst="rect">
            <a:avLst/>
          </a:prstGeom>
        </p:spPr>
        <p:txBody>
          <a:bodyPr anchor="t" rtlCol="false" tIns="0" lIns="0" bIns="0" rIns="0">
            <a:spAutoFit/>
          </a:bodyPr>
          <a:lstStyle/>
          <a:p>
            <a:pPr algn="l">
              <a:lnSpc>
                <a:spcPts val="4717"/>
              </a:lnSpc>
            </a:pPr>
            <a:r>
              <a:rPr lang="en-US" sz="4174">
                <a:solidFill>
                  <a:srgbClr val="FFFFFF"/>
                </a:solidFill>
                <a:latin typeface="Lato"/>
                <a:ea typeface="Lato"/>
                <a:cs typeface="Lato"/>
                <a:sym typeface="Lato"/>
              </a:rPr>
              <a:t>Double Patterning</a:t>
            </a:r>
          </a:p>
          <a:p>
            <a:pPr algn="l" marL="901332" indent="-450666" lvl="1">
              <a:lnSpc>
                <a:spcPts val="4717"/>
              </a:lnSpc>
              <a:buFont typeface="Arial"/>
              <a:buChar char="•"/>
            </a:pPr>
            <a:r>
              <a:rPr lang="en-US" sz="4174">
                <a:solidFill>
                  <a:srgbClr val="FFFFFF"/>
                </a:solidFill>
                <a:latin typeface="Lato"/>
                <a:ea typeface="Lato"/>
                <a:cs typeface="Lato"/>
                <a:sym typeface="Lato"/>
              </a:rPr>
              <a:t>Tách layout thành 2 mask, in tuần tự. Phương pháp LELE hoặc SADP (tự căn chỉnh, độ chính xác cao hơn)</a:t>
            </a:r>
          </a:p>
          <a:p>
            <a:pPr algn="l">
              <a:lnSpc>
                <a:spcPts val="4717"/>
              </a:lnSpc>
            </a:pPr>
            <a:r>
              <a:rPr lang="en-US" sz="4174">
                <a:solidFill>
                  <a:srgbClr val="FFFFFF"/>
                </a:solidFill>
                <a:latin typeface="Lato"/>
                <a:ea typeface="Lato"/>
                <a:cs typeface="Lato"/>
                <a:sym typeface="Lato"/>
              </a:rPr>
              <a:t>Triple Patterning</a:t>
            </a:r>
          </a:p>
          <a:p>
            <a:pPr algn="l" marL="901332" indent="-450666" lvl="1">
              <a:lnSpc>
                <a:spcPts val="4717"/>
              </a:lnSpc>
              <a:buFont typeface="Arial"/>
              <a:buChar char="•"/>
            </a:pPr>
            <a:r>
              <a:rPr lang="en-US" sz="4174">
                <a:solidFill>
                  <a:srgbClr val="FFFFFF"/>
                </a:solidFill>
                <a:latin typeface="Lato"/>
                <a:ea typeface="Lato"/>
                <a:cs typeface="Lato"/>
                <a:sym typeface="Lato"/>
              </a:rPr>
              <a:t>Chia thành 3 phần, đạt độ phân giải cao hơn nữa nhưng tăng chi phí, thời gian và sai số chồng lớp</a:t>
            </a:r>
          </a:p>
          <a:p>
            <a:pPr algn="l">
              <a:lnSpc>
                <a:spcPts val="4717"/>
              </a:lnSpc>
            </a:pP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136487" y="630199"/>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0" id="10"/>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TextBox 11" id="11"/>
          <p:cNvSpPr txBox="true"/>
          <p:nvPr/>
        </p:nvSpPr>
        <p:spPr>
          <a:xfrm rot="0">
            <a:off x="792894" y="521862"/>
            <a:ext cx="14519859" cy="1192989"/>
          </a:xfrm>
          <a:prstGeom prst="rect">
            <a:avLst/>
          </a:prstGeom>
        </p:spPr>
        <p:txBody>
          <a:bodyPr anchor="t" rtlCol="false" tIns="0" lIns="0" bIns="0" rIns="0">
            <a:spAutoFit/>
          </a:bodyPr>
          <a:lstStyle/>
          <a:p>
            <a:pPr algn="l">
              <a:lnSpc>
                <a:spcPts val="4593"/>
              </a:lnSpc>
            </a:pPr>
            <a:r>
              <a:rPr lang="en-US" sz="4593">
                <a:solidFill>
                  <a:srgbClr val="FFFFFF"/>
                </a:solidFill>
                <a:latin typeface="Lato"/>
                <a:ea typeface="Lato"/>
                <a:cs typeface="Lato"/>
                <a:sym typeface="Lato"/>
              </a:rPr>
              <a:t>6.Công Nghệ Tiên Tiến &amp; Xu Hướng Phát Triển</a:t>
            </a:r>
          </a:p>
          <a:p>
            <a:pPr algn="l">
              <a:lnSpc>
                <a:spcPts val="4593"/>
              </a:lnSpc>
            </a:pPr>
          </a:p>
        </p:txBody>
      </p:sp>
      <p:sp>
        <p:nvSpPr>
          <p:cNvPr name="TextBox 12" id="12"/>
          <p:cNvSpPr txBox="true"/>
          <p:nvPr/>
        </p:nvSpPr>
        <p:spPr>
          <a:xfrm rot="0">
            <a:off x="792894" y="1606515"/>
            <a:ext cx="6974086" cy="1774014"/>
          </a:xfrm>
          <a:prstGeom prst="rect">
            <a:avLst/>
          </a:prstGeom>
        </p:spPr>
        <p:txBody>
          <a:bodyPr anchor="t" rtlCol="false" tIns="0" lIns="0" bIns="0" rIns="0">
            <a:spAutoFit/>
          </a:bodyPr>
          <a:lstStyle/>
          <a:p>
            <a:pPr algn="ctr">
              <a:lnSpc>
                <a:spcPts val="4593"/>
              </a:lnSpc>
            </a:pPr>
            <a:r>
              <a:rPr lang="en-US" sz="4593">
                <a:solidFill>
                  <a:srgbClr val="FFFFFF"/>
                </a:solidFill>
                <a:latin typeface="Lato"/>
                <a:ea typeface="Lato"/>
                <a:cs typeface="Lato"/>
                <a:sym typeface="Lato"/>
              </a:rPr>
              <a:t>Computational Lithography</a:t>
            </a:r>
          </a:p>
          <a:p>
            <a:pPr algn="ctr">
              <a:lnSpc>
                <a:spcPts val="4593"/>
              </a:lnSpc>
              <a:spcBef>
                <a:spcPct val="0"/>
              </a:spcBef>
            </a:pPr>
          </a:p>
          <a:p>
            <a:pPr algn="ctr">
              <a:lnSpc>
                <a:spcPts val="4593"/>
              </a:lnSpc>
              <a:spcBef>
                <a:spcPct val="0"/>
              </a:spcBef>
            </a:pPr>
          </a:p>
        </p:txBody>
      </p:sp>
      <p:sp>
        <p:nvSpPr>
          <p:cNvPr name="TextBox 13" id="13"/>
          <p:cNvSpPr txBox="true"/>
          <p:nvPr/>
        </p:nvSpPr>
        <p:spPr>
          <a:xfrm rot="0">
            <a:off x="792894" y="2422085"/>
            <a:ext cx="7643180" cy="5860976"/>
          </a:xfrm>
          <a:prstGeom prst="rect">
            <a:avLst/>
          </a:prstGeom>
        </p:spPr>
        <p:txBody>
          <a:bodyPr anchor="t" rtlCol="false" tIns="0" lIns="0" bIns="0" rIns="0">
            <a:spAutoFit/>
          </a:bodyPr>
          <a:lstStyle/>
          <a:p>
            <a:pPr algn="just">
              <a:lnSpc>
                <a:spcPts val="5787"/>
              </a:lnSpc>
            </a:pPr>
            <a:r>
              <a:rPr lang="en-US" sz="4593">
                <a:solidFill>
                  <a:srgbClr val="FFFFFF"/>
                </a:solidFill>
                <a:latin typeface="Lato"/>
                <a:ea typeface="Lato"/>
                <a:cs typeface="Lato"/>
                <a:sym typeface="Lato"/>
              </a:rPr>
              <a:t>-</a:t>
            </a:r>
            <a:r>
              <a:rPr lang="en-US" sz="4593">
                <a:solidFill>
                  <a:srgbClr val="FFFFFF"/>
                </a:solidFill>
                <a:latin typeface="Lato"/>
                <a:ea typeface="Lato"/>
                <a:cs typeface="Lato"/>
                <a:sym typeface="Lato"/>
              </a:rPr>
              <a:t>Computational lithography là phương pháp sử dụng mô hình và thuật toán để “hiệu chỉnh trước” thiết kế, nhằm bù lại các sai lệch vật lý trong quá trình quang khắc khi kích thước transistor xuống mức nanomet. </a:t>
            </a:r>
          </a:p>
        </p:txBody>
      </p:sp>
      <p:sp>
        <p:nvSpPr>
          <p:cNvPr name="TextBox 14" id="14"/>
          <p:cNvSpPr txBox="true"/>
          <p:nvPr/>
        </p:nvSpPr>
        <p:spPr>
          <a:xfrm rot="0">
            <a:off x="8893312" y="2374460"/>
            <a:ext cx="9394688" cy="5458968"/>
          </a:xfrm>
          <a:prstGeom prst="rect">
            <a:avLst/>
          </a:prstGeom>
        </p:spPr>
        <p:txBody>
          <a:bodyPr anchor="t" rtlCol="false" tIns="0" lIns="0" bIns="0" rIns="0">
            <a:spAutoFit/>
          </a:bodyPr>
          <a:lstStyle/>
          <a:p>
            <a:pPr algn="l">
              <a:lnSpc>
                <a:spcPts val="6200"/>
              </a:lnSpc>
            </a:pPr>
            <a:r>
              <a:rPr lang="en-US" sz="4593">
                <a:solidFill>
                  <a:srgbClr val="FFFFFF"/>
                </a:solidFill>
                <a:latin typeface="Lato"/>
                <a:ea typeface="Lato"/>
                <a:cs typeface="Lato"/>
                <a:sym typeface="Lato"/>
              </a:rPr>
              <a:t>OPC (Optical Proximity Correction) </a:t>
            </a:r>
          </a:p>
          <a:p>
            <a:pPr algn="l" marL="991648" indent="-495824" lvl="1">
              <a:lnSpc>
                <a:spcPts val="6200"/>
              </a:lnSpc>
              <a:buFont typeface="Arial"/>
              <a:buChar char="•"/>
            </a:pPr>
            <a:r>
              <a:rPr lang="en-US" sz="4593">
                <a:solidFill>
                  <a:srgbClr val="FFFFFF"/>
                </a:solidFill>
                <a:latin typeface="Lato"/>
                <a:ea typeface="Lato"/>
                <a:cs typeface="Lato"/>
                <a:sym typeface="Lato"/>
              </a:rPr>
              <a:t> Mask được cố ý biến dạng để bù lại hiệu ứng nhiễu xạ</a:t>
            </a:r>
          </a:p>
          <a:p>
            <a:pPr algn="l">
              <a:lnSpc>
                <a:spcPts val="6200"/>
              </a:lnSpc>
            </a:pPr>
            <a:r>
              <a:rPr lang="en-US" sz="4593">
                <a:solidFill>
                  <a:srgbClr val="FFFFFF"/>
                </a:solidFill>
                <a:latin typeface="Lato"/>
                <a:ea typeface="Lato"/>
                <a:cs typeface="Lato"/>
                <a:sym typeface="Lato"/>
              </a:rPr>
              <a:t>SMO (Source Mask Optimization)</a:t>
            </a:r>
          </a:p>
          <a:p>
            <a:pPr algn="l" marL="991648" indent="-495824" lvl="1">
              <a:lnSpc>
                <a:spcPts val="6200"/>
              </a:lnSpc>
              <a:buFont typeface="Arial"/>
              <a:buChar char="•"/>
            </a:pPr>
            <a:r>
              <a:rPr lang="en-US" sz="4593">
                <a:solidFill>
                  <a:srgbClr val="FFFFFF"/>
                </a:solidFill>
                <a:latin typeface="Lato"/>
                <a:ea typeface="Lato"/>
                <a:cs typeface="Lato"/>
                <a:sym typeface="Lato"/>
              </a:rPr>
              <a:t>Tối ưu đồng thời mask và nguồn sáng</a:t>
            </a:r>
          </a:p>
          <a:p>
            <a:pPr algn="l">
              <a:lnSpc>
                <a:spcPts val="6154"/>
              </a:lnSpc>
            </a:pP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136487" y="630199"/>
            <a:ext cx="6122813" cy="890591"/>
          </a:xfrm>
          <a:custGeom>
            <a:avLst/>
            <a:gdLst/>
            <a:ahLst/>
            <a:cxnLst/>
            <a:rect r="r" b="b" t="t" l="l"/>
            <a:pathLst>
              <a:path h="890591" w="6122813">
                <a:moveTo>
                  <a:pt x="0" y="0"/>
                </a:moveTo>
                <a:lnTo>
                  <a:pt x="6122813" y="0"/>
                </a:lnTo>
                <a:lnTo>
                  <a:pt x="6122813" y="890591"/>
                </a:lnTo>
                <a:lnTo>
                  <a:pt x="0" y="8905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28700" y="8813005"/>
            <a:ext cx="6122813" cy="890591"/>
          </a:xfrm>
          <a:custGeom>
            <a:avLst/>
            <a:gdLst/>
            <a:ahLst/>
            <a:cxnLst/>
            <a:rect r="r" b="b" t="t" l="l"/>
            <a:pathLst>
              <a:path h="890591" w="6122813">
                <a:moveTo>
                  <a:pt x="6122813" y="0"/>
                </a:moveTo>
                <a:lnTo>
                  <a:pt x="0" y="0"/>
                </a:lnTo>
                <a:lnTo>
                  <a:pt x="0" y="890590"/>
                </a:lnTo>
                <a:lnTo>
                  <a:pt x="6122813" y="890590"/>
                </a:lnTo>
                <a:lnTo>
                  <a:pt x="61228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902890" y="7588567"/>
            <a:ext cx="921659" cy="889819"/>
          </a:xfrm>
          <a:custGeom>
            <a:avLst/>
            <a:gdLst/>
            <a:ahLst/>
            <a:cxnLst/>
            <a:rect r="r" b="b" t="t" l="l"/>
            <a:pathLst>
              <a:path h="889819" w="921659">
                <a:moveTo>
                  <a:pt x="0" y="0"/>
                </a:moveTo>
                <a:lnTo>
                  <a:pt x="921658" y="0"/>
                </a:lnTo>
                <a:lnTo>
                  <a:pt x="921658" y="889819"/>
                </a:lnTo>
                <a:lnTo>
                  <a:pt x="0" y="889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6" id="6"/>
          <p:cNvSpPr/>
          <p:nvPr/>
        </p:nvSpPr>
        <p:spPr>
          <a:xfrm>
            <a:off x="7705654" y="9513095"/>
            <a:ext cx="9553646"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16702166" y="3136969"/>
            <a:ext cx="1323105" cy="1260558"/>
          </a:xfrm>
          <a:custGeom>
            <a:avLst/>
            <a:gdLst/>
            <a:ahLst/>
            <a:cxnLst/>
            <a:rect r="r" b="b" t="t" l="l"/>
            <a:pathLst>
              <a:path h="1260558" w="1323105">
                <a:moveTo>
                  <a:pt x="0" y="0"/>
                </a:moveTo>
                <a:lnTo>
                  <a:pt x="1323105" y="0"/>
                </a:lnTo>
                <a:lnTo>
                  <a:pt x="1323105" y="1260558"/>
                </a:lnTo>
                <a:lnTo>
                  <a:pt x="0" y="1260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2894" y="7019313"/>
            <a:ext cx="1148953" cy="1138508"/>
          </a:xfrm>
          <a:custGeom>
            <a:avLst/>
            <a:gdLst/>
            <a:ahLst/>
            <a:cxnLst/>
            <a:rect r="r" b="b" t="t" l="l"/>
            <a:pathLst>
              <a:path h="1138508" w="1148953">
                <a:moveTo>
                  <a:pt x="0" y="0"/>
                </a:moveTo>
                <a:lnTo>
                  <a:pt x="1148953" y="0"/>
                </a:lnTo>
                <a:lnTo>
                  <a:pt x="1148953" y="1138507"/>
                </a:lnTo>
                <a:lnTo>
                  <a:pt x="0" y="11385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1542361">
            <a:off x="6443350" y="795514"/>
            <a:ext cx="1015641" cy="1110541"/>
          </a:xfrm>
          <a:custGeom>
            <a:avLst/>
            <a:gdLst/>
            <a:ahLst/>
            <a:cxnLst/>
            <a:rect r="r" b="b" t="t" l="l"/>
            <a:pathLst>
              <a:path h="1110541" w="1015641">
                <a:moveTo>
                  <a:pt x="0" y="0"/>
                </a:moveTo>
                <a:lnTo>
                  <a:pt x="1015640" y="0"/>
                </a:lnTo>
                <a:lnTo>
                  <a:pt x="1015640" y="1110541"/>
                </a:lnTo>
                <a:lnTo>
                  <a:pt x="0" y="11105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0" id="10"/>
          <p:cNvSpPr/>
          <p:nvPr/>
        </p:nvSpPr>
        <p:spPr>
          <a:xfrm>
            <a:off x="792894" y="1207604"/>
            <a:ext cx="9553646" cy="0"/>
          </a:xfrm>
          <a:prstGeom prst="line">
            <a:avLst/>
          </a:prstGeom>
          <a:ln cap="flat" w="19050">
            <a:solidFill>
              <a:srgbClr val="D9D9D9"/>
            </a:solidFill>
            <a:prstDash val="solid"/>
            <a:headEnd type="none" len="sm" w="sm"/>
            <a:tailEnd type="none" len="sm" w="sm"/>
          </a:ln>
        </p:spPr>
      </p:sp>
      <p:sp>
        <p:nvSpPr>
          <p:cNvPr name="TextBox 11" id="11"/>
          <p:cNvSpPr txBox="true"/>
          <p:nvPr/>
        </p:nvSpPr>
        <p:spPr>
          <a:xfrm rot="0">
            <a:off x="792894" y="327801"/>
            <a:ext cx="14519859" cy="1192989"/>
          </a:xfrm>
          <a:prstGeom prst="rect">
            <a:avLst/>
          </a:prstGeom>
        </p:spPr>
        <p:txBody>
          <a:bodyPr anchor="t" rtlCol="false" tIns="0" lIns="0" bIns="0" rIns="0">
            <a:spAutoFit/>
          </a:bodyPr>
          <a:lstStyle/>
          <a:p>
            <a:pPr algn="l">
              <a:lnSpc>
                <a:spcPts val="4593"/>
              </a:lnSpc>
            </a:pPr>
            <a:r>
              <a:rPr lang="en-US" sz="4593">
                <a:solidFill>
                  <a:srgbClr val="FFFFFF"/>
                </a:solidFill>
                <a:latin typeface="Lato"/>
                <a:ea typeface="Lato"/>
                <a:cs typeface="Lato"/>
                <a:sym typeface="Lato"/>
              </a:rPr>
              <a:t>6.Công Nghệ Tiên Tiến &amp; Xu Hướng Phát Triển</a:t>
            </a:r>
          </a:p>
          <a:p>
            <a:pPr algn="l">
              <a:lnSpc>
                <a:spcPts val="4593"/>
              </a:lnSpc>
            </a:pPr>
          </a:p>
        </p:txBody>
      </p:sp>
      <p:sp>
        <p:nvSpPr>
          <p:cNvPr name="TextBox 12" id="12"/>
          <p:cNvSpPr txBox="true"/>
          <p:nvPr/>
        </p:nvSpPr>
        <p:spPr>
          <a:xfrm rot="0">
            <a:off x="792894" y="1606515"/>
            <a:ext cx="7647861" cy="611964"/>
          </a:xfrm>
          <a:prstGeom prst="rect">
            <a:avLst/>
          </a:prstGeom>
        </p:spPr>
        <p:txBody>
          <a:bodyPr anchor="t" rtlCol="false" tIns="0" lIns="0" bIns="0" rIns="0">
            <a:spAutoFit/>
          </a:bodyPr>
          <a:lstStyle/>
          <a:p>
            <a:pPr algn="ctr">
              <a:lnSpc>
                <a:spcPts val="4593"/>
              </a:lnSpc>
              <a:spcBef>
                <a:spcPct val="0"/>
              </a:spcBef>
            </a:pPr>
            <a:r>
              <a:rPr lang="en-US" sz="4593">
                <a:solidFill>
                  <a:srgbClr val="FFFFFF"/>
                </a:solidFill>
                <a:latin typeface="Lato"/>
                <a:ea typeface="Lato"/>
                <a:cs typeface="Lato"/>
                <a:sym typeface="Lato"/>
              </a:rPr>
              <a:t>Thách Thức &amp; Giới Hạn Vật Lý</a:t>
            </a:r>
          </a:p>
        </p:txBody>
      </p:sp>
      <p:sp>
        <p:nvSpPr>
          <p:cNvPr name="TextBox 13" id="13"/>
          <p:cNvSpPr txBox="true"/>
          <p:nvPr/>
        </p:nvSpPr>
        <p:spPr>
          <a:xfrm rot="0">
            <a:off x="792894" y="2532805"/>
            <a:ext cx="15909272" cy="4071458"/>
          </a:xfrm>
          <a:prstGeom prst="rect">
            <a:avLst/>
          </a:prstGeom>
        </p:spPr>
        <p:txBody>
          <a:bodyPr anchor="t" rtlCol="false" tIns="0" lIns="0" bIns="0" rIns="0">
            <a:spAutoFit/>
          </a:bodyPr>
          <a:lstStyle/>
          <a:p>
            <a:pPr algn="just">
              <a:lnSpc>
                <a:spcPts val="5327"/>
              </a:lnSpc>
            </a:pPr>
            <a:r>
              <a:rPr lang="en-US" sz="4593">
                <a:solidFill>
                  <a:srgbClr val="FFFFFF"/>
                </a:solidFill>
                <a:latin typeface="Lato"/>
                <a:ea typeface="Lato"/>
                <a:cs typeface="Lato"/>
                <a:sym typeface="Lato"/>
              </a:rPr>
              <a:t>-Việc thu</a:t>
            </a:r>
            <a:r>
              <a:rPr lang="en-US" sz="4593">
                <a:solidFill>
                  <a:srgbClr val="FFFFFF"/>
                </a:solidFill>
                <a:latin typeface="Lato"/>
                <a:ea typeface="Lato"/>
                <a:cs typeface="Lato"/>
                <a:sym typeface="Lato"/>
              </a:rPr>
              <a:t> nhỏ transistor không chỉ phụ thuộc vào công nghệ mà còn chịu ràng buộc từ giới hạn vật lý và kinh tế. Chi phí hệ thống quang khắc hiện đại ngày càng cao, yêu cầu môi trường vận hành cực kỳ khắt khe. Bên cạnh đó các định luật vật lý sẽ gặp nhiều rào cãn và gặp nhiều khó khăn</a:t>
            </a:r>
          </a:p>
          <a:p>
            <a:pPr algn="just">
              <a:lnSpc>
                <a:spcPts val="5327"/>
              </a:lnSpc>
            </a:pP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3868661" y="3588944"/>
            <a:ext cx="10550678" cy="3556786"/>
          </a:xfrm>
          <a:prstGeom prst="rect">
            <a:avLst/>
          </a:prstGeom>
        </p:spPr>
        <p:txBody>
          <a:bodyPr anchor="t" rtlCol="false" tIns="0" lIns="0" bIns="0" rIns="0">
            <a:spAutoFit/>
          </a:bodyPr>
          <a:lstStyle/>
          <a:p>
            <a:pPr algn="ctr">
              <a:lnSpc>
                <a:spcPts val="13438"/>
              </a:lnSpc>
            </a:pPr>
            <a:r>
              <a:rPr lang="en-US" b="true" sz="15099">
                <a:solidFill>
                  <a:srgbClr val="FFFFFF"/>
                </a:solidFill>
                <a:latin typeface="Lato Heavy"/>
                <a:ea typeface="Lato Heavy"/>
                <a:cs typeface="Lato Heavy"/>
                <a:sym typeface="Lato Heavy"/>
              </a:rPr>
              <a:t>THANK</a:t>
            </a:r>
            <a:r>
              <a:rPr lang="en-US" b="true" sz="15099">
                <a:solidFill>
                  <a:srgbClr val="FFFFFF"/>
                </a:solidFill>
                <a:latin typeface="Lato Heavy"/>
                <a:ea typeface="Lato Heavy"/>
                <a:cs typeface="Lato Heavy"/>
                <a:sym typeface="Lato Heavy"/>
              </a:rPr>
              <a:t> YOU</a:t>
            </a:r>
          </a:p>
        </p:txBody>
      </p:sp>
      <p:sp>
        <p:nvSpPr>
          <p:cNvPr name="Freeform 4" id="4"/>
          <p:cNvSpPr/>
          <p:nvPr/>
        </p:nvSpPr>
        <p:spPr>
          <a:xfrm flipH="false" flipV="false" rot="0">
            <a:off x="-820154" y="-761531"/>
            <a:ext cx="4424415" cy="4465006"/>
          </a:xfrm>
          <a:custGeom>
            <a:avLst/>
            <a:gdLst/>
            <a:ahLst/>
            <a:cxnLst/>
            <a:rect r="r" b="b" t="t" l="l"/>
            <a:pathLst>
              <a:path h="4465006" w="4424415">
                <a:moveTo>
                  <a:pt x="0" y="0"/>
                </a:moveTo>
                <a:lnTo>
                  <a:pt x="4424415" y="0"/>
                </a:lnTo>
                <a:lnTo>
                  <a:pt x="4424415" y="4465006"/>
                </a:lnTo>
                <a:lnTo>
                  <a:pt x="0" y="44650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424695" y="7005567"/>
            <a:ext cx="4424415" cy="4465006"/>
          </a:xfrm>
          <a:custGeom>
            <a:avLst/>
            <a:gdLst/>
            <a:ahLst/>
            <a:cxnLst/>
            <a:rect r="r" b="b" t="t" l="l"/>
            <a:pathLst>
              <a:path h="4465006" w="4424415">
                <a:moveTo>
                  <a:pt x="0" y="0"/>
                </a:moveTo>
                <a:lnTo>
                  <a:pt x="4424416" y="0"/>
                </a:lnTo>
                <a:lnTo>
                  <a:pt x="4424416" y="4465007"/>
                </a:lnTo>
                <a:lnTo>
                  <a:pt x="0" y="44650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4739432" y="-330579"/>
            <a:ext cx="3794941" cy="2718558"/>
          </a:xfrm>
          <a:custGeom>
            <a:avLst/>
            <a:gdLst/>
            <a:ahLst/>
            <a:cxnLst/>
            <a:rect r="r" b="b" t="t" l="l"/>
            <a:pathLst>
              <a:path h="2718558" w="3794941">
                <a:moveTo>
                  <a:pt x="0" y="0"/>
                </a:moveTo>
                <a:lnTo>
                  <a:pt x="3794942" y="0"/>
                </a:lnTo>
                <a:lnTo>
                  <a:pt x="3794942" y="2718558"/>
                </a:lnTo>
                <a:lnTo>
                  <a:pt x="0" y="27185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820154" y="7899021"/>
            <a:ext cx="3794941" cy="2718558"/>
          </a:xfrm>
          <a:custGeom>
            <a:avLst/>
            <a:gdLst/>
            <a:ahLst/>
            <a:cxnLst/>
            <a:rect r="r" b="b" t="t" l="l"/>
            <a:pathLst>
              <a:path h="2718558" w="3794941">
                <a:moveTo>
                  <a:pt x="0" y="0"/>
                </a:moveTo>
                <a:lnTo>
                  <a:pt x="3794941" y="0"/>
                </a:lnTo>
                <a:lnTo>
                  <a:pt x="3794941" y="2718558"/>
                </a:lnTo>
                <a:lnTo>
                  <a:pt x="0" y="27185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DAHIKUOUfw8</dc:identifier>
  <dcterms:modified xsi:type="dcterms:W3CDTF">2011-08-01T06:04:30Z</dcterms:modified>
  <cp:revision>1</cp:revision>
  <dc:title>BTL VLBD_Nhóm 3</dc:title>
</cp:coreProperties>
</file>